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03a062e3324145" /><Relationship Type="http://schemas.openxmlformats.org/officeDocument/2006/relationships/extended-properties" Target="/docProps/app.xml" Id="Rcb4549f86090483e" /><Relationship Type="http://schemas.openxmlformats.org/officeDocument/2006/relationships/officeDocument" Target="/ppt/presentation.xml" Id="R3126d9182b71431d" /></Relationships>
</file>

<file path=ppt/presentation.xml><?xml version="1.0" encoding="utf-8"?>
<p:presentation xmlns:p="http://schemas.openxmlformats.org/presentationml/2006/main">
  <p:sldMasterIdLst>
    <p:sldMasterId xmlns:r="http://schemas.openxmlformats.org/officeDocument/2006/relationships" id="2147483648" r:id="Rd9befb351c344444"/>
  </p:sldMasterIdLst>
  <p:notesMasterIdLst>
    <p:notesMasterId xmlns:r="http://schemas.openxmlformats.org/officeDocument/2006/relationships" r:id="R73fa9f4abe5045c7"/>
  </p:notesMasterIdLst>
  <p:sldIdLst>
    <p:sldId xmlns:r="http://schemas.openxmlformats.org/officeDocument/2006/relationships" id="256" r:id="R5c96fd986c064488"/>
    <p:sldId xmlns:r="http://schemas.openxmlformats.org/officeDocument/2006/relationships" id="257" r:id="Rac45e28551024fc5"/>
    <p:sldId xmlns:r="http://schemas.openxmlformats.org/officeDocument/2006/relationships" id="258" r:id="Re2618c935ec84cff"/>
    <p:sldId xmlns:r="http://schemas.openxmlformats.org/officeDocument/2006/relationships" id="259" r:id="Re3f83a6a99dc482e"/>
    <p:sldId xmlns:r="http://schemas.openxmlformats.org/officeDocument/2006/relationships" id="260" r:id="Rcc42e22525be4631"/>
    <p:sldId xmlns:r="http://schemas.openxmlformats.org/officeDocument/2006/relationships" id="261" r:id="R2d18e03f1df149ec"/>
    <p:sldId xmlns:r="http://schemas.openxmlformats.org/officeDocument/2006/relationships" id="262" r:id="Rb919ac0718f74216"/>
    <p:sldId xmlns:r="http://schemas.openxmlformats.org/officeDocument/2006/relationships" id="263" r:id="R43a8f5a4fffa4c01"/>
    <p:sldId xmlns:r="http://schemas.openxmlformats.org/officeDocument/2006/relationships" id="264" r:id="R555680ef37a048f8"/>
    <p:sldId xmlns:r="http://schemas.openxmlformats.org/officeDocument/2006/relationships" id="265" r:id="R035fbb8de3ef4ae8"/>
    <p:sldId xmlns:r="http://schemas.openxmlformats.org/officeDocument/2006/relationships" id="266" r:id="Ra4cbe1b0526246c7"/>
    <p:sldId xmlns:r="http://schemas.openxmlformats.org/officeDocument/2006/relationships" id="267" r:id="R526004ab4fdf4c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e53d0d38594fe6" /><Relationship Type="http://schemas.openxmlformats.org/officeDocument/2006/relationships/slideMaster" Target="/ppt/slideMasters/slideMaster1.xml" Id="Rd9befb351c344444" /><Relationship Type="http://schemas.openxmlformats.org/officeDocument/2006/relationships/notesMaster" Target="/ppt/notesMasters/notesMaster1.xml" Id="R73fa9f4abe5045c7" /><Relationship Type="http://schemas.openxmlformats.org/officeDocument/2006/relationships/presProps" Target="/ppt/presProps.xml" Id="R755317c9cca844e2" /><Relationship Type="http://schemas.openxmlformats.org/officeDocument/2006/relationships/tableStyles" Target="/ppt/tableStyles.xml" Id="R214cd149835f456b" /><Relationship Type="http://schemas.openxmlformats.org/officeDocument/2006/relationships/slide" Target="/ppt/slides/slide1.xml" Id="R5c96fd986c064488" /><Relationship Type="http://schemas.openxmlformats.org/officeDocument/2006/relationships/slide" Target="/ppt/slides/slide2.xml" Id="Rac45e28551024fc5" /><Relationship Type="http://schemas.openxmlformats.org/officeDocument/2006/relationships/slide" Target="/ppt/slides/slide3.xml" Id="Re2618c935ec84cff" /><Relationship Type="http://schemas.openxmlformats.org/officeDocument/2006/relationships/slide" Target="/ppt/slides/slide4.xml" Id="Re3f83a6a99dc482e" /><Relationship Type="http://schemas.openxmlformats.org/officeDocument/2006/relationships/slide" Target="/ppt/slides/slide5.xml" Id="Rcc42e22525be4631" /><Relationship Type="http://schemas.openxmlformats.org/officeDocument/2006/relationships/slide" Target="/ppt/slides/slide6.xml" Id="R2d18e03f1df149ec" /><Relationship Type="http://schemas.openxmlformats.org/officeDocument/2006/relationships/slide" Target="/ppt/slides/slide7.xml" Id="Rb919ac0718f74216" /><Relationship Type="http://schemas.openxmlformats.org/officeDocument/2006/relationships/slide" Target="/ppt/slides/slide8.xml" Id="R43a8f5a4fffa4c01" /><Relationship Type="http://schemas.openxmlformats.org/officeDocument/2006/relationships/slide" Target="/ppt/slides/slide9.xml" Id="R555680ef37a048f8" /><Relationship Type="http://schemas.openxmlformats.org/officeDocument/2006/relationships/slide" Target="/ppt/slides/slide10.xml" Id="R035fbb8de3ef4ae8" /><Relationship Type="http://schemas.openxmlformats.org/officeDocument/2006/relationships/slide" Target="/ppt/slides/slide11.xml" Id="Ra4cbe1b0526246c7" /><Relationship Type="http://schemas.openxmlformats.org/officeDocument/2006/relationships/slide" Target="/ppt/slides/slide12.xml" Id="R526004ab4fdf4c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d5d955b7524c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c7e514e4d54714" /><Relationship Type="http://schemas.openxmlformats.org/officeDocument/2006/relationships/notesMaster" Target="/ppt/notesMasters/notesMaster1.xml" Id="Rc222c487033a45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f941c9edbd4bc1" /><Relationship Type="http://schemas.openxmlformats.org/officeDocument/2006/relationships/notesMaster" Target="/ppt/notesMasters/notesMaster1.xml" Id="Rde06881ace6d41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9588a6204a46b6" /><Relationship Type="http://schemas.openxmlformats.org/officeDocument/2006/relationships/notesMaster" Target="/ppt/notesMasters/notesMaster1.xml" Id="R16a1b0b777be49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391b8420b742d5" /><Relationship Type="http://schemas.openxmlformats.org/officeDocument/2006/relationships/notesMaster" Target="/ppt/notesMasters/notesMaster1.xml" Id="R20c20cad37444e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65ae1e2f084ee4" /><Relationship Type="http://schemas.openxmlformats.org/officeDocument/2006/relationships/notesMaster" Target="/ppt/notesMasters/notesMaster1.xml" Id="R23c2f085f17b4e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2c89d5d5384f95" /><Relationship Type="http://schemas.openxmlformats.org/officeDocument/2006/relationships/notesMaster" Target="/ppt/notesMasters/notesMaster1.xml" Id="Rbef5d9828a104d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6c80eca560473d" /><Relationship Type="http://schemas.openxmlformats.org/officeDocument/2006/relationships/notesMaster" Target="/ppt/notesMasters/notesMaster1.xml" Id="R374ee183bc5c4c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818042cde147e9" /><Relationship Type="http://schemas.openxmlformats.org/officeDocument/2006/relationships/notesMaster" Target="/ppt/notesMasters/notesMaster1.xml" Id="R5e310e7a3cc84a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f645a0bb594845" /><Relationship Type="http://schemas.openxmlformats.org/officeDocument/2006/relationships/notesMaster" Target="/ppt/notesMasters/notesMaster1.xml" Id="R24bf78a6114c47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f0de10297d4fdd" /><Relationship Type="http://schemas.openxmlformats.org/officeDocument/2006/relationships/notesMaster" Target="/ppt/notesMasters/notesMaster1.xml" Id="R1c66a639728f44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83c157a8744757" /><Relationship Type="http://schemas.openxmlformats.org/officeDocument/2006/relationships/notesMaster" Target="/ppt/notesMasters/notesMaster1.xml" Id="Rf85f70817e8a4e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fa1253fc604da8" /><Relationship Type="http://schemas.openxmlformats.org/officeDocument/2006/relationships/notesMaster" Target="/ppt/notesMasters/notesMaster1.xml" Id="R87d556e0cece4b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Underwater, even a simple message starts with getting the other diver to look. Dive Buddy Alert Band is Rafael’s concept for that first moment: a button calls the paired band, a vibration requests attention, and a display shows the response and available distance. Illustrative dive scenario, not a claimed founder experience, customer testimonial or market result. No market-size, novelty, competitor-superiority or safety claim is added. Rev D CAD remains the geometry authority. Rev A economics remain historical display-free estimates.</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formation in the reef. A change of plan. A routine check-in. The message may be simple, but a hand signal only starts working when the other diver sees it. DBA focuses on the step before that exchange: a direct request for one buddy’s attention. The intended request is for attention before visual communication. The illustrative situation does not claim an actual founder experience or customer case.</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 is a paired connection. Before the dive, two bands are linked. During the dive, a deliberate press requests a tactile alert on the other band. The receiving diver presses to acknowledge, so the caller can distinguish a device reply from a person’s response. This is an addressed attention concept. Pair-code handling, collision avoidance and nearby-pair isolation require firmware definition. It does not assert a guaranteed connection.</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 is a paired connection. Before the dive, two bands are linked. During the dive, a deliberate press requests a tactile alert on the other band. The receiving diver presses to acknowledge, so the caller can distinguish a device reply from a person’s response. A packet reply confirms device receipt. The receiving diver presses the top button to acknowledge. Only that explicit response changes the caller’s state to Buddy acknowledged. A hold for ranging follows acknowledgement.</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vibration is intended to interrupt attention briefly; the screen explains why. It shows an incoming call, a buddy’s acknowledgement, and fresh separation estimates during a ranging session. If a current reading is unavailable, the number clears rather than lingering as if it were still valid. After explicit buddy acknowledgement, a one-second hold requests ranging. Both screens show fresh separation estimates when available. Caller cadence is optional. No current reply means no current distance or trend; proximity pulses stop. The displayed 8 m is synthetic.</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approximately 65 kHz single-transducer concept estimates separation from two-way time-of-flight. The same range can place the buddy anywhere around the diver. Relative bearing, heading and depth difference are not measured. Exchanging device headings alone would not establish their relative locations. The band provides no route or guarantee of reunion.</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band is intended to be flexible silicone: it stretches over the hand, then sits around the wrist or suit cuff. The sealed electronics remain in a rigid, removable module. The circular CAD view shows the band at rest; it does not represent a rigid bracelet. Silicone grade, hardness, force to stretch, recovery and maximum extension remain undefined. The flex view illustrates intended behavior; it is not a material simulation.</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model represents one reference size, with a 62 mm relaxed opening and approximately 195 mm inner circumference. A finished size range needs to account for wrist and suit-cuff circumference, hand passage, comfort and module retention. No wrist-size coverage or safe extension has been established. Silicone grade, hardness, force to stretch, recovery and maximum extension remain undefined. The flex view illustrates intended behavior; it is not a material simulation. Inner circumference derives from pi times the relaxed 62 mm CAD opening. It does not establish wrist or hand coverage. The 24 mm band width and 4 mm radial wall remain CAD reference dimensions.</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silicone band surrounds a rigid sealed-module concept. The 44 × 32 × 17.5 mm housing carries the display window beside the physical top button. A separate plunger passes through the annular receiver coil beneath the opaque button side. The module is removable from the band, but the sealed enclosure is not specified as user-openable. CAD Rev D has fourteen nominal parts. Seals, optical stack, wiring and pressure behavior require engineering definition.</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frequency is approximately 65 kHz. Two-way time-of-flight subtracts an assumed fixed reply delay from round-trip timing before calculating range. The original 20 m range remains a target, not a demonstrated result. Environmental variation, body shadowing, multipath and packet availability remain engineering questions. Timing resolution alone does not establish accuracy.</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buddy call is useful only when both divers can participate. The proposed product is therefore a pair of bands with one shared inductive charging dock. Recreational buddy pairs are the initial audience; instructors and dive shops are potential places to introduce the concept. The commercial question is whether an addressed tactile call and readable separation information are valuable enough to earn space on both divers’ wrists. The current package defines that proposition; customer demand and the display variant’s cost remain unestablished. Rev A historical display-free estimates were approximately $43 per band / $86 per pair at 5,000 pairs with plus or minus 30 percent uncertainty, and a $179–199 retail target per pair. These are not current display-variant prices or quotes. They exclude tooling, engineering, freight and duty.</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Underwater, even a simple message starts with getting the other diver to look. Dive Buddy Alert Band is Rafael’s concept for that first moment: a button calls the paired band, a vibration requests attention, and a display shows the response and available distance. This is a communication aid for divers who already use buddy procedures. It does not establish bearing, provide a route, or guarantee reunion. Illustrative dive scenario, not a claimed founder experience, customer testimonial or market result. No market-size, novelty, competitor-superiority or safety claim is added. Rev D CAD remains the geometry authority. Rev A economics remain historical display-free estimates.</a:t>
            </a:r>
          </a:p>
          <a:p xmlns:a="http://schemas.openxmlformats.org/drawingml/2006/main">
            <a:r>
              <a:t/>
            </a:r>
          </a:p>
          <a:p xmlns:a="http://schemas.openxmlformats.org/drawingml/2006/main">
            <a:r>
              <a:t>Source: presentation/story.json (Presentation Rev E), design-data.json (CAD Rev D), DBA_Design_Package_RevE.pdf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643e2ea90545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33789dec824f69" /><Relationship Type="http://schemas.openxmlformats.org/officeDocument/2006/relationships/slideLayout" Target="/ppt/slideLayouts/slideLayout1.xml" Id="R4ac7fbe12b8e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c7fbe12b8e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8220251f664f4e" /><Relationship Type="http://schemas.openxmlformats.org/officeDocument/2006/relationships/image" Target="/ppt/media/image.png" Id="Rbe18c6835cd6441a" /><Relationship Type="http://schemas.openxmlformats.org/officeDocument/2006/relationships/notesSlide" Target="/ppt/notesSlides/notesSlide1.xml" Id="R73b6aac08a5c4b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0fee3f44944012" /><Relationship Type="http://schemas.openxmlformats.org/officeDocument/2006/relationships/notesSlide" Target="/ppt/notesSlides/notesSlide2.xml" Id="R8f7b7fd347744e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e4538b606b413a" /><Relationship Type="http://schemas.openxmlformats.org/officeDocument/2006/relationships/notesSlide" Target="/ppt/notesSlides/notesSlide3.xml" Id="Rc367ccf61af949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c628ee021742de" /><Relationship Type="http://schemas.openxmlformats.org/officeDocument/2006/relationships/notesSlide" Target="/ppt/notesSlides/notesSlide4.xml" Id="Re3630589a5844c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9aded15027433b" /><Relationship Type="http://schemas.openxmlformats.org/officeDocument/2006/relationships/notesSlide" Target="/ppt/notesSlides/notesSlide5.xml" Id="Re3448a45d30448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9a08a157fc4fec" /><Relationship Type="http://schemas.openxmlformats.org/officeDocument/2006/relationships/notesSlide" Target="/ppt/notesSlides/notesSlide6.xml" Id="R9662ba094b6647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23c949dd6b4dc8" /><Relationship Type="http://schemas.openxmlformats.org/officeDocument/2006/relationships/image" Target="/ppt/media/image2.png" Id="R792f2644b8da4656" /><Relationship Type="http://schemas.openxmlformats.org/officeDocument/2006/relationships/notesSlide" Target="/ppt/notesSlides/notesSlide7.xml" Id="R9c8b419a2f6c43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5268cdcaa0437b" /><Relationship Type="http://schemas.openxmlformats.org/officeDocument/2006/relationships/notesSlide" Target="/ppt/notesSlides/notesSlide8.xml" Id="Ra659efe0c59147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1330f55553a452e" /><Relationship Type="http://schemas.openxmlformats.org/officeDocument/2006/relationships/image" Target="/ppt/media/image3.png" Id="Radcce48aeec54d99" /><Relationship Type="http://schemas.openxmlformats.org/officeDocument/2006/relationships/notesSlide" Target="/ppt/notesSlides/notesSlide9.xml" Id="R2707e1d5c29a45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9e8c76e08a46e9" /><Relationship Type="http://schemas.openxmlformats.org/officeDocument/2006/relationships/notesSlide" Target="/ppt/notesSlides/notesSlide10.xml" Id="R22b20f4808bb48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133a23fe20405a" /><Relationship Type="http://schemas.openxmlformats.org/officeDocument/2006/relationships/notesSlide" Target="/ppt/notesSlides/notesSlide11.xml" Id="R293d7c9e73954b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509eb5461044e5" /><Relationship Type="http://schemas.openxmlformats.org/officeDocument/2006/relationships/image" Target="/ppt/media/image4.png" Id="Rc1cf6ceffe064e95" /><Relationship Type="http://schemas.openxmlformats.org/officeDocument/2006/relationships/notesSlide" Target="/ppt/notesSlides/notesSlide12.xml" Id="Rd11c290ab9d94b5a" /></Relationships>
</file>

<file path=ppt/slides/slide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75C86B-3637-41D3-97C7-FDF48A37E88D}"/>
              </a:ext>
            </a:extLst>
          </p:cNvPr>
          <p:cNvSpPr>
            <a:spLocks xmlns:a="http://schemas.openxmlformats.org/drawingml/2006/main" noGrp="1"/>
          </p:cNvSpPr>
          <p:nvPr/>
        </p:nvSpPr>
        <p:spPr>
          <a:xfrm xmlns:a="http://schemas.openxmlformats.org/drawingml/2006/main">
            <a:off x="666750" y="1200150"/>
            <a:ext cx="58102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F0F4F7"/>
                </a:solidFill>
                <a:latin typeface="Helvetica Neue"/>
                <a:ea typeface="Helvetica Neue"/>
                <a:cs typeface="Helvetica Neue"/>
              </a:defRPr>
            </a:pPr>
            <a:r>
              <a:rPr sz="5775" b="1">
                <a:solidFill>
                  <a:srgbClr val="F0F4F7"/>
                </a:solidFill>
                <a:latin typeface="Helvetica Neue"/>
                <a:ea typeface="Helvetica Neue"/>
                <a:cs typeface="Helvetica Neue"/>
              </a:rPr>
              <a:t>Dive Buddy</a:t>
            </a:r>
          </a:p>
          <a:p xmlns:a="http://schemas.openxmlformats.org/drawingml/2006/main">
            <a:pPr>
              <a:defRPr sz="5775" b="1">
                <a:solidFill>
                  <a:srgbClr val="F0F4F7"/>
                </a:solidFill>
                <a:latin typeface="Helvetica Neue"/>
                <a:ea typeface="Helvetica Neue"/>
                <a:cs typeface="Helvetica Neue"/>
              </a:defRPr>
            </a:pPr>
            <a:r>
              <a:rPr sz="5775" b="1">
                <a:solidFill>
                  <a:srgbClr val="F0F4F7"/>
                </a:solidFill>
                <a:latin typeface="Helvetica Neue"/>
                <a:ea typeface="Helvetica Neue"/>
                <a:cs typeface="Helvetica Neue"/>
              </a:rPr>
              <a:t>Alert Band</a:t>
            </a:r>
          </a:p>
        </p:txBody>
      </p:sp>
      <p:sp>
        <p:nvSpPr>
          <p:cNvPr id="2" name="">
            <a:extLst xmlns:a="http://schemas.openxmlformats.org/drawingml/2006/main">
              <a:ext uri="{FF2B5EF4-FFF2-40B4-BE49-F238E27FC236}">
                <a16:creationId xmlns:a16="http://schemas.microsoft.com/office/drawing/2014/main" id="{47810BB6-A8C8-4152-A8E2-F17C4B51A006}"/>
              </a:ext>
            </a:extLst>
          </p:cNvPr>
          <p:cNvSpPr>
            <a:spLocks xmlns:a="http://schemas.openxmlformats.org/drawingml/2006/main" noGrp="1"/>
          </p:cNvSpPr>
          <p:nvPr/>
        </p:nvSpPr>
        <p:spPr>
          <a:xfrm xmlns:a="http://schemas.openxmlformats.org/drawingml/2006/main">
            <a:off x="714375" y="3895725"/>
            <a:ext cx="5524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9BD8E6"/>
                </a:solidFill>
                <a:latin typeface="Helvetica Neue"/>
                <a:ea typeface="Helvetica Neue"/>
                <a:cs typeface="Helvetica Neue"/>
              </a:defRPr>
            </a:pPr>
            <a:r>
              <a:rPr sz="2475" b="0">
                <a:solidFill>
                  <a:srgbClr val="9BD8E6"/>
                </a:solidFill>
                <a:latin typeface="Helvetica Neue"/>
                <a:ea typeface="Helvetica Neue"/>
                <a:cs typeface="Helvetica Neue"/>
              </a:rPr>
              <a:t>Buddy communication</a:t>
            </a:r>
          </a:p>
          <a:p xmlns:a="http://schemas.openxmlformats.org/drawingml/2006/main">
            <a:pPr>
              <a:defRPr sz="2475" b="0">
                <a:solidFill>
                  <a:srgbClr val="9BD8E6"/>
                </a:solidFill>
                <a:latin typeface="Helvetica Neue"/>
                <a:ea typeface="Helvetica Neue"/>
                <a:cs typeface="Helvetica Neue"/>
              </a:defRPr>
            </a:pPr>
            <a:r>
              <a:rPr sz="2475" b="0">
                <a:solidFill>
                  <a:srgbClr val="9BD8E6"/>
                </a:solidFill>
                <a:latin typeface="Helvetica Neue"/>
                <a:ea typeface="Helvetica Neue"/>
                <a:cs typeface="Helvetica Neue"/>
              </a:rPr>
              <a:t>starts with attention.</a:t>
            </a:r>
          </a:p>
        </p:txBody>
      </p:sp>
      <p:sp>
        <p:nvSpPr>
          <p:cNvPr id="3" name="">
            <a:extLst xmlns:a="http://schemas.openxmlformats.org/drawingml/2006/main">
              <a:ext uri="{FF2B5EF4-FFF2-40B4-BE49-F238E27FC236}">
                <a16:creationId xmlns:a16="http://schemas.microsoft.com/office/drawing/2014/main" id="{D5F50E51-56FF-486E-948A-CFFA75C26A9A}"/>
              </a:ext>
            </a:extLst>
          </p:cNvPr>
          <p:cNvSpPr>
            <a:spLocks xmlns:a="http://schemas.openxmlformats.org/drawingml/2006/main" noGrp="1"/>
          </p:cNvSpPr>
          <p:nvPr/>
        </p:nvSpPr>
        <p:spPr>
          <a:xfrm xmlns:a="http://schemas.openxmlformats.org/drawingml/2006/main">
            <a:off x="714375" y="5676900"/>
            <a:ext cx="542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0C4D4"/>
                </a:solidFill>
                <a:latin typeface="Helvetica Neue"/>
                <a:ea typeface="Helvetica Neue"/>
                <a:cs typeface="Helvetica Neue"/>
              </a:defRPr>
            </a:pPr>
            <a:r>
              <a:rPr sz="1800" b="0">
                <a:solidFill>
                  <a:srgbClr val="B0C4D4"/>
                </a:solidFill>
                <a:latin typeface="Helvetica Neue"/>
                <a:ea typeface="Helvetica Neue"/>
                <a:cs typeface="Helvetica Neue"/>
              </a:rPr>
              <a:t>Concept by Rafael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18c6835cd6441a"/>
          <a:stretch xmlns:a="http://schemas.openxmlformats.org/drawingml/2006/main"/>
        </p:blipFill>
        <p:spPr>
          <a:xfrm xmlns:a="http://schemas.openxmlformats.org/drawingml/2006/main">
            <a:off x="6572250" y="1028105"/>
            <a:ext cx="5095875" cy="445889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0D10DEC-5F2F-4EBE-8C39-5439AFE8C985}"/>
              </a:ext>
            </a:extLst>
          </p:cNvPr>
          <p:cNvSpPr>
            <a:spLocks xmlns:a="http://schemas.openxmlformats.org/drawingml/2006/main" noGrp="1"/>
          </p:cNvSpPr>
          <p:nvPr/>
        </p:nvSpPr>
        <p:spPr>
          <a:xfrm xmlns:a="http://schemas.openxmlformats.org/drawingml/2006/main">
            <a:off x="6648450" y="61817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0C4D4"/>
                </a:solidFill>
                <a:latin typeface="Helvetica Neue"/>
                <a:ea typeface="Helvetica Neue"/>
                <a:cs typeface="Helvetica Neue"/>
              </a:defRPr>
            </a:pPr>
            <a:r>
              <a:rPr sz="1425" b="0">
                <a:solidFill>
                  <a:srgbClr val="B0C4D4"/>
                </a:solidFill>
                <a:latin typeface="Helvetica Neue"/>
                <a:ea typeface="Helvetica Neue"/>
                <a:cs typeface="Helvetica Neue"/>
              </a:rPr>
              <a:t>Presentation Rev E · CAD Rev D</a:t>
            </a:r>
          </a:p>
        </p:txBody>
      </p:sp>
    </p:spTree>
    <p:extLst>
      <p:ext uri="{BB962C8B-B14F-4D97-AF65-F5344CB8AC3E}">
        <p14:creationId xmlns:p14="http://schemas.microsoft.com/office/powerpoint/2010/main" val="992312008"/>
      </p:ext>
    </p:extLst>
  </p:cSld>
</p:sld>
</file>

<file path=ppt/slides/slide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223115-722C-4B23-B11C-0D0C8637375A}"/>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Something to share.</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buddy looking elsewhere</a:t>
            </a:r>
          </a:p>
        </p:txBody>
      </p:sp>
      <p:sp>
        <p:nvSpPr>
          <p:cNvPr id="2" name="">
            <a:extLst xmlns:a="http://schemas.openxmlformats.org/drawingml/2006/main">
              <a:ext uri="{FF2B5EF4-FFF2-40B4-BE49-F238E27FC236}">
                <a16:creationId xmlns:a16="http://schemas.microsoft.com/office/drawing/2014/main" id="{C9943974-AF44-4152-B1E2-9B22A77D04ED}"/>
              </a:ext>
            </a:extLst>
          </p:cNvPr>
          <p:cNvSpPr>
            <a:spLocks xmlns:a="http://schemas.openxmlformats.org/drawingml/2006/main" noGrp="1"/>
          </p:cNvSpPr>
          <p:nvPr/>
        </p:nvSpPr>
        <p:spPr>
          <a:xfrm xmlns:a="http://schemas.openxmlformats.org/drawingml/2006/main">
            <a:off x="733425" y="227647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9BD8E6"/>
                </a:solidFill>
                <a:latin typeface="Helvetica Neue"/>
                <a:ea typeface="Helvetica Neue"/>
                <a:cs typeface="Helvetica Neue"/>
              </a:defRPr>
            </a:pPr>
            <a:r>
              <a:rPr sz="3000" b="1">
                <a:solidFill>
                  <a:srgbClr val="9BD8E6"/>
                </a:solidFill>
                <a:latin typeface="Helvetica Neue"/>
                <a:ea typeface="Helvetica Neue"/>
                <a:cs typeface="Helvetica Neue"/>
              </a:rPr>
              <a:t>A formation in the reef. A change of plan.</a:t>
            </a:r>
          </a:p>
          <a:p xmlns:a="http://schemas.openxmlformats.org/drawingml/2006/main">
            <a:pPr>
              <a:defRPr sz="3000" b="1">
                <a:solidFill>
                  <a:srgbClr val="9BD8E6"/>
                </a:solidFill>
                <a:latin typeface="Helvetica Neue"/>
                <a:ea typeface="Helvetica Neue"/>
                <a:cs typeface="Helvetica Neue"/>
              </a:defRPr>
            </a:pPr>
            <a:r>
              <a:rPr sz="3000" b="1">
                <a:solidFill>
                  <a:srgbClr val="9BD8E6"/>
                </a:solidFill>
                <a:latin typeface="Helvetica Neue"/>
                <a:ea typeface="Helvetica Neue"/>
                <a:cs typeface="Helvetica Neue"/>
              </a:rPr>
              <a:t>A routine check-in.</a:t>
            </a:r>
          </a:p>
        </p:txBody>
      </p:sp>
      <p:sp>
        <p:nvSpPr>
          <p:cNvPr id="3" name="">
            <a:extLst xmlns:a="http://schemas.openxmlformats.org/drawingml/2006/main">
              <a:ext uri="{FF2B5EF4-FFF2-40B4-BE49-F238E27FC236}">
                <a16:creationId xmlns:a16="http://schemas.microsoft.com/office/drawing/2014/main" id="{AD70492D-E204-4983-80D8-08FFA558A269}"/>
              </a:ext>
            </a:extLst>
          </p:cNvPr>
          <p:cNvSpPr>
            <a:spLocks xmlns:a="http://schemas.openxmlformats.org/drawingml/2006/main" noGrp="1"/>
          </p:cNvSpPr>
          <p:nvPr/>
        </p:nvSpPr>
        <p:spPr>
          <a:xfrm xmlns:a="http://schemas.openxmlformats.org/drawingml/2006/main">
            <a:off x="752475" y="36766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The message may be simple, but a hand signal only starts</a:t>
            </a:r>
          </a:p>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working when the other diver sees it.</a:t>
            </a:r>
          </a:p>
        </p:txBody>
      </p:sp>
      <p:sp>
        <p:nvSpPr>
          <p:cNvPr id="4" name="">
            <a:extLst xmlns:a="http://schemas.openxmlformats.org/drawingml/2006/main">
              <a:ext uri="{FF2B5EF4-FFF2-40B4-BE49-F238E27FC236}">
                <a16:creationId xmlns:a16="http://schemas.microsoft.com/office/drawing/2014/main" id="{48D4287A-9041-4089-9B20-5F6EB459AAAD}"/>
              </a:ext>
            </a:extLst>
          </p:cNvPr>
          <p:cNvSpPr>
            <a:spLocks xmlns:a="http://schemas.openxmlformats.org/drawingml/2006/main" noGrp="1"/>
          </p:cNvSpPr>
          <p:nvPr/>
        </p:nvSpPr>
        <p:spPr>
          <a:xfrm xmlns:a="http://schemas.openxmlformats.org/drawingml/2006/main">
            <a:off x="752475" y="5334000"/>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B0C4D4"/>
                </a:solidFill>
                <a:latin typeface="Helvetica Neue"/>
                <a:ea typeface="Helvetica Neue"/>
                <a:cs typeface="Helvetica Neue"/>
              </a:defRPr>
            </a:pPr>
            <a:r>
              <a:rPr sz="2475" b="0">
                <a:solidFill>
                  <a:srgbClr val="B0C4D4"/>
                </a:solidFill>
                <a:latin typeface="Helvetica Neue"/>
                <a:ea typeface="Helvetica Neue"/>
                <a:cs typeface="Helvetica Neue"/>
              </a:rPr>
              <a:t>DBA focuses on the step before that exchange:</a:t>
            </a:r>
          </a:p>
          <a:p xmlns:a="http://schemas.openxmlformats.org/drawingml/2006/main">
            <a:pPr>
              <a:defRPr sz="2475" b="0">
                <a:solidFill>
                  <a:srgbClr val="B0C4D4"/>
                </a:solidFill>
                <a:latin typeface="Helvetica Neue"/>
                <a:ea typeface="Helvetica Neue"/>
                <a:cs typeface="Helvetica Neue"/>
              </a:defRPr>
            </a:pPr>
            <a:r>
              <a:rPr sz="2475" b="0">
                <a:solidFill>
                  <a:srgbClr val="B0C4D4"/>
                </a:solidFill>
                <a:latin typeface="Helvetica Neue"/>
                <a:ea typeface="Helvetica Neue"/>
                <a:cs typeface="Helvetica Neue"/>
              </a:rPr>
              <a:t>a direct request for one buddy’s attention.</a:t>
            </a:r>
          </a:p>
        </p:txBody>
      </p:sp>
    </p:spTree>
    <p:extLst>
      <p:ext uri="{BB962C8B-B14F-4D97-AF65-F5344CB8AC3E}">
        <p14:creationId xmlns:p14="http://schemas.microsoft.com/office/powerpoint/2010/main" val="1547464017"/>
      </p:ext>
    </p:extLst>
  </p:cSld>
</p:sld>
</file>

<file path=ppt/slides/slide3.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AB696C-A1D1-4FCB-A2CA-581A3E36D7C6}"/>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call that belongs to your buddy</a:t>
            </a:r>
          </a:p>
        </p:txBody>
      </p:sp>
      <p:sp>
        <p:nvSpPr>
          <p:cNvPr id="2" name="">
            <a:extLst xmlns:a="http://schemas.openxmlformats.org/drawingml/2006/main">
              <a:ext uri="{FF2B5EF4-FFF2-40B4-BE49-F238E27FC236}">
                <a16:creationId xmlns:a16="http://schemas.microsoft.com/office/drawing/2014/main" id="{C105E985-10F3-4BDA-AB4E-77ED846D7151}"/>
              </a:ext>
            </a:extLst>
          </p:cNvPr>
          <p:cNvSpPr>
            <a:spLocks xmlns:a="http://schemas.openxmlformats.org/drawingml/2006/main" noGrp="1"/>
          </p:cNvSpPr>
          <p:nvPr/>
        </p:nvSpPr>
        <p:spPr>
          <a:xfrm xmlns:a="http://schemas.openxmlformats.org/drawingml/2006/main">
            <a:off x="733425" y="2438400"/>
            <a:ext cx="4714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9BD8E6"/>
                </a:solidFill>
                <a:latin typeface="Helvetica Neue"/>
                <a:ea typeface="Helvetica Neue"/>
                <a:cs typeface="Helvetica Neue"/>
              </a:defRPr>
            </a:pPr>
            <a:r>
              <a:rPr sz="2475" b="1">
                <a:solidFill>
                  <a:srgbClr val="9BD8E6"/>
                </a:solidFill>
                <a:latin typeface="Helvetica Neue"/>
                <a:ea typeface="Helvetica Neue"/>
                <a:cs typeface="Helvetica Neue"/>
              </a:rPr>
              <a:t>Before the dive</a:t>
            </a:r>
          </a:p>
        </p:txBody>
      </p:sp>
      <p:sp>
        <p:nvSpPr>
          <p:cNvPr id="3" name="">
            <a:extLst xmlns:a="http://schemas.openxmlformats.org/drawingml/2006/main">
              <a:ext uri="{FF2B5EF4-FFF2-40B4-BE49-F238E27FC236}">
                <a16:creationId xmlns:a16="http://schemas.microsoft.com/office/drawing/2014/main" id="{75587406-E5C2-4F98-B18E-731F709CA055}"/>
              </a:ext>
            </a:extLst>
          </p:cNvPr>
          <p:cNvSpPr>
            <a:spLocks xmlns:a="http://schemas.openxmlformats.org/drawingml/2006/main" noGrp="1"/>
          </p:cNvSpPr>
          <p:nvPr/>
        </p:nvSpPr>
        <p:spPr>
          <a:xfrm xmlns:a="http://schemas.openxmlformats.org/drawingml/2006/main">
            <a:off x="762000" y="3286125"/>
            <a:ext cx="4667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Two bands are paired,</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so each diver has a defined</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buddy connection.</a:t>
            </a:r>
          </a:p>
        </p:txBody>
      </p:sp>
      <p:sp>
        <p:nvSpPr>
          <p:cNvPr id="4" name="">
            <a:extLst xmlns:a="http://schemas.openxmlformats.org/drawingml/2006/main">
              <a:ext uri="{FF2B5EF4-FFF2-40B4-BE49-F238E27FC236}">
                <a16:creationId xmlns:a16="http://schemas.microsoft.com/office/drawing/2014/main" id="{A045D6C6-57A4-4794-A43E-C4AC9B2F1D76}"/>
              </a:ext>
            </a:extLst>
          </p:cNvPr>
          <p:cNvSpPr>
            <a:spLocks xmlns:a="http://schemas.openxmlformats.org/drawingml/2006/main" noGrp="1"/>
          </p:cNvSpPr>
          <p:nvPr/>
        </p:nvSpPr>
        <p:spPr>
          <a:xfrm xmlns:a="http://schemas.openxmlformats.org/drawingml/2006/main">
            <a:off x="6858000" y="2438400"/>
            <a:ext cx="466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9BD8E6"/>
                </a:solidFill>
                <a:latin typeface="Helvetica Neue"/>
                <a:ea typeface="Helvetica Neue"/>
                <a:cs typeface="Helvetica Neue"/>
              </a:defRPr>
            </a:pPr>
            <a:r>
              <a:rPr sz="2475" b="1">
                <a:solidFill>
                  <a:srgbClr val="9BD8E6"/>
                </a:solidFill>
                <a:latin typeface="Helvetica Neue"/>
                <a:ea typeface="Helvetica Neue"/>
                <a:cs typeface="Helvetica Neue"/>
              </a:rPr>
              <a:t>During the dive</a:t>
            </a:r>
          </a:p>
        </p:txBody>
      </p:sp>
      <p:sp>
        <p:nvSpPr>
          <p:cNvPr id="5" name="">
            <a:extLst xmlns:a="http://schemas.openxmlformats.org/drawingml/2006/main">
              <a:ext uri="{FF2B5EF4-FFF2-40B4-BE49-F238E27FC236}">
                <a16:creationId xmlns:a16="http://schemas.microsoft.com/office/drawing/2014/main" id="{5F1E29C2-F710-402A-A549-EF5565C2E9BD}"/>
              </a:ext>
            </a:extLst>
          </p:cNvPr>
          <p:cNvSpPr>
            <a:spLocks xmlns:a="http://schemas.openxmlformats.org/drawingml/2006/main" noGrp="1"/>
          </p:cNvSpPr>
          <p:nvPr/>
        </p:nvSpPr>
        <p:spPr>
          <a:xfrm xmlns:a="http://schemas.openxmlformats.org/drawingml/2006/main">
            <a:off x="6886575" y="3286125"/>
            <a:ext cx="4619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A deliberate button press</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requests a tactile alert</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on the other band.</a:t>
            </a:r>
          </a:p>
        </p:txBody>
      </p:sp>
      <p:sp>
        <p:nvSpPr>
          <p:cNvPr id="6" name="">
            <a:extLst xmlns:a="http://schemas.openxmlformats.org/drawingml/2006/main">
              <a:ext uri="{FF2B5EF4-FFF2-40B4-BE49-F238E27FC236}">
                <a16:creationId xmlns:a16="http://schemas.microsoft.com/office/drawing/2014/main" id="{BFAC706C-4BFA-4251-83A8-C3272E1869A3}"/>
              </a:ext>
            </a:extLst>
          </p:cNvPr>
          <p:cNvSpPr>
            <a:spLocks xmlns:a="http://schemas.openxmlformats.org/drawingml/2006/main" noGrp="1"/>
          </p:cNvSpPr>
          <p:nvPr/>
        </p:nvSpPr>
        <p:spPr>
          <a:xfrm xmlns:a="http://schemas.openxmlformats.org/drawingml/2006/main">
            <a:off x="762000" y="59055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0C4D4"/>
                </a:solidFill>
                <a:latin typeface="Helvetica Neue"/>
                <a:ea typeface="Helvetica Neue"/>
                <a:cs typeface="Helvetica Neue"/>
              </a:defRPr>
            </a:pPr>
            <a:r>
              <a:rPr sz="2025" b="0">
                <a:solidFill>
                  <a:srgbClr val="B0C4D4"/>
                </a:solidFill>
                <a:latin typeface="Helvetica Neue"/>
                <a:ea typeface="Helvetica Neue"/>
                <a:cs typeface="Helvetica Neue"/>
              </a:rPr>
              <a:t>The proposed call uses one physical button and three alert pulses.</a:t>
            </a:r>
          </a:p>
        </p:txBody>
      </p:sp>
    </p:spTree>
    <p:extLst>
      <p:ext uri="{BB962C8B-B14F-4D97-AF65-F5344CB8AC3E}">
        <p14:creationId xmlns:p14="http://schemas.microsoft.com/office/powerpoint/2010/main" val="1529965687"/>
      </p:ext>
    </p:extLst>
  </p:cSld>
</p:sld>
</file>

<file path=ppt/slides/slide4.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B0CB863-68CF-4B13-86A6-B55E83517332}"/>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buddy acknowledges</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with a button press</a:t>
            </a:r>
          </a:p>
        </p:txBody>
      </p:sp>
      <p:sp>
        <p:nvSpPr>
          <p:cNvPr id="2" name="">
            <a:extLst xmlns:a="http://schemas.openxmlformats.org/drawingml/2006/main">
              <a:ext uri="{FF2B5EF4-FFF2-40B4-BE49-F238E27FC236}">
                <a16:creationId xmlns:a16="http://schemas.microsoft.com/office/drawing/2014/main" id="{6D267E2C-8859-408D-89CD-EFD453AA801F}"/>
              </a:ext>
            </a:extLst>
          </p:cNvPr>
          <p:cNvSpPr>
            <a:spLocks xmlns:a="http://schemas.openxmlformats.org/drawingml/2006/main" noGrp="1"/>
          </p:cNvSpPr>
          <p:nvPr/>
        </p:nvSpPr>
        <p:spPr>
          <a:xfrm xmlns:a="http://schemas.openxmlformats.org/drawingml/2006/main">
            <a:off x="714375"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3" name="">
            <a:extLst xmlns:a="http://schemas.openxmlformats.org/drawingml/2006/main">
              <a:ext uri="{FF2B5EF4-FFF2-40B4-BE49-F238E27FC236}">
                <a16:creationId xmlns:a16="http://schemas.microsoft.com/office/drawing/2014/main" id="{36FF6148-09DA-44C2-84F7-FFD722D58CB2}"/>
              </a:ext>
            </a:extLst>
          </p:cNvPr>
          <p:cNvSpPr>
            <a:spLocks xmlns:a="http://schemas.openxmlformats.org/drawingml/2006/main" noGrp="1"/>
          </p:cNvSpPr>
          <p:nvPr/>
        </p:nvSpPr>
        <p:spPr>
          <a:xfrm xmlns:a="http://schemas.openxmlformats.org/drawingml/2006/main">
            <a:off x="904875"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CALLING</a:t>
            </a:r>
          </a:p>
        </p:txBody>
      </p:sp>
      <p:sp>
        <p:nvSpPr>
          <p:cNvPr id="4" name="">
            <a:extLst xmlns:a="http://schemas.openxmlformats.org/drawingml/2006/main">
              <a:ext uri="{FF2B5EF4-FFF2-40B4-BE49-F238E27FC236}">
                <a16:creationId xmlns:a16="http://schemas.microsoft.com/office/drawing/2014/main" id="{5B6849F9-C8BD-4FD7-A58D-9B6D1F5D169F}"/>
              </a:ext>
            </a:extLst>
          </p:cNvPr>
          <p:cNvSpPr>
            <a:spLocks xmlns:a="http://schemas.openxmlformats.org/drawingml/2006/main" noGrp="1"/>
          </p:cNvSpPr>
          <p:nvPr/>
        </p:nvSpPr>
        <p:spPr>
          <a:xfrm xmlns:a="http://schemas.openxmlformats.org/drawingml/2006/main">
            <a:off x="885825"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0F4F7"/>
                </a:solidFill>
                <a:latin typeface="Helvetica Neue"/>
                <a:ea typeface="Helvetica Neue"/>
                <a:cs typeface="Helvetica Neue"/>
              </a:defRPr>
            </a:pPr>
            <a:r>
              <a:rPr sz="3900" b="1">
                <a:solidFill>
                  <a:srgbClr val="F0F4F7"/>
                </a:solidFill>
                <a:latin typeface="Helvetica Neue"/>
                <a:ea typeface="Helvetica Neue"/>
                <a:cs typeface="Helvetica Neue"/>
              </a:rPr>
              <a:t>Sent</a:t>
            </a:r>
          </a:p>
        </p:txBody>
      </p:sp>
      <p:sp>
        <p:nvSpPr>
          <p:cNvPr id="5" name="">
            <a:extLst xmlns:a="http://schemas.openxmlformats.org/drawingml/2006/main">
              <a:ext uri="{FF2B5EF4-FFF2-40B4-BE49-F238E27FC236}">
                <a16:creationId xmlns:a16="http://schemas.microsoft.com/office/drawing/2014/main" id="{B07945B4-2C58-4676-9F38-B7653632475D}"/>
              </a:ext>
            </a:extLst>
          </p:cNvPr>
          <p:cNvSpPr>
            <a:spLocks xmlns:a="http://schemas.openxmlformats.org/drawingml/2006/main" noGrp="1"/>
          </p:cNvSpPr>
          <p:nvPr/>
        </p:nvSpPr>
        <p:spPr>
          <a:xfrm xmlns:a="http://schemas.openxmlformats.org/drawingml/2006/main">
            <a:off x="904875"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Waiting for a reply</a:t>
            </a:r>
          </a:p>
        </p:txBody>
      </p:sp>
      <p:sp>
        <p:nvSpPr>
          <p:cNvPr id="6" name="">
            <a:extLst xmlns:a="http://schemas.openxmlformats.org/drawingml/2006/main">
              <a:ext uri="{FF2B5EF4-FFF2-40B4-BE49-F238E27FC236}">
                <a16:creationId xmlns:a16="http://schemas.microsoft.com/office/drawing/2014/main" id="{5363B1B7-2C68-4477-B396-D40F1571F024}"/>
              </a:ext>
            </a:extLst>
          </p:cNvPr>
          <p:cNvSpPr>
            <a:spLocks xmlns:a="http://schemas.openxmlformats.org/drawingml/2006/main" noGrp="1"/>
          </p:cNvSpPr>
          <p:nvPr/>
        </p:nvSpPr>
        <p:spPr>
          <a:xfrm xmlns:a="http://schemas.openxmlformats.org/drawingml/2006/main">
            <a:off x="904875"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7" name="">
            <a:extLst xmlns:a="http://schemas.openxmlformats.org/drawingml/2006/main">
              <a:ext uri="{FF2B5EF4-FFF2-40B4-BE49-F238E27FC236}">
                <a16:creationId xmlns:a16="http://schemas.microsoft.com/office/drawing/2014/main" id="{9E51BF0C-5E72-405D-BBCD-E16FE32539AA}"/>
              </a:ext>
            </a:extLst>
          </p:cNvPr>
          <p:cNvSpPr>
            <a:spLocks xmlns:a="http://schemas.openxmlformats.org/drawingml/2006/main" noGrp="1"/>
          </p:cNvSpPr>
          <p:nvPr/>
        </p:nvSpPr>
        <p:spPr>
          <a:xfrm xmlns:a="http://schemas.openxmlformats.org/drawingml/2006/main">
            <a:off x="4533900"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8" name="">
            <a:extLst xmlns:a="http://schemas.openxmlformats.org/drawingml/2006/main">
              <a:ext uri="{FF2B5EF4-FFF2-40B4-BE49-F238E27FC236}">
                <a16:creationId xmlns:a16="http://schemas.microsoft.com/office/drawing/2014/main" id="{3B783FFF-4AE9-4B45-A291-953FE7670BD0}"/>
              </a:ext>
            </a:extLst>
          </p:cNvPr>
          <p:cNvSpPr>
            <a:spLocks xmlns:a="http://schemas.openxmlformats.org/drawingml/2006/main" noGrp="1"/>
          </p:cNvSpPr>
          <p:nvPr/>
        </p:nvSpPr>
        <p:spPr>
          <a:xfrm xmlns:a="http://schemas.openxmlformats.org/drawingml/2006/main">
            <a:off x="4724400"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DEVICE REPLIED</a:t>
            </a:r>
          </a:p>
        </p:txBody>
      </p:sp>
      <p:sp>
        <p:nvSpPr>
          <p:cNvPr id="9" name="">
            <a:extLst xmlns:a="http://schemas.openxmlformats.org/drawingml/2006/main">
              <a:ext uri="{FF2B5EF4-FFF2-40B4-BE49-F238E27FC236}">
                <a16:creationId xmlns:a16="http://schemas.microsoft.com/office/drawing/2014/main" id="{8E61FFE5-5313-489F-B90A-C08B1717327C}"/>
              </a:ext>
            </a:extLst>
          </p:cNvPr>
          <p:cNvSpPr>
            <a:spLocks xmlns:a="http://schemas.openxmlformats.org/drawingml/2006/main" noGrp="1"/>
          </p:cNvSpPr>
          <p:nvPr/>
        </p:nvSpPr>
        <p:spPr>
          <a:xfrm xmlns:a="http://schemas.openxmlformats.org/drawingml/2006/main">
            <a:off x="4705350"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0F4F7"/>
                </a:solidFill>
                <a:latin typeface="Helvetica Neue"/>
                <a:ea typeface="Helvetica Neue"/>
                <a:cs typeface="Helvetica Neue"/>
              </a:defRPr>
            </a:pPr>
            <a:r>
              <a:rPr sz="2625" b="1">
                <a:solidFill>
                  <a:srgbClr val="F0F4F7"/>
                </a:solidFill>
                <a:latin typeface="Helvetica Neue"/>
                <a:ea typeface="Helvetica Neue"/>
                <a:cs typeface="Helvetica Neue"/>
              </a:rPr>
              <a:t>Received</a:t>
            </a:r>
          </a:p>
        </p:txBody>
      </p:sp>
      <p:sp>
        <p:nvSpPr>
          <p:cNvPr id="10" name="">
            <a:extLst xmlns:a="http://schemas.openxmlformats.org/drawingml/2006/main">
              <a:ext uri="{FF2B5EF4-FFF2-40B4-BE49-F238E27FC236}">
                <a16:creationId xmlns:a16="http://schemas.microsoft.com/office/drawing/2014/main" id="{CEE174AD-B2B4-428D-B0B9-1EAB603F5651}"/>
              </a:ext>
            </a:extLst>
          </p:cNvPr>
          <p:cNvSpPr>
            <a:spLocks xmlns:a="http://schemas.openxmlformats.org/drawingml/2006/main" noGrp="1"/>
          </p:cNvSpPr>
          <p:nvPr/>
        </p:nvSpPr>
        <p:spPr>
          <a:xfrm xmlns:a="http://schemas.openxmlformats.org/drawingml/2006/main">
            <a:off x="4724400"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The paired band replied</a:t>
            </a:r>
          </a:p>
        </p:txBody>
      </p:sp>
      <p:sp>
        <p:nvSpPr>
          <p:cNvPr id="11" name="">
            <a:extLst xmlns:a="http://schemas.openxmlformats.org/drawingml/2006/main">
              <a:ext uri="{FF2B5EF4-FFF2-40B4-BE49-F238E27FC236}">
                <a16:creationId xmlns:a16="http://schemas.microsoft.com/office/drawing/2014/main" id="{72416FBF-169E-45E3-80EA-20AD2FC27DBE}"/>
              </a:ext>
            </a:extLst>
          </p:cNvPr>
          <p:cNvSpPr>
            <a:spLocks xmlns:a="http://schemas.openxmlformats.org/drawingml/2006/main" noGrp="1"/>
          </p:cNvSpPr>
          <p:nvPr/>
        </p:nvSpPr>
        <p:spPr>
          <a:xfrm xmlns:a="http://schemas.openxmlformats.org/drawingml/2006/main">
            <a:off x="4724400"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12" name="">
            <a:extLst xmlns:a="http://schemas.openxmlformats.org/drawingml/2006/main">
              <a:ext uri="{FF2B5EF4-FFF2-40B4-BE49-F238E27FC236}">
                <a16:creationId xmlns:a16="http://schemas.microsoft.com/office/drawing/2014/main" id="{65C4E9F9-5A04-4200-AA19-0B9B39C68C05}"/>
              </a:ext>
            </a:extLst>
          </p:cNvPr>
          <p:cNvSpPr>
            <a:spLocks xmlns:a="http://schemas.openxmlformats.org/drawingml/2006/main" noGrp="1"/>
          </p:cNvSpPr>
          <p:nvPr/>
        </p:nvSpPr>
        <p:spPr>
          <a:xfrm xmlns:a="http://schemas.openxmlformats.org/drawingml/2006/main">
            <a:off x="8353425"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13" name="">
            <a:extLst xmlns:a="http://schemas.openxmlformats.org/drawingml/2006/main">
              <a:ext uri="{FF2B5EF4-FFF2-40B4-BE49-F238E27FC236}">
                <a16:creationId xmlns:a16="http://schemas.microsoft.com/office/drawing/2014/main" id="{EBD6C005-F586-4F03-B423-8385D997BCD9}"/>
              </a:ext>
            </a:extLst>
          </p:cNvPr>
          <p:cNvSpPr>
            <a:spLocks xmlns:a="http://schemas.openxmlformats.org/drawingml/2006/main" noGrp="1"/>
          </p:cNvSpPr>
          <p:nvPr/>
        </p:nvSpPr>
        <p:spPr>
          <a:xfrm xmlns:a="http://schemas.openxmlformats.org/drawingml/2006/main">
            <a:off x="8543925"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PERSON RESPONDED</a:t>
            </a:r>
          </a:p>
        </p:txBody>
      </p:sp>
      <p:sp>
        <p:nvSpPr>
          <p:cNvPr id="14" name="">
            <a:extLst xmlns:a="http://schemas.openxmlformats.org/drawingml/2006/main">
              <a:ext uri="{FF2B5EF4-FFF2-40B4-BE49-F238E27FC236}">
                <a16:creationId xmlns:a16="http://schemas.microsoft.com/office/drawing/2014/main" id="{1980DB9F-EBE2-4045-BA10-5317D999999F}"/>
              </a:ext>
            </a:extLst>
          </p:cNvPr>
          <p:cNvSpPr>
            <a:spLocks xmlns:a="http://schemas.openxmlformats.org/drawingml/2006/main" noGrp="1"/>
          </p:cNvSpPr>
          <p:nvPr/>
        </p:nvSpPr>
        <p:spPr>
          <a:xfrm xmlns:a="http://schemas.openxmlformats.org/drawingml/2006/main">
            <a:off x="8524875"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0F4F7"/>
                </a:solidFill>
                <a:latin typeface="Helvetica Neue"/>
                <a:ea typeface="Helvetica Neue"/>
                <a:cs typeface="Helvetica Neue"/>
              </a:defRPr>
            </a:pPr>
            <a:r>
              <a:rPr sz="2100" b="1">
                <a:solidFill>
                  <a:srgbClr val="F0F4F7"/>
                </a:solidFill>
                <a:latin typeface="Helvetica Neue"/>
                <a:ea typeface="Helvetica Neue"/>
                <a:cs typeface="Helvetica Neue"/>
              </a:rPr>
              <a:t>Acknowledged</a:t>
            </a:r>
          </a:p>
        </p:txBody>
      </p:sp>
      <p:sp>
        <p:nvSpPr>
          <p:cNvPr id="15" name="">
            <a:extLst xmlns:a="http://schemas.openxmlformats.org/drawingml/2006/main">
              <a:ext uri="{FF2B5EF4-FFF2-40B4-BE49-F238E27FC236}">
                <a16:creationId xmlns:a16="http://schemas.microsoft.com/office/drawing/2014/main" id="{5A51F687-6969-4769-93B6-B8F67BFA89B2}"/>
              </a:ext>
            </a:extLst>
          </p:cNvPr>
          <p:cNvSpPr>
            <a:spLocks xmlns:a="http://schemas.openxmlformats.org/drawingml/2006/main" noGrp="1"/>
          </p:cNvSpPr>
          <p:nvPr/>
        </p:nvSpPr>
        <p:spPr>
          <a:xfrm xmlns:a="http://schemas.openxmlformats.org/drawingml/2006/main">
            <a:off x="8543925"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The buddy pressed once</a:t>
            </a:r>
          </a:p>
        </p:txBody>
      </p:sp>
      <p:sp>
        <p:nvSpPr>
          <p:cNvPr id="16" name="">
            <a:extLst xmlns:a="http://schemas.openxmlformats.org/drawingml/2006/main">
              <a:ext uri="{FF2B5EF4-FFF2-40B4-BE49-F238E27FC236}">
                <a16:creationId xmlns:a16="http://schemas.microsoft.com/office/drawing/2014/main" id="{ABC1F682-AC73-426D-864E-4209243CAC0C}"/>
              </a:ext>
            </a:extLst>
          </p:cNvPr>
          <p:cNvSpPr>
            <a:spLocks xmlns:a="http://schemas.openxmlformats.org/drawingml/2006/main" noGrp="1"/>
          </p:cNvSpPr>
          <p:nvPr/>
        </p:nvSpPr>
        <p:spPr>
          <a:xfrm xmlns:a="http://schemas.openxmlformats.org/drawingml/2006/main">
            <a:off x="8543925"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17" name="">
            <a:extLst xmlns:a="http://schemas.openxmlformats.org/drawingml/2006/main">
              <a:ext uri="{FF2B5EF4-FFF2-40B4-BE49-F238E27FC236}">
                <a16:creationId xmlns:a16="http://schemas.microsoft.com/office/drawing/2014/main" id="{3A3A0A07-AE9B-43CF-BF64-B9BCD55E9D72}"/>
              </a:ext>
            </a:extLst>
          </p:cNvPr>
          <p:cNvSpPr>
            <a:spLocks xmlns:a="http://schemas.openxmlformats.org/drawingml/2006/main" noGrp="1"/>
          </p:cNvSpPr>
          <p:nvPr/>
        </p:nvSpPr>
        <p:spPr>
          <a:xfrm xmlns:a="http://schemas.openxmlformats.org/drawingml/2006/main">
            <a:off x="752475" y="52863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0F4F7"/>
                </a:solidFill>
                <a:latin typeface="Helvetica Neue"/>
                <a:ea typeface="Helvetica Neue"/>
                <a:cs typeface="Helvetica Neue"/>
              </a:defRPr>
            </a:pPr>
            <a:r>
              <a:rPr sz="2325" b="0">
                <a:solidFill>
                  <a:srgbClr val="F0F4F7"/>
                </a:solidFill>
                <a:latin typeface="Helvetica Neue"/>
                <a:ea typeface="Helvetica Neue"/>
                <a:cs typeface="Helvetica Neue"/>
              </a:rPr>
              <a:t>A device reply confirms delivery. The other diver’s button press</a:t>
            </a:r>
          </a:p>
          <a:p xmlns:a="http://schemas.openxmlformats.org/drawingml/2006/main">
            <a:pPr>
              <a:defRPr sz="2325" b="0">
                <a:solidFill>
                  <a:srgbClr val="F0F4F7"/>
                </a:solidFill>
                <a:latin typeface="Helvetica Neue"/>
                <a:ea typeface="Helvetica Neue"/>
                <a:cs typeface="Helvetica Neue"/>
              </a:defRPr>
            </a:pPr>
            <a:r>
              <a:rPr sz="2325" b="0">
                <a:solidFill>
                  <a:srgbClr val="F0F4F7"/>
                </a:solidFill>
                <a:latin typeface="Helvetica Neue"/>
                <a:ea typeface="Helvetica Neue"/>
                <a:cs typeface="Helvetica Neue"/>
              </a:rPr>
              <a:t>communicates their response.</a:t>
            </a:r>
          </a:p>
        </p:txBody>
      </p:sp>
      <p:sp>
        <p:nvSpPr>
          <p:cNvPr id="18" name="">
            <a:extLst xmlns:a="http://schemas.openxmlformats.org/drawingml/2006/main">
              <a:ext uri="{FF2B5EF4-FFF2-40B4-BE49-F238E27FC236}">
                <a16:creationId xmlns:a16="http://schemas.microsoft.com/office/drawing/2014/main" id="{35F20DDC-3E98-43DB-B8A8-9B9684886BD3}"/>
              </a:ext>
            </a:extLst>
          </p:cNvPr>
          <p:cNvSpPr>
            <a:spLocks xmlns:a="http://schemas.openxmlformats.org/drawingml/2006/main" noGrp="1"/>
          </p:cNvSpPr>
          <p:nvPr/>
        </p:nvSpPr>
        <p:spPr>
          <a:xfrm xmlns:a="http://schemas.openxmlformats.org/drawingml/2006/main">
            <a:off x="752475" y="63627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Enlarged proposed interface states</a:t>
            </a:r>
          </a:p>
        </p:txBody>
      </p:sp>
    </p:spTree>
    <p:extLst>
      <p:ext uri="{BB962C8B-B14F-4D97-AF65-F5344CB8AC3E}">
        <p14:creationId xmlns:p14="http://schemas.microsoft.com/office/powerpoint/2010/main" val="1393160615"/>
      </p:ext>
    </p:extLst>
  </p:cSld>
</p:sld>
</file>

<file path=ppt/slides/slide5.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669B025-5EE3-4CA5-AF42-75B6C610A0CD}"/>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Feel the request.</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Understand the response</a:t>
            </a:r>
          </a:p>
        </p:txBody>
      </p:sp>
      <p:sp>
        <p:nvSpPr>
          <p:cNvPr id="2" name="">
            <a:extLst xmlns:a="http://schemas.openxmlformats.org/drawingml/2006/main">
              <a:ext uri="{FF2B5EF4-FFF2-40B4-BE49-F238E27FC236}">
                <a16:creationId xmlns:a16="http://schemas.microsoft.com/office/drawing/2014/main" id="{950F25A4-05FC-4863-9D8D-0A32C9B4CC50}"/>
              </a:ext>
            </a:extLst>
          </p:cNvPr>
          <p:cNvSpPr>
            <a:spLocks xmlns:a="http://schemas.openxmlformats.org/drawingml/2006/main" noGrp="1"/>
          </p:cNvSpPr>
          <p:nvPr/>
        </p:nvSpPr>
        <p:spPr>
          <a:xfrm xmlns:a="http://schemas.openxmlformats.org/drawingml/2006/main">
            <a:off x="714375" y="24574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3" name="">
            <a:extLst xmlns:a="http://schemas.openxmlformats.org/drawingml/2006/main">
              <a:ext uri="{FF2B5EF4-FFF2-40B4-BE49-F238E27FC236}">
                <a16:creationId xmlns:a16="http://schemas.microsoft.com/office/drawing/2014/main" id="{33943532-93D1-4C20-9F30-8FC8162A56DA}"/>
              </a:ext>
            </a:extLst>
          </p:cNvPr>
          <p:cNvSpPr>
            <a:spLocks xmlns:a="http://schemas.openxmlformats.org/drawingml/2006/main" noGrp="1"/>
          </p:cNvSpPr>
          <p:nvPr/>
        </p:nvSpPr>
        <p:spPr>
          <a:xfrm xmlns:a="http://schemas.openxmlformats.org/drawingml/2006/main">
            <a:off x="904875" y="26479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RANGING</a:t>
            </a:r>
          </a:p>
        </p:txBody>
      </p:sp>
      <p:sp>
        <p:nvSpPr>
          <p:cNvPr id="4" name="">
            <a:extLst xmlns:a="http://schemas.openxmlformats.org/drawingml/2006/main">
              <a:ext uri="{FF2B5EF4-FFF2-40B4-BE49-F238E27FC236}">
                <a16:creationId xmlns:a16="http://schemas.microsoft.com/office/drawing/2014/main" id="{34297D5B-EF6E-425F-8C77-305265F96505}"/>
              </a:ext>
            </a:extLst>
          </p:cNvPr>
          <p:cNvSpPr>
            <a:spLocks xmlns:a="http://schemas.openxmlformats.org/drawingml/2006/main" noGrp="1"/>
          </p:cNvSpPr>
          <p:nvPr/>
        </p:nvSpPr>
        <p:spPr>
          <a:xfrm xmlns:a="http://schemas.openxmlformats.org/drawingml/2006/main">
            <a:off x="885825" y="32289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0F4F7"/>
                </a:solidFill>
                <a:latin typeface="Helvetica Neue"/>
                <a:ea typeface="Helvetica Neue"/>
                <a:cs typeface="Helvetica Neue"/>
              </a:defRPr>
            </a:pPr>
            <a:r>
              <a:rPr sz="3900" b="1">
                <a:solidFill>
                  <a:srgbClr val="F0F4F7"/>
                </a:solidFill>
                <a:latin typeface="Helvetica Neue"/>
                <a:ea typeface="Helvetica Neue"/>
                <a:cs typeface="Helvetica Neue"/>
              </a:rPr>
              <a:t>8 m</a:t>
            </a:r>
          </a:p>
        </p:txBody>
      </p:sp>
      <p:sp>
        <p:nvSpPr>
          <p:cNvPr id="5" name="">
            <a:extLst xmlns:a="http://schemas.openxmlformats.org/drawingml/2006/main">
              <a:ext uri="{FF2B5EF4-FFF2-40B4-BE49-F238E27FC236}">
                <a16:creationId xmlns:a16="http://schemas.microsoft.com/office/drawing/2014/main" id="{FEA2B474-7500-426A-850E-9E0A3074BF55}"/>
              </a:ext>
            </a:extLst>
          </p:cNvPr>
          <p:cNvSpPr>
            <a:spLocks xmlns:a="http://schemas.openxmlformats.org/drawingml/2006/main" noGrp="1"/>
          </p:cNvSpPr>
          <p:nvPr/>
        </p:nvSpPr>
        <p:spPr>
          <a:xfrm xmlns:a="http://schemas.openxmlformats.org/drawingml/2006/main">
            <a:off x="904875" y="39624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Getting closer</a:t>
            </a:r>
          </a:p>
        </p:txBody>
      </p:sp>
      <p:sp>
        <p:nvSpPr>
          <p:cNvPr id="6" name="">
            <a:extLst xmlns:a="http://schemas.openxmlformats.org/drawingml/2006/main">
              <a:ext uri="{FF2B5EF4-FFF2-40B4-BE49-F238E27FC236}">
                <a16:creationId xmlns:a16="http://schemas.microsoft.com/office/drawing/2014/main" id="{925D9F7D-82CA-4E9D-AB7E-4BC8D4F0A332}"/>
              </a:ext>
            </a:extLst>
          </p:cNvPr>
          <p:cNvSpPr>
            <a:spLocks xmlns:a="http://schemas.openxmlformats.org/drawingml/2006/main" noGrp="1"/>
          </p:cNvSpPr>
          <p:nvPr/>
        </p:nvSpPr>
        <p:spPr>
          <a:xfrm xmlns:a="http://schemas.openxmlformats.org/drawingml/2006/main">
            <a:off x="904875" y="45148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Synthetic example</a:t>
            </a:r>
          </a:p>
        </p:txBody>
      </p:sp>
      <p:sp>
        <p:nvSpPr>
          <p:cNvPr id="7" name="">
            <a:extLst xmlns:a="http://schemas.openxmlformats.org/drawingml/2006/main">
              <a:ext uri="{FF2B5EF4-FFF2-40B4-BE49-F238E27FC236}">
                <a16:creationId xmlns:a16="http://schemas.microsoft.com/office/drawing/2014/main" id="{3C3947B7-A740-4E59-B27E-3095FC241C11}"/>
              </a:ext>
            </a:extLst>
          </p:cNvPr>
          <p:cNvSpPr>
            <a:spLocks xmlns:a="http://schemas.openxmlformats.org/drawingml/2006/main" noGrp="1"/>
          </p:cNvSpPr>
          <p:nvPr/>
        </p:nvSpPr>
        <p:spPr>
          <a:xfrm xmlns:a="http://schemas.openxmlformats.org/drawingml/2006/main">
            <a:off x="4667250" y="2466975"/>
            <a:ext cx="67341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After the buddy acknowledges,</a:t>
            </a:r>
          </a:p>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a hold starts a ranging session.</a:t>
            </a:r>
          </a:p>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Both screens show fresh separation</a:t>
            </a:r>
          </a:p>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estimates when available.</a:t>
            </a:r>
          </a:p>
        </p:txBody>
      </p:sp>
      <p:sp>
        <p:nvSpPr>
          <p:cNvPr id="8" name="">
            <a:extLst xmlns:a="http://schemas.openxmlformats.org/drawingml/2006/main">
              <a:ext uri="{FF2B5EF4-FFF2-40B4-BE49-F238E27FC236}">
                <a16:creationId xmlns:a16="http://schemas.microsoft.com/office/drawing/2014/main" id="{BB721AA4-7724-4C88-B107-C38AB52CE7CA}"/>
              </a:ext>
            </a:extLst>
          </p:cNvPr>
          <p:cNvSpPr>
            <a:spLocks xmlns:a="http://schemas.openxmlformats.org/drawingml/2006/main" noGrp="1"/>
          </p:cNvSpPr>
          <p:nvPr/>
        </p:nvSpPr>
        <p:spPr>
          <a:xfrm xmlns:a="http://schemas.openxmlformats.org/drawingml/2006/main">
            <a:off x="4667250" y="4705350"/>
            <a:ext cx="67246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9BD8E6"/>
                </a:solidFill>
                <a:latin typeface="Helvetica Neue"/>
                <a:ea typeface="Helvetica Neue"/>
                <a:cs typeface="Helvetica Neue"/>
              </a:defRPr>
            </a:pPr>
            <a:r>
              <a:rPr sz="2400" b="1">
                <a:solidFill>
                  <a:srgbClr val="9BD8E6"/>
                </a:solidFill>
                <a:latin typeface="Helvetica Neue"/>
                <a:ea typeface="Helvetica Neue"/>
                <a:cs typeface="Helvetica Neue"/>
              </a:rPr>
              <a:t>If a reading is missing or stale,</a:t>
            </a:r>
          </a:p>
          <a:p xmlns:a="http://schemas.openxmlformats.org/drawingml/2006/main">
            <a:pPr>
              <a:defRPr sz="2400" b="1">
                <a:solidFill>
                  <a:srgbClr val="9BD8E6"/>
                </a:solidFill>
                <a:latin typeface="Helvetica Neue"/>
                <a:ea typeface="Helvetica Neue"/>
                <a:cs typeface="Helvetica Neue"/>
              </a:defRPr>
            </a:pPr>
            <a:r>
              <a:rPr sz="2400" b="1">
                <a:solidFill>
                  <a:srgbClr val="9BD8E6"/>
                </a:solidFill>
                <a:latin typeface="Helvetica Neue"/>
                <a:ea typeface="Helvetica Neue"/>
                <a:cs typeface="Helvetica Neue"/>
              </a:rPr>
              <a:t>the distance and trend clear.</a:t>
            </a:r>
          </a:p>
        </p:txBody>
      </p:sp>
      <p:sp>
        <p:nvSpPr>
          <p:cNvPr id="9" name="">
            <a:extLst xmlns:a="http://schemas.openxmlformats.org/drawingml/2006/main">
              <a:ext uri="{FF2B5EF4-FFF2-40B4-BE49-F238E27FC236}">
                <a16:creationId xmlns:a16="http://schemas.microsoft.com/office/drawing/2014/main" id="{4ECD6CB8-0580-4ADE-B6B7-1E48A8D5AE4B}"/>
              </a:ext>
            </a:extLst>
          </p:cNvPr>
          <p:cNvSpPr>
            <a:spLocks xmlns:a="http://schemas.openxmlformats.org/drawingml/2006/main" noGrp="1"/>
          </p:cNvSpPr>
          <p:nvPr/>
        </p:nvSpPr>
        <p:spPr>
          <a:xfrm xmlns:a="http://schemas.openxmlformats.org/drawingml/2006/main">
            <a:off x="752475" y="62674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0C4D4"/>
                </a:solidFill>
                <a:latin typeface="Helvetica Neue"/>
                <a:ea typeface="Helvetica Neue"/>
                <a:cs typeface="Helvetica Neue"/>
              </a:defRPr>
            </a:pPr>
            <a:r>
              <a:rPr sz="1650" b="0">
                <a:solidFill>
                  <a:srgbClr val="B0C4D4"/>
                </a:solidFill>
                <a:latin typeface="Helvetica Neue"/>
                <a:ea typeface="Helvetica Neue"/>
                <a:cs typeface="Helvetica Neue"/>
              </a:rPr>
              <a:t>Optional caller pulses follow distance. The screen makes the reading explicit.</a:t>
            </a:r>
          </a:p>
        </p:txBody>
      </p:sp>
    </p:spTree>
    <p:extLst>
      <p:ext uri="{BB962C8B-B14F-4D97-AF65-F5344CB8AC3E}">
        <p14:creationId xmlns:p14="http://schemas.microsoft.com/office/powerpoint/2010/main" val="1367919282"/>
      </p:ext>
    </p:extLst>
  </p:cSld>
</p:sld>
</file>

<file path=ppt/slides/slide6.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1CD668-6DCF-4EFC-BABE-E486CEF82DC0}"/>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Distance and the limits</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of one transducer</a:t>
            </a:r>
          </a:p>
        </p:txBody>
      </p:sp>
      <p:sp>
        <p:nvSpPr>
          <p:cNvPr id="2" name="">
            <a:extLst xmlns:a="http://schemas.openxmlformats.org/drawingml/2006/main">
              <a:ext uri="{FF2B5EF4-FFF2-40B4-BE49-F238E27FC236}">
                <a16:creationId xmlns:a16="http://schemas.microsoft.com/office/drawing/2014/main" id="{EA8B26E5-C0FA-484F-9AB3-4A8DEE551276}"/>
              </a:ext>
            </a:extLst>
          </p:cNvPr>
          <p:cNvSpPr>
            <a:spLocks xmlns:a="http://schemas.openxmlformats.org/drawingml/2006/main" noGrp="1"/>
          </p:cNvSpPr>
          <p:nvPr/>
        </p:nvSpPr>
        <p:spPr>
          <a:xfrm xmlns:a="http://schemas.openxmlformats.org/drawingml/2006/main">
            <a:off x="714375" y="2295525"/>
            <a:ext cx="45243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9BD8E6"/>
                </a:solidFill>
                <a:latin typeface="Helvetica Neue"/>
                <a:ea typeface="Helvetica Neue"/>
                <a:cs typeface="Helvetica Neue"/>
              </a:defRPr>
            </a:pPr>
            <a:r>
              <a:rPr sz="8250" b="1">
                <a:solidFill>
                  <a:srgbClr val="9BD8E6"/>
                </a:solidFill>
                <a:latin typeface="Helvetica Neue"/>
                <a:ea typeface="Helvetica Neue"/>
                <a:cs typeface="Helvetica Neue"/>
              </a:rPr>
              <a:t>8 m</a:t>
            </a:r>
          </a:p>
        </p:txBody>
      </p:sp>
      <p:sp>
        <p:nvSpPr>
          <p:cNvPr id="3" name="">
            <a:extLst xmlns:a="http://schemas.openxmlformats.org/drawingml/2006/main">
              <a:ext uri="{FF2B5EF4-FFF2-40B4-BE49-F238E27FC236}">
                <a16:creationId xmlns:a16="http://schemas.microsoft.com/office/drawing/2014/main" id="{784B8266-A723-4155-9E72-4D508B07BECE}"/>
              </a:ext>
            </a:extLst>
          </p:cNvPr>
          <p:cNvSpPr>
            <a:spLocks xmlns:a="http://schemas.openxmlformats.org/drawingml/2006/main" noGrp="1"/>
          </p:cNvSpPr>
          <p:nvPr/>
        </p:nvSpPr>
        <p:spPr>
          <a:xfrm xmlns:a="http://schemas.openxmlformats.org/drawingml/2006/main">
            <a:off x="752475" y="3905250"/>
            <a:ext cx="4524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Estimated separation</a:t>
            </a:r>
          </a:p>
        </p:txBody>
      </p:sp>
      <p:sp>
        <p:nvSpPr>
          <p:cNvPr id="4" name="">
            <a:extLst xmlns:a="http://schemas.openxmlformats.org/drawingml/2006/main">
              <a:ext uri="{FF2B5EF4-FFF2-40B4-BE49-F238E27FC236}">
                <a16:creationId xmlns:a16="http://schemas.microsoft.com/office/drawing/2014/main" id="{F7EB5D0C-8EA4-4DAD-ACF1-4BF2B27B5C81}"/>
              </a:ext>
            </a:extLst>
          </p:cNvPr>
          <p:cNvSpPr>
            <a:spLocks xmlns:a="http://schemas.openxmlformats.org/drawingml/2006/main" noGrp="1"/>
          </p:cNvSpPr>
          <p:nvPr/>
        </p:nvSpPr>
        <p:spPr>
          <a:xfrm xmlns:a="http://schemas.openxmlformats.org/drawingml/2006/main">
            <a:off x="6534150" y="2609850"/>
            <a:ext cx="50006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7"/>
                </a:solidFill>
                <a:latin typeface="Helvetica Neue"/>
                <a:ea typeface="Helvetica Neue"/>
                <a:cs typeface="Helvetica Neue"/>
              </a:defRPr>
            </a:pPr>
            <a:r>
              <a:rPr sz="3150" b="1">
                <a:solidFill>
                  <a:srgbClr val="F0F4F7"/>
                </a:solidFill>
                <a:latin typeface="Helvetica Neue"/>
                <a:ea typeface="Helvetica Neue"/>
                <a:cs typeface="Helvetica Neue"/>
              </a:rPr>
              <a:t>Which way to turn</a:t>
            </a:r>
          </a:p>
          <a:p xmlns:a="http://schemas.openxmlformats.org/drawingml/2006/main">
            <a:pPr>
              <a:defRPr sz="3150" b="1">
                <a:solidFill>
                  <a:srgbClr val="F0F4F7"/>
                </a:solidFill>
                <a:latin typeface="Helvetica Neue"/>
                <a:ea typeface="Helvetica Neue"/>
                <a:cs typeface="Helvetica Neue"/>
              </a:defRPr>
            </a:pPr>
            <a:r>
              <a:rPr sz="3150" b="1">
                <a:solidFill>
                  <a:srgbClr val="F0F4F7"/>
                </a:solidFill>
                <a:latin typeface="Helvetica Neue"/>
                <a:ea typeface="Helvetica Neue"/>
                <a:cs typeface="Helvetica Neue"/>
              </a:rPr>
              <a:t>remains unknown.</a:t>
            </a:r>
          </a:p>
        </p:txBody>
      </p:sp>
      <p:sp>
        <p:nvSpPr>
          <p:cNvPr id="5" name="">
            <a:extLst xmlns:a="http://schemas.openxmlformats.org/drawingml/2006/main">
              <a:ext uri="{FF2B5EF4-FFF2-40B4-BE49-F238E27FC236}">
                <a16:creationId xmlns:a16="http://schemas.microsoft.com/office/drawing/2014/main" id="{96EBA7E8-D317-48F7-BFDE-B0BF9AFEC7AC}"/>
              </a:ext>
            </a:extLst>
          </p:cNvPr>
          <p:cNvSpPr>
            <a:spLocks xmlns:a="http://schemas.openxmlformats.org/drawingml/2006/main" noGrp="1"/>
          </p:cNvSpPr>
          <p:nvPr/>
        </p:nvSpPr>
        <p:spPr>
          <a:xfrm xmlns:a="http://schemas.openxmlformats.org/drawingml/2006/main">
            <a:off x="6572250" y="4286250"/>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0C4D4"/>
                </a:solidFill>
                <a:latin typeface="Helvetica Neue"/>
                <a:ea typeface="Helvetica Neue"/>
                <a:cs typeface="Helvetica Neue"/>
              </a:defRPr>
            </a:pPr>
            <a:r>
              <a:rPr sz="2175" b="0">
                <a:solidFill>
                  <a:srgbClr val="B0C4D4"/>
                </a:solidFill>
                <a:latin typeface="Helvetica Neue"/>
                <a:ea typeface="Helvetica Neue"/>
                <a:cs typeface="Helvetica Neue"/>
              </a:rPr>
              <a:t>The buddy could be left, right,</a:t>
            </a:r>
          </a:p>
          <a:p xmlns:a="http://schemas.openxmlformats.org/drawingml/2006/main">
            <a:pPr>
              <a:defRPr sz="2175" b="0">
                <a:solidFill>
                  <a:srgbClr val="B0C4D4"/>
                </a:solidFill>
                <a:latin typeface="Helvetica Neue"/>
                <a:ea typeface="Helvetica Neue"/>
                <a:cs typeface="Helvetica Neue"/>
              </a:defRPr>
            </a:pPr>
            <a:r>
              <a:rPr sz="2175" b="0">
                <a:solidFill>
                  <a:srgbClr val="B0C4D4"/>
                </a:solidFill>
                <a:latin typeface="Helvetica Neue"/>
                <a:ea typeface="Helvetica Neue"/>
                <a:cs typeface="Helvetica Neue"/>
              </a:rPr>
              <a:t>above or below the wearer.</a:t>
            </a:r>
          </a:p>
        </p:txBody>
      </p:sp>
      <p:sp>
        <p:nvSpPr>
          <p:cNvPr id="6" name="">
            <a:extLst xmlns:a="http://schemas.openxmlformats.org/drawingml/2006/main">
              <a:ext uri="{FF2B5EF4-FFF2-40B4-BE49-F238E27FC236}">
                <a16:creationId xmlns:a16="http://schemas.microsoft.com/office/drawing/2014/main" id="{92B21708-3229-4D64-A60A-6F76FC91A296}"/>
              </a:ext>
            </a:extLst>
          </p:cNvPr>
          <p:cNvSpPr>
            <a:spLocks xmlns:a="http://schemas.openxmlformats.org/drawingml/2006/main" noGrp="1"/>
          </p:cNvSpPr>
          <p:nvPr/>
        </p:nvSpPr>
        <p:spPr>
          <a:xfrm xmlns:a="http://schemas.openxmlformats.org/drawingml/2006/main">
            <a:off x="752475" y="61626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7"/>
                </a:solidFill>
                <a:latin typeface="Helvetica Neue"/>
                <a:ea typeface="Helvetica Neue"/>
                <a:cs typeface="Helvetica Neue"/>
              </a:defRPr>
            </a:pPr>
            <a:r>
              <a:rPr sz="1950" b="0">
                <a:solidFill>
                  <a:srgbClr val="F0F4F7"/>
                </a:solidFill>
                <a:latin typeface="Helvetica Neue"/>
                <a:ea typeface="Helvetica Neue"/>
                <a:cs typeface="Helvetica Neue"/>
              </a:rPr>
              <a:t>A direction-finding feature would need additional sensing and estimation.</a:t>
            </a:r>
          </a:p>
        </p:txBody>
      </p:sp>
    </p:spTree>
    <p:extLst>
      <p:ext uri="{BB962C8B-B14F-4D97-AF65-F5344CB8AC3E}">
        <p14:creationId xmlns:p14="http://schemas.microsoft.com/office/powerpoint/2010/main" val="11027047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5B8950C-796F-4FD7-BCDF-B5893EBD8050}"/>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Flexible silicone around a rigid module</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792f2644b8da4656"/>
          <a:stretch xmlns:a="http://schemas.openxmlformats.org/drawingml/2006/main"/>
        </p:blipFill>
        <p:spPr>
          <a:xfrm xmlns:a="http://schemas.openxmlformats.org/drawingml/2006/main">
            <a:off x="719070" y="1895475"/>
            <a:ext cx="10753859" cy="4772025"/>
          </a:xfrm>
          <a:prstGeom xmlns:a="http://schemas.openxmlformats.org/drawingml/2006/main" prst="rect">
            <a:avLst/>
          </a:prstGeom>
        </p:spPr>
      </p:pic>
    </p:spTree>
    <p:extLst>
      <p:ext uri="{BB962C8B-B14F-4D97-AF65-F5344CB8AC3E}">
        <p14:creationId xmlns:p14="http://schemas.microsoft.com/office/powerpoint/2010/main" val="17998466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FFA75A-D84C-47B4-9113-01D3CEB524E1}"/>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One reference size,</a:t>
            </a:r>
          </a:p>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with fit still to define</a:t>
            </a:r>
          </a:p>
        </p:txBody>
      </p:sp>
      <p:sp>
        <p:nvSpPr>
          <p:cNvPr id="2" name="">
            <a:extLst xmlns:a="http://schemas.openxmlformats.org/drawingml/2006/main">
              <a:ext uri="{FF2B5EF4-FFF2-40B4-BE49-F238E27FC236}">
                <a16:creationId xmlns:a16="http://schemas.microsoft.com/office/drawing/2014/main" id="{EF49FDB9-59CD-43B4-8330-DE307399874F}"/>
              </a:ext>
            </a:extLst>
          </p:cNvPr>
          <p:cNvSpPr>
            <a:spLocks xmlns:a="http://schemas.openxmlformats.org/drawingml/2006/main" noGrp="1"/>
          </p:cNvSpPr>
          <p:nvPr/>
        </p:nvSpPr>
        <p:spPr>
          <a:xfrm xmlns:a="http://schemas.openxmlformats.org/drawingml/2006/main">
            <a:off x="723900" y="2257425"/>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46782"/>
                </a:solidFill>
                <a:latin typeface="Helvetica Neue"/>
                <a:ea typeface="Helvetica Neue"/>
                <a:cs typeface="Helvetica Neue"/>
              </a:defRPr>
            </a:pPr>
            <a:r>
              <a:rPr sz="5400" b="1">
                <a:solidFill>
                  <a:srgbClr val="246782"/>
                </a:solidFill>
                <a:latin typeface="Helvetica Neue"/>
                <a:ea typeface="Helvetica Neue"/>
                <a:cs typeface="Helvetica Neue"/>
              </a:rPr>
              <a:t>62 mm</a:t>
            </a:r>
          </a:p>
        </p:txBody>
      </p:sp>
      <p:sp>
        <p:nvSpPr>
          <p:cNvPr id="3" name="">
            <a:extLst xmlns:a="http://schemas.openxmlformats.org/drawingml/2006/main">
              <a:ext uri="{FF2B5EF4-FFF2-40B4-BE49-F238E27FC236}">
                <a16:creationId xmlns:a16="http://schemas.microsoft.com/office/drawing/2014/main" id="{93C9180E-2815-4D8B-B5A4-B0F279EE64E4}"/>
              </a:ext>
            </a:extLst>
          </p:cNvPr>
          <p:cNvSpPr>
            <a:spLocks xmlns:a="http://schemas.openxmlformats.org/drawingml/2006/main" noGrp="1"/>
          </p:cNvSpPr>
          <p:nvPr/>
        </p:nvSpPr>
        <p:spPr>
          <a:xfrm xmlns:a="http://schemas.openxmlformats.org/drawingml/2006/main">
            <a:off x="762000" y="33337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96172"/>
                </a:solidFill>
                <a:latin typeface="Helvetica Neue"/>
                <a:ea typeface="Helvetica Neue"/>
                <a:cs typeface="Helvetica Neue"/>
              </a:defRPr>
            </a:pPr>
            <a:r>
              <a:rPr sz="2025" b="0">
                <a:solidFill>
                  <a:srgbClr val="496172"/>
                </a:solidFill>
                <a:latin typeface="Helvetica Neue"/>
                <a:ea typeface="Helvetica Neue"/>
                <a:cs typeface="Helvetica Neue"/>
              </a:rPr>
              <a:t>Relaxed inner diameter</a:t>
            </a:r>
          </a:p>
        </p:txBody>
      </p:sp>
      <p:sp>
        <p:nvSpPr>
          <p:cNvPr id="4" name="">
            <a:extLst xmlns:a="http://schemas.openxmlformats.org/drawingml/2006/main">
              <a:ext uri="{FF2B5EF4-FFF2-40B4-BE49-F238E27FC236}">
                <a16:creationId xmlns:a16="http://schemas.microsoft.com/office/drawing/2014/main" id="{340CB158-3EBB-4F11-A6F4-CB048FD3A172}"/>
              </a:ext>
            </a:extLst>
          </p:cNvPr>
          <p:cNvSpPr>
            <a:spLocks xmlns:a="http://schemas.openxmlformats.org/drawingml/2006/main" noGrp="1"/>
          </p:cNvSpPr>
          <p:nvPr/>
        </p:nvSpPr>
        <p:spPr>
          <a:xfrm xmlns:a="http://schemas.openxmlformats.org/drawingml/2006/main">
            <a:off x="6686550" y="22574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46782"/>
                </a:solidFill>
                <a:latin typeface="Helvetica Neue"/>
                <a:ea typeface="Helvetica Neue"/>
                <a:cs typeface="Helvetica Neue"/>
              </a:defRPr>
            </a:pPr>
            <a:r>
              <a:rPr sz="5400" b="1">
                <a:solidFill>
                  <a:srgbClr val="246782"/>
                </a:solidFill>
                <a:latin typeface="Helvetica Neue"/>
                <a:ea typeface="Helvetica Neue"/>
                <a:cs typeface="Helvetica Neue"/>
              </a:rPr>
              <a:t>≈ 195 mm</a:t>
            </a:r>
          </a:p>
        </p:txBody>
      </p:sp>
      <p:sp>
        <p:nvSpPr>
          <p:cNvPr id="5" name="">
            <a:extLst xmlns:a="http://schemas.openxmlformats.org/drawingml/2006/main">
              <a:ext uri="{FF2B5EF4-FFF2-40B4-BE49-F238E27FC236}">
                <a16:creationId xmlns:a16="http://schemas.microsoft.com/office/drawing/2014/main" id="{F1A78D60-C169-4132-833A-D2F5CF2EC5D6}"/>
              </a:ext>
            </a:extLst>
          </p:cNvPr>
          <p:cNvSpPr>
            <a:spLocks xmlns:a="http://schemas.openxmlformats.org/drawingml/2006/main" noGrp="1"/>
          </p:cNvSpPr>
          <p:nvPr/>
        </p:nvSpPr>
        <p:spPr>
          <a:xfrm xmlns:a="http://schemas.openxmlformats.org/drawingml/2006/main">
            <a:off x="6724650" y="33337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96172"/>
                </a:solidFill>
                <a:latin typeface="Helvetica Neue"/>
                <a:ea typeface="Helvetica Neue"/>
                <a:cs typeface="Helvetica Neue"/>
              </a:defRPr>
            </a:pPr>
            <a:r>
              <a:rPr sz="2025" b="0">
                <a:solidFill>
                  <a:srgbClr val="496172"/>
                </a:solidFill>
                <a:latin typeface="Helvetica Neue"/>
                <a:ea typeface="Helvetica Neue"/>
                <a:cs typeface="Helvetica Neue"/>
              </a:rPr>
              <a:t>Derived inner circumference</a:t>
            </a:r>
          </a:p>
        </p:txBody>
      </p:sp>
      <p:sp>
        <p:nvSpPr>
          <p:cNvPr id="6" name="">
            <a:extLst xmlns:a="http://schemas.openxmlformats.org/drawingml/2006/main">
              <a:ext uri="{FF2B5EF4-FFF2-40B4-BE49-F238E27FC236}">
                <a16:creationId xmlns:a16="http://schemas.microsoft.com/office/drawing/2014/main" id="{E0F0AB01-DAC4-43CE-85E2-9B01A9FA249F}"/>
              </a:ext>
            </a:extLst>
          </p:cNvPr>
          <p:cNvSpPr>
            <a:spLocks xmlns:a="http://schemas.openxmlformats.org/drawingml/2006/main" noGrp="1"/>
          </p:cNvSpPr>
          <p:nvPr/>
        </p:nvSpPr>
        <p:spPr>
          <a:xfrm xmlns:a="http://schemas.openxmlformats.org/drawingml/2006/main">
            <a:off x="752475" y="42672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635"/>
                </a:solidFill>
                <a:latin typeface="Helvetica Neue"/>
                <a:ea typeface="Helvetica Neue"/>
                <a:cs typeface="Helvetica Neue"/>
              </a:defRPr>
            </a:pPr>
            <a:r>
              <a:rPr sz="2850" b="1">
                <a:solidFill>
                  <a:srgbClr val="142635"/>
                </a:solidFill>
                <a:latin typeface="Helvetica Neue"/>
                <a:ea typeface="Helvetica Neue"/>
                <a:cs typeface="Helvetica Neue"/>
              </a:rPr>
              <a:t>Hand passage and worn fit are separate requirements.</a:t>
            </a:r>
          </a:p>
        </p:txBody>
      </p:sp>
      <p:sp>
        <p:nvSpPr>
          <p:cNvPr id="7" name="">
            <a:extLst xmlns:a="http://schemas.openxmlformats.org/drawingml/2006/main">
              <a:ext uri="{FF2B5EF4-FFF2-40B4-BE49-F238E27FC236}">
                <a16:creationId xmlns:a16="http://schemas.microsoft.com/office/drawing/2014/main" id="{068077BC-E58E-4205-90D3-F1739D75A07C}"/>
              </a:ext>
            </a:extLst>
          </p:cNvPr>
          <p:cNvSpPr>
            <a:spLocks xmlns:a="http://schemas.openxmlformats.org/drawingml/2006/main" noGrp="1"/>
          </p:cNvSpPr>
          <p:nvPr/>
        </p:nvSpPr>
        <p:spPr>
          <a:xfrm xmlns:a="http://schemas.openxmlformats.org/drawingml/2006/main">
            <a:off x="762000" y="52292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Sizing must account for the hand, wrist and suit cuff,</a:t>
            </a:r>
          </a:p>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while maintaining comfort and module retention.</a:t>
            </a:r>
          </a:p>
        </p:txBody>
      </p:sp>
      <p:sp>
        <p:nvSpPr>
          <p:cNvPr id="8" name="">
            <a:extLst xmlns:a="http://schemas.openxmlformats.org/drawingml/2006/main">
              <a:ext uri="{FF2B5EF4-FFF2-40B4-BE49-F238E27FC236}">
                <a16:creationId xmlns:a16="http://schemas.microsoft.com/office/drawing/2014/main" id="{859F260C-2F75-4D74-8192-A1695E03E853}"/>
              </a:ext>
            </a:extLst>
          </p:cNvPr>
          <p:cNvSpPr>
            <a:spLocks xmlns:a="http://schemas.openxmlformats.org/drawingml/2006/main" noGrp="1"/>
          </p:cNvSpPr>
          <p:nvPr/>
        </p:nvSpPr>
        <p:spPr>
          <a:xfrm xmlns:a="http://schemas.openxmlformats.org/drawingml/2006/main">
            <a:off x="762000" y="6391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96172"/>
                </a:solidFill>
                <a:latin typeface="Helvetica Neue"/>
                <a:ea typeface="Helvetica Neue"/>
                <a:cs typeface="Helvetica Neue"/>
              </a:defRPr>
            </a:pPr>
            <a:r>
              <a:rPr sz="1425" b="0">
                <a:solidFill>
                  <a:srgbClr val="496172"/>
                </a:solidFill>
                <a:latin typeface="Helvetica Neue"/>
                <a:ea typeface="Helvetica Neue"/>
                <a:cs typeface="Helvetica Neue"/>
              </a:rPr>
              <a:t>CAD reference: 24 mm band width, 4 mm radial wall. No supported size range or maximum extension.</a:t>
            </a:r>
          </a:p>
        </p:txBody>
      </p:sp>
    </p:spTree>
    <p:extLst>
      <p:ext uri="{BB962C8B-B14F-4D97-AF65-F5344CB8AC3E}">
        <p14:creationId xmlns:p14="http://schemas.microsoft.com/office/powerpoint/2010/main" val="7726343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4B20AA-765B-4911-B6E9-8DFC4C6A549F}"/>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The display and button share a removable module</a:t>
            </a:r>
          </a:p>
        </p:txBody>
      </p:sp>
      <p:sp>
        <p:nvSpPr>
          <p:cNvPr id="2" name="">
            <a:extLst xmlns:a="http://schemas.openxmlformats.org/drawingml/2006/main">
              <a:ext uri="{FF2B5EF4-FFF2-40B4-BE49-F238E27FC236}">
                <a16:creationId xmlns:a16="http://schemas.microsoft.com/office/drawing/2014/main" id="{FD8657A9-F665-4599-BDB5-AFA947D76B11}"/>
              </a:ext>
            </a:extLst>
          </p:cNvPr>
          <p:cNvSpPr>
            <a:spLocks xmlns:a="http://schemas.openxmlformats.org/drawingml/2006/main" noGrp="1"/>
          </p:cNvSpPr>
          <p:nvPr/>
        </p:nvSpPr>
        <p:spPr>
          <a:xfrm xmlns:a="http://schemas.openxmlformats.org/drawingml/2006/main">
            <a:off x="714375" y="2505075"/>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6782"/>
                </a:solidFill>
                <a:latin typeface="Helvetica Neue"/>
                <a:ea typeface="Helvetica Neue"/>
                <a:cs typeface="Helvetica Neue"/>
              </a:defRPr>
            </a:pPr>
            <a:r>
              <a:rPr sz="3150" b="1">
                <a:solidFill>
                  <a:srgbClr val="246782"/>
                </a:solidFill>
                <a:latin typeface="Helvetica Neue"/>
                <a:ea typeface="Helvetica Neue"/>
                <a:cs typeface="Helvetica Neue"/>
              </a:rPr>
              <a:t>44 × 32 × 17.5 mm</a:t>
            </a:r>
          </a:p>
        </p:txBody>
      </p:sp>
      <p:sp>
        <p:nvSpPr>
          <p:cNvPr id="3" name="">
            <a:extLst xmlns:a="http://schemas.openxmlformats.org/drawingml/2006/main">
              <a:ext uri="{FF2B5EF4-FFF2-40B4-BE49-F238E27FC236}">
                <a16:creationId xmlns:a16="http://schemas.microsoft.com/office/drawing/2014/main" id="{24450FF1-AD9F-4274-97CE-44BD54EC167B}"/>
              </a:ext>
            </a:extLst>
          </p:cNvPr>
          <p:cNvSpPr>
            <a:spLocks xmlns:a="http://schemas.openxmlformats.org/drawingml/2006/main" noGrp="1"/>
          </p:cNvSpPr>
          <p:nvPr/>
        </p:nvSpPr>
        <p:spPr>
          <a:xfrm xmlns:a="http://schemas.openxmlformats.org/drawingml/2006/main">
            <a:off x="752475" y="3343275"/>
            <a:ext cx="5791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96172"/>
                </a:solidFill>
                <a:latin typeface="Helvetica Neue"/>
                <a:ea typeface="Helvetica Neue"/>
                <a:cs typeface="Helvetica Neue"/>
              </a:defRPr>
            </a:pPr>
            <a:r>
              <a:rPr sz="2025" b="0">
                <a:solidFill>
                  <a:srgbClr val="496172"/>
                </a:solidFill>
                <a:latin typeface="Helvetica Neue"/>
                <a:ea typeface="Helvetica Neue"/>
                <a:cs typeface="Helvetica Neue"/>
              </a:rPr>
              <a:t>Nominal housing dimensions</a:t>
            </a:r>
          </a:p>
        </p:txBody>
      </p:sp>
      <p:sp>
        <p:nvSpPr>
          <p:cNvPr id="4" name="">
            <a:extLst xmlns:a="http://schemas.openxmlformats.org/drawingml/2006/main">
              <a:ext uri="{FF2B5EF4-FFF2-40B4-BE49-F238E27FC236}">
                <a16:creationId xmlns:a16="http://schemas.microsoft.com/office/drawing/2014/main" id="{1A3DC0DC-BE9E-4961-9D75-AE8CE96103A9}"/>
              </a:ext>
            </a:extLst>
          </p:cNvPr>
          <p:cNvSpPr>
            <a:spLocks xmlns:a="http://schemas.openxmlformats.org/drawingml/2006/main" noGrp="1"/>
          </p:cNvSpPr>
          <p:nvPr/>
        </p:nvSpPr>
        <p:spPr>
          <a:xfrm xmlns:a="http://schemas.openxmlformats.org/drawingml/2006/main">
            <a:off x="752475" y="4143375"/>
            <a:ext cx="5857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Inductive charging works through</a:t>
            </a:r>
          </a:p>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the cap in the proposed design.</a:t>
            </a:r>
          </a:p>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There is no charging port</a:t>
            </a:r>
          </a:p>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on the band.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dcce48aeec54d99"/>
          <a:stretch xmlns:a="http://schemas.openxmlformats.org/drawingml/2006/main"/>
        </p:blipFill>
        <p:spPr>
          <a:xfrm xmlns:a="http://schemas.openxmlformats.org/drawingml/2006/main">
            <a:off x="7496175" y="2324100"/>
            <a:ext cx="3333750" cy="3333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ADD649-3854-4CE1-B699-AF6970A167AE}"/>
              </a:ext>
            </a:extLst>
          </p:cNvPr>
          <p:cNvSpPr>
            <a:spLocks xmlns:a="http://schemas.openxmlformats.org/drawingml/2006/main" noGrp="1"/>
          </p:cNvSpPr>
          <p:nvPr/>
        </p:nvSpPr>
        <p:spPr>
          <a:xfrm xmlns:a="http://schemas.openxmlformats.org/drawingml/2006/main">
            <a:off x="752475" y="632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96172"/>
                </a:solidFill>
                <a:latin typeface="Helvetica Neue"/>
                <a:ea typeface="Helvetica Neue"/>
                <a:cs typeface="Helvetica Neue"/>
              </a:defRPr>
            </a:pPr>
            <a:r>
              <a:rPr sz="1425" b="0">
                <a:solidFill>
                  <a:srgbClr val="496172"/>
                </a:solidFill>
                <a:latin typeface="Helvetica Neue"/>
                <a:ea typeface="Helvetica Neue"/>
                <a:cs typeface="Helvetica Neue"/>
              </a:rPr>
              <a:t>Concept geometry. Window sealing, electrical integration and physical performance remain unverified.</a:t>
            </a:r>
          </a:p>
        </p:txBody>
      </p:sp>
    </p:spTree>
    <p:extLst>
      <p:ext uri="{BB962C8B-B14F-4D97-AF65-F5344CB8AC3E}">
        <p14:creationId xmlns:p14="http://schemas.microsoft.com/office/powerpoint/2010/main" val="1159345408"/>
      </p:ext>
    </p:extLst>
  </p:cSld>
</p:sld>
</file>

<file path=ppt/slides/slide10.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9409AD-730A-440A-ACA0-64B4792CD135}"/>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An acoustic exchange</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estimates separation</a:t>
            </a:r>
          </a:p>
        </p:txBody>
      </p:sp>
      <p:sp>
        <p:nvSpPr>
          <p:cNvPr id="2" name="">
            <a:extLst xmlns:a="http://schemas.openxmlformats.org/drawingml/2006/main">
              <a:ext uri="{FF2B5EF4-FFF2-40B4-BE49-F238E27FC236}">
                <a16:creationId xmlns:a16="http://schemas.microsoft.com/office/drawing/2014/main" id="{AFC0F5F2-1593-4BC1-B4D1-A07CE13F4950}"/>
              </a:ext>
            </a:extLst>
          </p:cNvPr>
          <p:cNvSpPr>
            <a:spLocks xmlns:a="http://schemas.openxmlformats.org/drawingml/2006/main" noGrp="1"/>
          </p:cNvSpPr>
          <p:nvPr/>
        </p:nvSpPr>
        <p:spPr>
          <a:xfrm xmlns:a="http://schemas.openxmlformats.org/drawingml/2006/main">
            <a:off x="723900" y="2324100"/>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9BD8E6"/>
                </a:solidFill>
                <a:latin typeface="Helvetica Neue"/>
                <a:ea typeface="Helvetica Neue"/>
                <a:cs typeface="Helvetica Neue"/>
              </a:defRPr>
            </a:pPr>
            <a:r>
              <a:rPr sz="5475" b="1">
                <a:solidFill>
                  <a:srgbClr val="9BD8E6"/>
                </a:solidFill>
                <a:latin typeface="Helvetica Neue"/>
                <a:ea typeface="Helvetica Neue"/>
                <a:cs typeface="Helvetica Neue"/>
              </a:rPr>
              <a:t>~65 kHz</a:t>
            </a:r>
          </a:p>
        </p:txBody>
      </p:sp>
      <p:sp>
        <p:nvSpPr>
          <p:cNvPr id="3" name="">
            <a:extLst xmlns:a="http://schemas.openxmlformats.org/drawingml/2006/main">
              <a:ext uri="{FF2B5EF4-FFF2-40B4-BE49-F238E27FC236}">
                <a16:creationId xmlns:a16="http://schemas.microsoft.com/office/drawing/2014/main" id="{B9C632ED-F9C9-4E44-9EAA-D5C69CC68FE9}"/>
              </a:ext>
            </a:extLst>
          </p:cNvPr>
          <p:cNvSpPr>
            <a:spLocks xmlns:a="http://schemas.openxmlformats.org/drawingml/2006/main" noGrp="1"/>
          </p:cNvSpPr>
          <p:nvPr/>
        </p:nvSpPr>
        <p:spPr>
          <a:xfrm xmlns:a="http://schemas.openxmlformats.org/drawingml/2006/main">
            <a:off x="762000" y="34480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0C4D4"/>
                </a:solidFill>
                <a:latin typeface="Helvetica Neue"/>
                <a:ea typeface="Helvetica Neue"/>
                <a:cs typeface="Helvetica Neue"/>
              </a:defRPr>
            </a:pPr>
            <a:r>
              <a:rPr sz="2100" b="0">
                <a:solidFill>
                  <a:srgbClr val="B0C4D4"/>
                </a:solidFill>
                <a:latin typeface="Helvetica Neue"/>
                <a:ea typeface="Helvetica Neue"/>
                <a:cs typeface="Helvetica Neue"/>
              </a:rPr>
              <a:t>Proposed ultrasonic frequency</a:t>
            </a:r>
          </a:p>
        </p:txBody>
      </p:sp>
      <p:sp>
        <p:nvSpPr>
          <p:cNvPr id="4" name="">
            <a:extLst xmlns:a="http://schemas.openxmlformats.org/drawingml/2006/main">
              <a:ext uri="{FF2B5EF4-FFF2-40B4-BE49-F238E27FC236}">
                <a16:creationId xmlns:a16="http://schemas.microsoft.com/office/drawing/2014/main" id="{45C5C79F-55CB-4DBB-BE22-E18BE2436237}"/>
              </a:ext>
            </a:extLst>
          </p:cNvPr>
          <p:cNvSpPr>
            <a:spLocks xmlns:a="http://schemas.openxmlformats.org/drawingml/2006/main" noGrp="1"/>
          </p:cNvSpPr>
          <p:nvPr/>
        </p:nvSpPr>
        <p:spPr>
          <a:xfrm xmlns:a="http://schemas.openxmlformats.org/drawingml/2006/main">
            <a:off x="6981825" y="2324100"/>
            <a:ext cx="457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9BD8E6"/>
                </a:solidFill>
                <a:latin typeface="Helvetica Neue"/>
                <a:ea typeface="Helvetica Neue"/>
                <a:cs typeface="Helvetica Neue"/>
              </a:defRPr>
            </a:pPr>
            <a:r>
              <a:rPr sz="5475" b="1">
                <a:solidFill>
                  <a:srgbClr val="9BD8E6"/>
                </a:solidFill>
                <a:latin typeface="Helvetica Neue"/>
                <a:ea typeface="Helvetica Neue"/>
                <a:cs typeface="Helvetica Neue"/>
              </a:rPr>
              <a:t>20 m</a:t>
            </a:r>
          </a:p>
        </p:txBody>
      </p:sp>
      <p:sp>
        <p:nvSpPr>
          <p:cNvPr id="5" name="">
            <a:extLst xmlns:a="http://schemas.openxmlformats.org/drawingml/2006/main">
              <a:ext uri="{FF2B5EF4-FFF2-40B4-BE49-F238E27FC236}">
                <a16:creationId xmlns:a16="http://schemas.microsoft.com/office/drawing/2014/main" id="{B34272FE-3E58-40CD-9F0A-CB47ADE99A9B}"/>
              </a:ext>
            </a:extLst>
          </p:cNvPr>
          <p:cNvSpPr>
            <a:spLocks xmlns:a="http://schemas.openxmlformats.org/drawingml/2006/main" noGrp="1"/>
          </p:cNvSpPr>
          <p:nvPr/>
        </p:nvSpPr>
        <p:spPr>
          <a:xfrm xmlns:a="http://schemas.openxmlformats.org/drawingml/2006/main">
            <a:off x="7019925" y="34480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0C4D4"/>
                </a:solidFill>
                <a:latin typeface="Helvetica Neue"/>
                <a:ea typeface="Helvetica Neue"/>
                <a:cs typeface="Helvetica Neue"/>
              </a:defRPr>
            </a:pPr>
            <a:r>
              <a:rPr sz="2100" b="0">
                <a:solidFill>
                  <a:srgbClr val="B0C4D4"/>
                </a:solidFill>
                <a:latin typeface="Helvetica Neue"/>
                <a:ea typeface="Helvetica Neue"/>
                <a:cs typeface="Helvetica Neue"/>
              </a:rPr>
              <a:t>Ranging target</a:t>
            </a:r>
          </a:p>
        </p:txBody>
      </p:sp>
      <p:sp>
        <p:nvSpPr>
          <p:cNvPr id="6" name="">
            <a:extLst xmlns:a="http://schemas.openxmlformats.org/drawingml/2006/main">
              <a:ext uri="{FF2B5EF4-FFF2-40B4-BE49-F238E27FC236}">
                <a16:creationId xmlns:a16="http://schemas.microsoft.com/office/drawing/2014/main" id="{D01B97DB-7F58-484B-BDD2-7221B3CA6752}"/>
              </a:ext>
            </a:extLst>
          </p:cNvPr>
          <p:cNvSpPr>
            <a:spLocks xmlns:a="http://schemas.openxmlformats.org/drawingml/2006/main" noGrp="1"/>
          </p:cNvSpPr>
          <p:nvPr/>
        </p:nvSpPr>
        <p:spPr>
          <a:xfrm xmlns:a="http://schemas.openxmlformats.org/drawingml/2006/main">
            <a:off x="752475" y="464820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Both bands participate in the exchange.</a:t>
            </a:r>
          </a:p>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Travel time supplies an estimate of separation.</a:t>
            </a:r>
          </a:p>
        </p:txBody>
      </p:sp>
      <p:sp>
        <p:nvSpPr>
          <p:cNvPr id="7" name="">
            <a:extLst xmlns:a="http://schemas.openxmlformats.org/drawingml/2006/main">
              <a:ext uri="{FF2B5EF4-FFF2-40B4-BE49-F238E27FC236}">
                <a16:creationId xmlns:a16="http://schemas.microsoft.com/office/drawing/2014/main" id="{1F211589-2B07-46FD-8356-14002D1182DD}"/>
              </a:ext>
            </a:extLst>
          </p:cNvPr>
          <p:cNvSpPr>
            <a:spLocks xmlns:a="http://schemas.openxmlformats.org/drawingml/2006/main" noGrp="1"/>
          </p:cNvSpPr>
          <p:nvPr/>
        </p:nvSpPr>
        <p:spPr>
          <a:xfrm xmlns:a="http://schemas.openxmlformats.org/drawingml/2006/main">
            <a:off x="752475" y="62388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0C4D4"/>
                </a:solidFill>
                <a:latin typeface="Helvetica Neue"/>
                <a:ea typeface="Helvetica Neue"/>
                <a:cs typeface="Helvetica Neue"/>
              </a:defRPr>
            </a:pPr>
            <a:r>
              <a:rPr sz="1650" b="0">
                <a:solidFill>
                  <a:srgbClr val="B0C4D4"/>
                </a:solidFill>
                <a:latin typeface="Helvetica Neue"/>
                <a:ea typeface="Helvetica Neue"/>
                <a:cs typeface="Helvetica Neue"/>
              </a:rPr>
              <a:t>Range, accuracy, depth performance and display-variant runtime have not been demonstrated.</a:t>
            </a:r>
          </a:p>
        </p:txBody>
      </p:sp>
    </p:spTree>
    <p:extLst>
      <p:ext uri="{BB962C8B-B14F-4D97-AF65-F5344CB8AC3E}">
        <p14:creationId xmlns:p14="http://schemas.microsoft.com/office/powerpoint/2010/main" val="595175312"/>
      </p:ext>
    </p:extLst>
  </p:cSld>
</p:sld>
</file>

<file path=ppt/slides/slide1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2B231F-8EF2-487D-925D-F8F6CD93F931}"/>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Designed around the pair</a:t>
            </a:r>
          </a:p>
        </p:txBody>
      </p:sp>
      <p:sp>
        <p:nvSpPr>
          <p:cNvPr id="2" name="">
            <a:extLst xmlns:a="http://schemas.openxmlformats.org/drawingml/2006/main">
              <a:ext uri="{FF2B5EF4-FFF2-40B4-BE49-F238E27FC236}">
                <a16:creationId xmlns:a16="http://schemas.microsoft.com/office/drawing/2014/main" id="{5AD75C2D-7E4B-45D4-B331-AA5354F76682}"/>
              </a:ext>
            </a:extLst>
          </p:cNvPr>
          <p:cNvSpPr>
            <a:spLocks xmlns:a="http://schemas.openxmlformats.org/drawingml/2006/main" noGrp="1"/>
          </p:cNvSpPr>
          <p:nvPr/>
        </p:nvSpPr>
        <p:spPr>
          <a:xfrm xmlns:a="http://schemas.openxmlformats.org/drawingml/2006/main">
            <a:off x="733425" y="22288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9BD8E6"/>
                </a:solidFill>
                <a:latin typeface="Helvetica Neue"/>
                <a:ea typeface="Helvetica Neue"/>
                <a:cs typeface="Helvetica Neue"/>
              </a:defRPr>
            </a:pPr>
            <a:r>
              <a:rPr sz="3375" b="1">
                <a:solidFill>
                  <a:srgbClr val="9BD8E6"/>
                </a:solidFill>
                <a:latin typeface="Helvetica Neue"/>
                <a:ea typeface="Helvetica Neue"/>
                <a:cs typeface="Helvetica Neue"/>
              </a:rPr>
              <a:t>Two bands with a shared inductive dock</a:t>
            </a:r>
          </a:p>
        </p:txBody>
      </p:sp>
      <p:sp>
        <p:nvSpPr>
          <p:cNvPr id="3" name="">
            <a:extLst xmlns:a="http://schemas.openxmlformats.org/drawingml/2006/main">
              <a:ext uri="{FF2B5EF4-FFF2-40B4-BE49-F238E27FC236}">
                <a16:creationId xmlns:a16="http://schemas.microsoft.com/office/drawing/2014/main" id="{3B98803C-FA1E-42FF-9325-3C381B14A5DA}"/>
              </a:ext>
            </a:extLst>
          </p:cNvPr>
          <p:cNvSpPr>
            <a:spLocks xmlns:a="http://schemas.openxmlformats.org/drawingml/2006/main" noGrp="1"/>
          </p:cNvSpPr>
          <p:nvPr/>
        </p:nvSpPr>
        <p:spPr>
          <a:xfrm xmlns:a="http://schemas.openxmlformats.org/drawingml/2006/main">
            <a:off x="762000" y="3390900"/>
            <a:ext cx="10572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Recreational buddy pairs are the initial audience. Instructors</a:t>
            </a:r>
          </a:p>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and dive shops are potential places to introduce the concept.</a:t>
            </a:r>
          </a:p>
        </p:txBody>
      </p:sp>
      <p:sp>
        <p:nvSpPr>
          <p:cNvPr id="4" name="">
            <a:extLst xmlns:a="http://schemas.openxmlformats.org/drawingml/2006/main">
              <a:ext uri="{FF2B5EF4-FFF2-40B4-BE49-F238E27FC236}">
                <a16:creationId xmlns:a16="http://schemas.microsoft.com/office/drawing/2014/main" id="{9C8493F7-4809-4CFF-BB27-A986C1E31559}"/>
              </a:ext>
            </a:extLst>
          </p:cNvPr>
          <p:cNvSpPr>
            <a:spLocks xmlns:a="http://schemas.openxmlformats.org/drawingml/2006/main" noGrp="1"/>
          </p:cNvSpPr>
          <p:nvPr/>
        </p:nvSpPr>
        <p:spPr>
          <a:xfrm xmlns:a="http://schemas.openxmlformats.org/drawingml/2006/main">
            <a:off x="762000" y="5086350"/>
            <a:ext cx="1057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0C4D4"/>
                </a:solidFill>
                <a:latin typeface="Helvetica Neue"/>
                <a:ea typeface="Helvetica Neue"/>
                <a:cs typeface="Helvetica Neue"/>
              </a:defRPr>
            </a:pPr>
            <a:r>
              <a:rPr sz="2325" b="0">
                <a:solidFill>
                  <a:srgbClr val="B0C4D4"/>
                </a:solidFill>
                <a:latin typeface="Helvetica Neue"/>
                <a:ea typeface="Helvetica Neue"/>
                <a:cs typeface="Helvetica Neue"/>
              </a:rPr>
              <a:t>The commercial question is whether the paired call and visible</a:t>
            </a:r>
          </a:p>
          <a:p xmlns:a="http://schemas.openxmlformats.org/drawingml/2006/main">
            <a:pPr>
              <a:defRPr sz="2325" b="0">
                <a:solidFill>
                  <a:srgbClr val="B0C4D4"/>
                </a:solidFill>
                <a:latin typeface="Helvetica Neue"/>
                <a:ea typeface="Helvetica Neue"/>
                <a:cs typeface="Helvetica Neue"/>
              </a:defRPr>
            </a:pPr>
            <a:r>
              <a:rPr sz="2325" b="0">
                <a:solidFill>
                  <a:srgbClr val="B0C4D4"/>
                </a:solidFill>
                <a:latin typeface="Helvetica Neue"/>
                <a:ea typeface="Helvetica Neue"/>
                <a:cs typeface="Helvetica Neue"/>
              </a:rPr>
              <a:t>separation information earn space on both divers’ wrists.</a:t>
            </a:r>
          </a:p>
        </p:txBody>
      </p:sp>
      <p:sp>
        <p:nvSpPr>
          <p:cNvPr id="5" name="">
            <a:extLst xmlns:a="http://schemas.openxmlformats.org/drawingml/2006/main">
              <a:ext uri="{FF2B5EF4-FFF2-40B4-BE49-F238E27FC236}">
                <a16:creationId xmlns:a16="http://schemas.microsoft.com/office/drawing/2014/main" id="{3BBECBA3-7D22-4BEE-8704-5093E968F45A}"/>
              </a:ext>
            </a:extLst>
          </p:cNvPr>
          <p:cNvSpPr>
            <a:spLocks xmlns:a="http://schemas.openxmlformats.org/drawingml/2006/main" noGrp="1"/>
          </p:cNvSpPr>
          <p:nvPr/>
        </p:nvSpPr>
        <p:spPr>
          <a:xfrm xmlns:a="http://schemas.openxmlformats.org/drawingml/2006/main">
            <a:off x="762000" y="6362700"/>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0C4D4"/>
                </a:solidFill>
                <a:latin typeface="Helvetica Neue"/>
                <a:ea typeface="Helvetica Neue"/>
                <a:cs typeface="Helvetica Neue"/>
              </a:defRPr>
            </a:pPr>
            <a:r>
              <a:rPr sz="1575" b="0">
                <a:solidFill>
                  <a:srgbClr val="B0C4D4"/>
                </a:solidFill>
                <a:latin typeface="Helvetica Neue"/>
                <a:ea typeface="Helvetica Neue"/>
                <a:cs typeface="Helvetica Neue"/>
              </a:rPr>
              <a:t>Customer demand and the display variant’s cost and retail target remain unestablished.</a:t>
            </a:r>
          </a:p>
        </p:txBody>
      </p:sp>
    </p:spTree>
    <p:extLst>
      <p:ext uri="{BB962C8B-B14F-4D97-AF65-F5344CB8AC3E}">
        <p14:creationId xmlns:p14="http://schemas.microsoft.com/office/powerpoint/2010/main" val="1285461333"/>
      </p:ext>
    </p:extLst>
  </p:cSld>
</p:sld>
</file>

<file path=ppt/slides/slide1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A8CA05-46E9-405F-8522-08D1C9D96E35}"/>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Buddy communication</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starts with attention</a:t>
            </a:r>
          </a:p>
        </p:txBody>
      </p:sp>
      <p:sp>
        <p:nvSpPr>
          <p:cNvPr id="2" name="">
            <a:extLst xmlns:a="http://schemas.openxmlformats.org/drawingml/2006/main">
              <a:ext uri="{FF2B5EF4-FFF2-40B4-BE49-F238E27FC236}">
                <a16:creationId xmlns:a16="http://schemas.microsoft.com/office/drawing/2014/main" id="{E7EEC04A-0A56-4C1D-BC0C-AC2EE8CC0963}"/>
              </a:ext>
            </a:extLst>
          </p:cNvPr>
          <p:cNvSpPr>
            <a:spLocks xmlns:a="http://schemas.openxmlformats.org/drawingml/2006/main" noGrp="1"/>
          </p:cNvSpPr>
          <p:nvPr/>
        </p:nvSpPr>
        <p:spPr>
          <a:xfrm xmlns:a="http://schemas.openxmlformats.org/drawingml/2006/main">
            <a:off x="742950" y="2581275"/>
            <a:ext cx="7191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9BD8E6"/>
                </a:solidFill>
                <a:latin typeface="Helvetica Neue"/>
                <a:ea typeface="Helvetica Neue"/>
                <a:cs typeface="Helvetica Neue"/>
              </a:defRPr>
            </a:pPr>
            <a:r>
              <a:rPr sz="2925" b="1">
                <a:solidFill>
                  <a:srgbClr val="9BD8E6"/>
                </a:solidFill>
                <a:latin typeface="Helvetica Neue"/>
                <a:ea typeface="Helvetica Neue"/>
                <a:cs typeface="Helvetica Neue"/>
              </a:rPr>
              <a:t>DBA proposes a paired tactile call</a:t>
            </a:r>
          </a:p>
          <a:p xmlns:a="http://schemas.openxmlformats.org/drawingml/2006/main">
            <a:pPr>
              <a:defRPr sz="2925" b="1">
                <a:solidFill>
                  <a:srgbClr val="9BD8E6"/>
                </a:solidFill>
                <a:latin typeface="Helvetica Neue"/>
                <a:ea typeface="Helvetica Neue"/>
                <a:cs typeface="Helvetica Neue"/>
              </a:defRPr>
            </a:pPr>
            <a:r>
              <a:rPr sz="2925" b="1">
                <a:solidFill>
                  <a:srgbClr val="9BD8E6"/>
                </a:solidFill>
                <a:latin typeface="Helvetica Neue"/>
                <a:ea typeface="Helvetica Neue"/>
                <a:cs typeface="Helvetica Neue"/>
              </a:rPr>
              <a:t>with a clear response on the wrist.</a:t>
            </a:r>
          </a:p>
        </p:txBody>
      </p:sp>
      <p:sp>
        <p:nvSpPr>
          <p:cNvPr id="3" name="">
            <a:extLst xmlns:a="http://schemas.openxmlformats.org/drawingml/2006/main">
              <a:ext uri="{FF2B5EF4-FFF2-40B4-BE49-F238E27FC236}">
                <a16:creationId xmlns:a16="http://schemas.microsoft.com/office/drawing/2014/main" id="{3D05C060-1FAE-4C7C-AB4C-D907C36A3D08}"/>
              </a:ext>
            </a:extLst>
          </p:cNvPr>
          <p:cNvSpPr>
            <a:spLocks xmlns:a="http://schemas.openxmlformats.org/drawingml/2006/main" noGrp="1"/>
          </p:cNvSpPr>
          <p:nvPr/>
        </p:nvSpPr>
        <p:spPr>
          <a:xfrm xmlns:a="http://schemas.openxmlformats.org/drawingml/2006/main">
            <a:off x="771525" y="4191000"/>
            <a:ext cx="68294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During ranging, the display adds</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available separation information</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to that exchange.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1cf6ceffe064e95"/>
          <a:stretch xmlns:a="http://schemas.openxmlformats.org/drawingml/2006/main"/>
        </p:blipFill>
        <p:spPr>
          <a:xfrm xmlns:a="http://schemas.openxmlformats.org/drawingml/2006/main">
            <a:off x="8201025" y="2596753"/>
            <a:ext cx="3143250" cy="275034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86F969-8F2C-4041-AFDC-1DBDD1C4F876}"/>
              </a:ext>
            </a:extLst>
          </p:cNvPr>
          <p:cNvSpPr>
            <a:spLocks xmlns:a="http://schemas.openxmlformats.org/drawingml/2006/main" noGrp="1"/>
          </p:cNvSpPr>
          <p:nvPr/>
        </p:nvSpPr>
        <p:spPr>
          <a:xfrm xmlns:a="http://schemas.openxmlformats.org/drawingml/2006/main">
            <a:off x="771525" y="62388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0C4D4"/>
                </a:solidFill>
                <a:latin typeface="Helvetica Neue"/>
                <a:ea typeface="Helvetica Neue"/>
                <a:cs typeface="Helvetica Neue"/>
              </a:defRPr>
            </a:pPr>
            <a:r>
              <a:rPr sz="1875" b="0">
                <a:solidFill>
                  <a:srgbClr val="B0C4D4"/>
                </a:solidFill>
                <a:latin typeface="Helvetica Neue"/>
                <a:ea typeface="Helvetica Neue"/>
                <a:cs typeface="Helvetica Neue"/>
              </a:rPr>
              <a:t>An aid to buddy procedures. Never a safety guarantee.</a:t>
            </a:r>
          </a:p>
        </p:txBody>
      </p:sp>
    </p:spTree>
    <p:extLst>
      <p:ext uri="{BB962C8B-B14F-4D97-AF65-F5344CB8AC3E}">
        <p14:creationId xmlns:p14="http://schemas.microsoft.com/office/powerpoint/2010/main" val="17417651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2026-09-10T04:21:18.8280000Z</dcterms:created>
  <dcterms:modified xsi:type="dcterms:W3CDTF">2026-09-10T04:21:18.8280000Z</dcterms:modified>
</coreProperties>
</file>