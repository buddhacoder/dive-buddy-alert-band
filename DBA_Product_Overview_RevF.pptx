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55c4d22b9d47b0" /><Relationship Type="http://schemas.openxmlformats.org/officeDocument/2006/relationships/extended-properties" Target="/docProps/app.xml" Id="Rc96468890d99403d" /><Relationship Type="http://schemas.openxmlformats.org/officeDocument/2006/relationships/officeDocument" Target="/ppt/presentation.xml" Id="R80a8dee82c164f45" /></Relationships>
</file>

<file path=ppt/presentation.xml><?xml version="1.0" encoding="utf-8"?>
<p:presentation xmlns:p="http://schemas.openxmlformats.org/presentationml/2006/main">
  <p:sldMasterIdLst>
    <p:sldMasterId xmlns:r="http://schemas.openxmlformats.org/officeDocument/2006/relationships" id="2147483648" r:id="Rdf985933a9d64226"/>
  </p:sldMasterIdLst>
  <p:notesMasterIdLst>
    <p:notesMasterId xmlns:r="http://schemas.openxmlformats.org/officeDocument/2006/relationships" r:id="R919f59b06d704cc2"/>
  </p:notesMasterIdLst>
  <p:sldIdLst>
    <p:sldId xmlns:r="http://schemas.openxmlformats.org/officeDocument/2006/relationships" id="256" r:id="Rffcd2e53edf44428"/>
    <p:sldId xmlns:r="http://schemas.openxmlformats.org/officeDocument/2006/relationships" id="257" r:id="R78e54c768d8f4dcd"/>
    <p:sldId xmlns:r="http://schemas.openxmlformats.org/officeDocument/2006/relationships" id="258" r:id="Rb87b105a07ca4ced"/>
    <p:sldId xmlns:r="http://schemas.openxmlformats.org/officeDocument/2006/relationships" id="259" r:id="R415a834b8c9340c9"/>
    <p:sldId xmlns:r="http://schemas.openxmlformats.org/officeDocument/2006/relationships" id="260" r:id="R890284294a8e4657"/>
    <p:sldId xmlns:r="http://schemas.openxmlformats.org/officeDocument/2006/relationships" id="261" r:id="R0200186488e44020"/>
    <p:sldId xmlns:r="http://schemas.openxmlformats.org/officeDocument/2006/relationships" id="262" r:id="R158a2d8594cd43dc"/>
    <p:sldId xmlns:r="http://schemas.openxmlformats.org/officeDocument/2006/relationships" id="263" r:id="R38fc426e2cc14d40"/>
    <p:sldId xmlns:r="http://schemas.openxmlformats.org/officeDocument/2006/relationships" id="264" r:id="Rf5a0617342584dc5"/>
    <p:sldId xmlns:r="http://schemas.openxmlformats.org/officeDocument/2006/relationships" id="265" r:id="R84b800658b4945f0"/>
    <p:sldId xmlns:r="http://schemas.openxmlformats.org/officeDocument/2006/relationships" id="266" r:id="Rece1114580f64d9b"/>
    <p:sldId xmlns:r="http://schemas.openxmlformats.org/officeDocument/2006/relationships" id="267" r:id="R7bf5450d1bbe48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949c87d0344568" /><Relationship Type="http://schemas.openxmlformats.org/officeDocument/2006/relationships/slideMaster" Target="/ppt/slideMasters/slideMaster1.xml" Id="Rdf985933a9d64226" /><Relationship Type="http://schemas.openxmlformats.org/officeDocument/2006/relationships/notesMaster" Target="/ppt/notesMasters/notesMaster1.xml" Id="R919f59b06d704cc2" /><Relationship Type="http://schemas.openxmlformats.org/officeDocument/2006/relationships/presProps" Target="/ppt/presProps.xml" Id="Rd02102fda3cd4a0b" /><Relationship Type="http://schemas.openxmlformats.org/officeDocument/2006/relationships/tableStyles" Target="/ppt/tableStyles.xml" Id="Rc74fbba2215d4bca" /><Relationship Type="http://schemas.openxmlformats.org/officeDocument/2006/relationships/slide" Target="/ppt/slides/slide1.xml" Id="Rffcd2e53edf44428" /><Relationship Type="http://schemas.openxmlformats.org/officeDocument/2006/relationships/slide" Target="/ppt/slides/slide2.xml" Id="R78e54c768d8f4dcd" /><Relationship Type="http://schemas.openxmlformats.org/officeDocument/2006/relationships/slide" Target="/ppt/slides/slide3.xml" Id="Rb87b105a07ca4ced" /><Relationship Type="http://schemas.openxmlformats.org/officeDocument/2006/relationships/slide" Target="/ppt/slides/slide4.xml" Id="R415a834b8c9340c9" /><Relationship Type="http://schemas.openxmlformats.org/officeDocument/2006/relationships/slide" Target="/ppt/slides/slide5.xml" Id="R890284294a8e4657" /><Relationship Type="http://schemas.openxmlformats.org/officeDocument/2006/relationships/slide" Target="/ppt/slides/slide6.xml" Id="R0200186488e44020" /><Relationship Type="http://schemas.openxmlformats.org/officeDocument/2006/relationships/slide" Target="/ppt/slides/slide7.xml" Id="R158a2d8594cd43dc" /><Relationship Type="http://schemas.openxmlformats.org/officeDocument/2006/relationships/slide" Target="/ppt/slides/slide8.xml" Id="R38fc426e2cc14d40" /><Relationship Type="http://schemas.openxmlformats.org/officeDocument/2006/relationships/slide" Target="/ppt/slides/slide9.xml" Id="Rf5a0617342584dc5" /><Relationship Type="http://schemas.openxmlformats.org/officeDocument/2006/relationships/slide" Target="/ppt/slides/slide10.xml" Id="R84b800658b4945f0" /><Relationship Type="http://schemas.openxmlformats.org/officeDocument/2006/relationships/slide" Target="/ppt/slides/slide11.xml" Id="Rece1114580f64d9b" /><Relationship Type="http://schemas.openxmlformats.org/officeDocument/2006/relationships/slide" Target="/ppt/slides/slide12.xml" Id="R7bf5450d1bbe48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88690a4e9346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4f240b42e9444f" /><Relationship Type="http://schemas.openxmlformats.org/officeDocument/2006/relationships/notesMaster" Target="/ppt/notesMasters/notesMaster1.xml" Id="R3c63a5c47c7b45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719a3b56394d06" /><Relationship Type="http://schemas.openxmlformats.org/officeDocument/2006/relationships/notesMaster" Target="/ppt/notesMasters/notesMaster1.xml" Id="R148ced8cf3674f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7a0593ef824700" /><Relationship Type="http://schemas.openxmlformats.org/officeDocument/2006/relationships/notesMaster" Target="/ppt/notesMasters/notesMaster1.xml" Id="R4d69d28c03f749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9dfeb6690a4019" /><Relationship Type="http://schemas.openxmlformats.org/officeDocument/2006/relationships/notesMaster" Target="/ppt/notesMasters/notesMaster1.xml" Id="Rb2e3c92331fd4a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b9f0f9275a41cf" /><Relationship Type="http://schemas.openxmlformats.org/officeDocument/2006/relationships/notesMaster" Target="/ppt/notesMasters/notesMaster1.xml" Id="Rf9b51cc6b13540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3ad1ae41a04118" /><Relationship Type="http://schemas.openxmlformats.org/officeDocument/2006/relationships/notesMaster" Target="/ppt/notesMasters/notesMaster1.xml" Id="R3a4bde11122d4f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8f902bbe13444b" /><Relationship Type="http://schemas.openxmlformats.org/officeDocument/2006/relationships/notesMaster" Target="/ppt/notesMasters/notesMaster1.xml" Id="R6e2c4f5fcbdb4c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86906fbe9c4a79" /><Relationship Type="http://schemas.openxmlformats.org/officeDocument/2006/relationships/notesMaster" Target="/ppt/notesMasters/notesMaster1.xml" Id="R67cfe83a6c5d45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994b510f4a4e34" /><Relationship Type="http://schemas.openxmlformats.org/officeDocument/2006/relationships/notesMaster" Target="/ppt/notesMasters/notesMaster1.xml" Id="R233a901c73794b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ca475fb3df48e2" /><Relationship Type="http://schemas.openxmlformats.org/officeDocument/2006/relationships/notesMaster" Target="/ppt/notesMasters/notesMaster1.xml" Id="Ra2fe26850e214f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32a2416a6441e3" /><Relationship Type="http://schemas.openxmlformats.org/officeDocument/2006/relationships/notesMaster" Target="/ppt/notesMasters/notesMaster1.xml" Id="R162b5f8906964e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b5f6c249e84df2" /><Relationship Type="http://schemas.openxmlformats.org/officeDocument/2006/relationships/notesMaster" Target="/ppt/notesMasters/notesMaster1.xml" Id="Ra7c2cd0d7fb64c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reef draws one diver’s attention. Their buddy turns to share something else. Dive Buddy Alert Band brings that small but important connection to the wrist: a private call, a clear acknowledgement, and a proposed view of where the other diver is. Illustrative use scenario and simulated readings. Rev F is the current concept and CAD revision. Rev A economics are historical desk estimates for the earlier display-free design.</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Underwater, a hand signal depends on being seen. A buddy can be nearby yet outside the other diver’s field of view, above the reef or a few metres deeper. Getting their attention is the first step. Understanding where to look is the next. Illustrative use scenario and simulated readings. Rev F is the current concept and CAD revision. Rev A economics are historical desk estimates for the earlier display-free design.</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 the bands before entering the water. A deliberate press requests a vibration on the paired band. The receiving diver presses to acknowledge. The caller sees that human response separately from the band’s automatic delivery receipt. Proposed mapping: at idle, short presses cycle views; a one-second hold calls. An incoming call is acknowledged with a short press. A hold cancels an active call. Surface pairing protocol and gesture arbitration remain undefined.</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 the bands before entering the water. A deliberate press requests a vibration on the paired band. The receiving diver presses to acknowledge. The caller sees that human response separately from the band’s automatic delivery receipt. Transport acknowledgement establishes device receipt only. A separate button press acknowledges the human response. Delayed packets, retries, simultaneous calls and remote cancellation require protocol definition.</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navigation view combines separation with horizontal bearing and a clear shallower-or-deeper cue. A second view places both divers on a horizontal grid. Dive information and the boat-associated reference each have a dedicated screen, so every number has a purpose. Buddy view: synthetic 11.5 m separation, horizontal bearing, and 2 m shallower. Map uses a horizontal grid and separate depth cue. Direction requires the proposed external positioning reference and band depth/heading sensing. Wrist heading is not necessarily swimming direction.</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Dive view shows elapsed time, own depth, both horizontal speeds relative to the acoustic reference and both vertical rates. Speeds in the moving scenario are synthetic. Reference-relative speed is not speed through water; vertical rate is not decompression protection. No safe ascent limit or bends-prevention claim. DAN source: https://dan.org/alert-diver/article/ascent-rates/</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 F adds a proposed boat-associated spaced acoustic array and orientation reference for shared horizontal positions. Pressure and heading sensing are added to each band. The Boat view shows horizontal distance to the associated reference, not a safe ascent instruction. A reference-to-boat relationship must be established; drift changes it. Array dimensions, synchronization, calibration, coverage, accuracy and runtime remain undefined. There is no reference hardware CAD or claim of existing product compatibility.</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split silicone strap wraps around the wrist or suit cuff. Its overlapping tail adjusts through a proposed acetal buckle, with a silicone keeper securing the loose end. The sealed module remains removable when the strap needs replacing. Compact, Regular and Cuff are three modeled layouts, with nominal internal reference diameters of 50, 62 and 78 mm. Their circular reference circumferences are about 157, 195 and 245 mm. These dimensions describe CAD layouts; they are not established wrist-size ranges. Corrosion resistance is a design requirement. The proposed exterior combines silicone, an acetal buckle with nonmetal retention, and a polymer housing and window. No exposed steel pin or charging contacts are specified. Material grades, seal durability, buckle strength and the usable fit range remain unvalidated.</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Compact, Regular and Cuff are three modeled layouts, with nominal internal reference diameters of 50, 62 and 78 mm. Their circular reference circumferences are about 157, 195 and 245 mm. These dimensions describe CAD layouts; they are not established wrist-size ranges. The main strap is 24 mm wide and 4 mm thick; the overlap tail is 22 mm wide and 2.4 mm thick with ten 3.5 mm holes. A matte acetal buckle with nonmetal retention and a silicone keeper are proposed. No exposed steel pin is specified. Corrosion resistance is required; UV-stabilized resin grade, latch strength, creep, attachment and saltwater durability remain unvalidated. Silicone elasticity supplements mechanical adjustment. Supported wearer ranges are not established.</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 F housing is 54 × 38 × 19.5 mm, excluding 2.2 mm button protrusion. The display body is 26 × 26 × 3 mm with 28 × 28 × 1.2 mm window and 24 × 24 mm active area. Eighteen modeled envelopes include pressure/heading sensors and adjustment hardware. Coil beneath the button side receives inductive charging through the sealed cap. The exterior housing and window are proposed nonmetal materials, with electronics isolated from seawater and no exposed charging contacts. Material grades, wiring, pressure coupling, supports, tolerances and sealing are unestablished.</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navigation concept adds a boat-associated acoustic positioning reference to the paired bands and inductive dock. A dive operator would deploy that reference; each diver would wear a band. This adds equipment and setup, while making buddy bearing and boat-relative position possible in the proposed system. The value proposition is a private buddy call with readable spatial context. Demand, operator workflow, reference coverage, runtime and the complete system’s price remain unestablished. The presentation defines a product direction for discussion, not a finished underwater navigation instrument. Historical Rev A desk estimate: $86 per pair at 5,000 pairs, ±30%, with a $179–199 retail target. It excluded tooling, engineering, freight and duty. It does not price the current display, sensing or acoustic reference. Published commentary informed requirements but does not establish demand for DBA.</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reef draws one diver’s attention. Their buddy turns to share something else. Dive Buddy Alert Band brings that small but important connection to the wrist: a private call, a clear acknowledgement, and a proposed view of where the other diver is. Direction and map views require the proposed acoustic positioning reference, plus depth and heading sensing on the bands. All interface readings shown here are simulated. DBA remains an aid to buddy procedures, never a safety guarantee. Illustrative use scenario and simulated readings. Rev F is the current concept and CAD revision. Rev A economics are historical desk estimates for the earlier display-free design.</a:t>
            </a:r>
          </a:p>
          <a:p xmlns:a="http://schemas.openxmlformats.org/drawingml/2006/main">
            <a:r>
              <a:t/>
            </a:r>
          </a:p>
          <a:p xmlns:a="http://schemas.openxmlformats.org/drawingml/2006/main">
            <a:r>
              <a:t>Source: presentation/story.json (Presentation Rev F), design-data.json (CAD Rev F), DBA_Design_Package_RevF.pdf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80ec43f2da44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5ccf3353a8467d" /><Relationship Type="http://schemas.openxmlformats.org/officeDocument/2006/relationships/slideLayout" Target="/ppt/slideLayouts/slideLayout1.xml" Id="R309ab86d57004f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9ab86d57004f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5d527c16e44484" /><Relationship Type="http://schemas.openxmlformats.org/officeDocument/2006/relationships/image" Target="/ppt/media/image.png" Id="R234299f22ff149ac" /><Relationship Type="http://schemas.openxmlformats.org/officeDocument/2006/relationships/notesSlide" Target="/ppt/notesSlides/notesSlide1.xml" Id="Rcfea2415ab784e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c8e747388c4370" /><Relationship Type="http://schemas.openxmlformats.org/officeDocument/2006/relationships/notesSlide" Target="/ppt/notesSlides/notesSlide2.xml" Id="R8fbbd0e064f94a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415f7b13b7e4cac" /><Relationship Type="http://schemas.openxmlformats.org/officeDocument/2006/relationships/notesSlide" Target="/ppt/notesSlides/notesSlide3.xml" Id="R1245383341344c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9ea9dd45b84e2f" /><Relationship Type="http://schemas.openxmlformats.org/officeDocument/2006/relationships/notesSlide" Target="/ppt/notesSlides/notesSlide4.xml" Id="Rb83f6ea971844a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9ca518dd21466f" /><Relationship Type="http://schemas.openxmlformats.org/officeDocument/2006/relationships/image" Target="/ppt/media/image2.png" Id="R5b58983700114535" /><Relationship Type="http://schemas.openxmlformats.org/officeDocument/2006/relationships/image" Target="/ppt/media/image3.png" Id="R696364047ad944ce" /><Relationship Type="http://schemas.openxmlformats.org/officeDocument/2006/relationships/notesSlide" Target="/ppt/notesSlides/notesSlide5.xml" Id="R81e69a62b2d040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ad66d6fdcd4a6e" /><Relationship Type="http://schemas.openxmlformats.org/officeDocument/2006/relationships/image" Target="/ppt/media/image4.png" Id="Racd1e4f8ab384ff1" /><Relationship Type="http://schemas.openxmlformats.org/officeDocument/2006/relationships/notesSlide" Target="/ppt/notesSlides/notesSlide6.xml" Id="R8f37821497674d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397b6cb2f543c3" /><Relationship Type="http://schemas.openxmlformats.org/officeDocument/2006/relationships/image" Target="/ppt/media/image5.png" Id="Rc11da4a295a3478a" /><Relationship Type="http://schemas.openxmlformats.org/officeDocument/2006/relationships/notesSlide" Target="/ppt/notesSlides/notesSlide7.xml" Id="Rb52f1112af6b4b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a115c1efb746ea" /><Relationship Type="http://schemas.openxmlformats.org/officeDocument/2006/relationships/image" Target="/ppt/media/image6.png" Id="Rc8a097b9992b455f" /><Relationship Type="http://schemas.openxmlformats.org/officeDocument/2006/relationships/notesSlide" Target="/ppt/notesSlides/notesSlide8.xml" Id="R1f1480345e0241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63b25afe084a1c" /><Relationship Type="http://schemas.openxmlformats.org/officeDocument/2006/relationships/image" Target="/ppt/media/image7.png" Id="R49faf317b0a24b14" /><Relationship Type="http://schemas.openxmlformats.org/officeDocument/2006/relationships/notesSlide" Target="/ppt/notesSlides/notesSlide9.xml" Id="R2dca2c5a23e845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4ad47efe024db7" /><Relationship Type="http://schemas.openxmlformats.org/officeDocument/2006/relationships/image" Target="/ppt/media/image8.png" Id="R887a8efaddca4dce" /><Relationship Type="http://schemas.openxmlformats.org/officeDocument/2006/relationships/notesSlide" Target="/ppt/notesSlides/notesSlide10.xml" Id="R507710b7df334b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1eec738783748cc" /><Relationship Type="http://schemas.openxmlformats.org/officeDocument/2006/relationships/notesSlide" Target="/ppt/notesSlides/notesSlide11.xml" Id="R09708e2025454d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55126b079545b5" /><Relationship Type="http://schemas.openxmlformats.org/officeDocument/2006/relationships/notesSlide" Target="/ppt/notesSlides/notesSlide12.xml" Id="R24b94894853f4a5b" /></Relationships>
</file>

<file path=ppt/slides/slide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5BE32A-0E1F-40A4-9F0A-4A23734ADACB}"/>
              </a:ext>
            </a:extLst>
          </p:cNvPr>
          <p:cNvSpPr>
            <a:spLocks xmlns:a="http://schemas.openxmlformats.org/drawingml/2006/main" noGrp="1"/>
          </p:cNvSpPr>
          <p:nvPr/>
        </p:nvSpPr>
        <p:spPr>
          <a:xfrm xmlns:a="http://schemas.openxmlformats.org/drawingml/2006/main">
            <a:off x="666750" y="1181100"/>
            <a:ext cx="581025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F0F4F7"/>
                </a:solidFill>
                <a:latin typeface="Helvetica Neue"/>
                <a:ea typeface="Helvetica Neue"/>
                <a:cs typeface="Helvetica Neue"/>
              </a:defRPr>
            </a:pPr>
            <a:r>
              <a:rPr sz="5775" b="1">
                <a:solidFill>
                  <a:srgbClr val="F0F4F7"/>
                </a:solidFill>
                <a:latin typeface="Helvetica Neue"/>
                <a:ea typeface="Helvetica Neue"/>
                <a:cs typeface="Helvetica Neue"/>
              </a:rPr>
              <a:t>Dive Buddy</a:t>
            </a:r>
          </a:p>
          <a:p xmlns:a="http://schemas.openxmlformats.org/drawingml/2006/main">
            <a:pPr>
              <a:defRPr sz="5775" b="1">
                <a:solidFill>
                  <a:srgbClr val="F0F4F7"/>
                </a:solidFill>
                <a:latin typeface="Helvetica Neue"/>
                <a:ea typeface="Helvetica Neue"/>
                <a:cs typeface="Helvetica Neue"/>
              </a:defRPr>
            </a:pPr>
            <a:r>
              <a:rPr sz="5775" b="1">
                <a:solidFill>
                  <a:srgbClr val="F0F4F7"/>
                </a:solidFill>
                <a:latin typeface="Helvetica Neue"/>
                <a:ea typeface="Helvetica Neue"/>
                <a:cs typeface="Helvetica Neue"/>
              </a:rPr>
              <a:t>Alert Band</a:t>
            </a:r>
          </a:p>
        </p:txBody>
      </p:sp>
      <p:sp>
        <p:nvSpPr>
          <p:cNvPr id="2" name="">
            <a:extLst xmlns:a="http://schemas.openxmlformats.org/drawingml/2006/main">
              <a:ext uri="{FF2B5EF4-FFF2-40B4-BE49-F238E27FC236}">
                <a16:creationId xmlns:a16="http://schemas.microsoft.com/office/drawing/2014/main" id="{0E8D552B-8852-4DD6-A1B8-0A279B439C66}"/>
              </a:ext>
            </a:extLst>
          </p:cNvPr>
          <p:cNvSpPr>
            <a:spLocks xmlns:a="http://schemas.openxmlformats.org/drawingml/2006/main" noGrp="1"/>
          </p:cNvSpPr>
          <p:nvPr/>
        </p:nvSpPr>
        <p:spPr>
          <a:xfrm xmlns:a="http://schemas.openxmlformats.org/drawingml/2006/main">
            <a:off x="714375" y="3857625"/>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9BD8E6"/>
                </a:solidFill>
                <a:latin typeface="Helvetica Neue"/>
                <a:ea typeface="Helvetica Neue"/>
                <a:cs typeface="Helvetica Neue"/>
              </a:defRPr>
            </a:pPr>
            <a:r>
              <a:rPr sz="2700" b="0">
                <a:solidFill>
                  <a:srgbClr val="9BD8E6"/>
                </a:solidFill>
                <a:latin typeface="Helvetica Neue"/>
                <a:ea typeface="Helvetica Neue"/>
                <a:cs typeface="Helvetica Neue"/>
              </a:rPr>
              <a:t>Stay in touch.</a:t>
            </a:r>
          </a:p>
          <a:p xmlns:a="http://schemas.openxmlformats.org/drawingml/2006/main">
            <a:pPr>
              <a:defRPr sz="2700" b="0">
                <a:solidFill>
                  <a:srgbClr val="9BD8E6"/>
                </a:solidFill>
                <a:latin typeface="Helvetica Neue"/>
                <a:ea typeface="Helvetica Neue"/>
                <a:cs typeface="Helvetica Neue"/>
              </a:defRPr>
            </a:pPr>
            <a:r>
              <a:rPr sz="2700" b="0">
                <a:solidFill>
                  <a:srgbClr val="9BD8E6"/>
                </a:solidFill>
                <a:latin typeface="Helvetica Neue"/>
                <a:ea typeface="Helvetica Neue"/>
                <a:cs typeface="Helvetica Neue"/>
              </a:rPr>
              <a:t>Know where to look.</a:t>
            </a:r>
          </a:p>
        </p:txBody>
      </p:sp>
      <p:sp>
        <p:nvSpPr>
          <p:cNvPr id="3" name="">
            <a:extLst xmlns:a="http://schemas.openxmlformats.org/drawingml/2006/main">
              <a:ext uri="{FF2B5EF4-FFF2-40B4-BE49-F238E27FC236}">
                <a16:creationId xmlns:a16="http://schemas.microsoft.com/office/drawing/2014/main" id="{FB44FC1D-205B-4C1A-9DB9-D3A5CE035965}"/>
              </a:ext>
            </a:extLst>
          </p:cNvPr>
          <p:cNvSpPr>
            <a:spLocks xmlns:a="http://schemas.openxmlformats.org/drawingml/2006/main" noGrp="1"/>
          </p:cNvSpPr>
          <p:nvPr/>
        </p:nvSpPr>
        <p:spPr>
          <a:xfrm xmlns:a="http://schemas.openxmlformats.org/drawingml/2006/main">
            <a:off x="714375" y="5676900"/>
            <a:ext cx="542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0C4D4"/>
                </a:solidFill>
                <a:latin typeface="Helvetica Neue"/>
                <a:ea typeface="Helvetica Neue"/>
                <a:cs typeface="Helvetica Neue"/>
              </a:defRPr>
            </a:pPr>
            <a:r>
              <a:rPr sz="1800" b="0">
                <a:solidFill>
                  <a:srgbClr val="B0C4D4"/>
                </a:solidFill>
                <a:latin typeface="Helvetica Neue"/>
                <a:ea typeface="Helvetica Neue"/>
                <a:cs typeface="Helvetica Neue"/>
              </a:rPr>
              <a:t>Concept by Rafael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34299f22ff149ac"/>
          <a:stretch xmlns:a="http://schemas.openxmlformats.org/drawingml/2006/main"/>
        </p:blipFill>
        <p:spPr>
          <a:xfrm xmlns:a="http://schemas.openxmlformats.org/drawingml/2006/main">
            <a:off x="6572250" y="1028105"/>
            <a:ext cx="5095875" cy="445889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89E483A-9970-4565-BFBA-F8303D31A120}"/>
              </a:ext>
            </a:extLst>
          </p:cNvPr>
          <p:cNvSpPr>
            <a:spLocks xmlns:a="http://schemas.openxmlformats.org/drawingml/2006/main" noGrp="1"/>
          </p:cNvSpPr>
          <p:nvPr/>
        </p:nvSpPr>
        <p:spPr>
          <a:xfrm xmlns:a="http://schemas.openxmlformats.org/drawingml/2006/main">
            <a:off x="6648450" y="61817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0C4D4"/>
                </a:solidFill>
                <a:latin typeface="Helvetica Neue"/>
                <a:ea typeface="Helvetica Neue"/>
                <a:cs typeface="Helvetica Neue"/>
              </a:defRPr>
            </a:pPr>
            <a:r>
              <a:rPr sz="1425" b="0">
                <a:solidFill>
                  <a:srgbClr val="B0C4D4"/>
                </a:solidFill>
                <a:latin typeface="Helvetica Neue"/>
                <a:ea typeface="Helvetica Neue"/>
                <a:cs typeface="Helvetica Neue"/>
              </a:rPr>
              <a:t>Presentation and CAD Rev F</a:t>
            </a:r>
          </a:p>
        </p:txBody>
      </p:sp>
    </p:spTree>
    <p:extLst>
      <p:ext uri="{BB962C8B-B14F-4D97-AF65-F5344CB8AC3E}">
        <p14:creationId xmlns:p14="http://schemas.microsoft.com/office/powerpoint/2010/main" val="1336309995"/>
      </p:ext>
    </p:extLst>
  </p:cSld>
</p:sld>
</file>

<file path=ppt/slides/slide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CCCC33-5427-43AC-9B25-4E962092A56F}"/>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A shared dive.</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Two different points of view</a:t>
            </a:r>
          </a:p>
        </p:txBody>
      </p:sp>
      <p:sp>
        <p:nvSpPr>
          <p:cNvPr id="2" name="">
            <a:extLst xmlns:a="http://schemas.openxmlformats.org/drawingml/2006/main">
              <a:ext uri="{FF2B5EF4-FFF2-40B4-BE49-F238E27FC236}">
                <a16:creationId xmlns:a16="http://schemas.microsoft.com/office/drawing/2014/main" id="{2DF4D6B4-3D82-42CE-8556-106DF32540C4}"/>
              </a:ext>
            </a:extLst>
          </p:cNvPr>
          <p:cNvSpPr>
            <a:spLocks xmlns:a="http://schemas.openxmlformats.org/drawingml/2006/main" noGrp="1"/>
          </p:cNvSpPr>
          <p:nvPr/>
        </p:nvSpPr>
        <p:spPr>
          <a:xfrm xmlns:a="http://schemas.openxmlformats.org/drawingml/2006/main">
            <a:off x="733425" y="2305050"/>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9BD8E6"/>
                </a:solidFill>
                <a:latin typeface="Helvetica Neue"/>
                <a:ea typeface="Helvetica Neue"/>
                <a:cs typeface="Helvetica Neue"/>
              </a:defRPr>
            </a:pPr>
            <a:r>
              <a:rPr sz="3000" b="1">
                <a:solidFill>
                  <a:srgbClr val="9BD8E6"/>
                </a:solidFill>
                <a:latin typeface="Helvetica Neue"/>
                <a:ea typeface="Helvetica Neue"/>
                <a:cs typeface="Helvetica Neue"/>
              </a:rPr>
              <a:t>A reef to explore. A change of plan.</a:t>
            </a:r>
          </a:p>
          <a:p xmlns:a="http://schemas.openxmlformats.org/drawingml/2006/main">
            <a:pPr>
              <a:defRPr sz="3000" b="1">
                <a:solidFill>
                  <a:srgbClr val="9BD8E6"/>
                </a:solidFill>
                <a:latin typeface="Helvetica Neue"/>
                <a:ea typeface="Helvetica Neue"/>
                <a:cs typeface="Helvetica Neue"/>
              </a:defRPr>
            </a:pPr>
            <a:r>
              <a:rPr sz="3000" b="1">
                <a:solidFill>
                  <a:srgbClr val="9BD8E6"/>
                </a:solidFill>
                <a:latin typeface="Helvetica Neue"/>
                <a:ea typeface="Helvetica Neue"/>
                <a:cs typeface="Helvetica Neue"/>
              </a:rPr>
              <a:t>A buddy just outside the field of view.</a:t>
            </a:r>
          </a:p>
        </p:txBody>
      </p:sp>
      <p:sp>
        <p:nvSpPr>
          <p:cNvPr id="3" name="">
            <a:extLst xmlns:a="http://schemas.openxmlformats.org/drawingml/2006/main">
              <a:ext uri="{FF2B5EF4-FFF2-40B4-BE49-F238E27FC236}">
                <a16:creationId xmlns:a16="http://schemas.microsoft.com/office/drawing/2014/main" id="{3C42938B-2A56-4F0A-88CB-C2DB6B24489A}"/>
              </a:ext>
            </a:extLst>
          </p:cNvPr>
          <p:cNvSpPr>
            <a:spLocks xmlns:a="http://schemas.openxmlformats.org/drawingml/2006/main" noGrp="1"/>
          </p:cNvSpPr>
          <p:nvPr/>
        </p:nvSpPr>
        <p:spPr>
          <a:xfrm xmlns:a="http://schemas.openxmlformats.org/drawingml/2006/main">
            <a:off x="752475" y="3933825"/>
            <a:ext cx="10477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0F4F7"/>
                </a:solidFill>
                <a:latin typeface="Helvetica Neue"/>
                <a:ea typeface="Helvetica Neue"/>
                <a:cs typeface="Helvetica Neue"/>
              </a:defRPr>
            </a:pPr>
            <a:r>
              <a:rPr sz="2775" b="0">
                <a:solidFill>
                  <a:srgbClr val="F0F4F7"/>
                </a:solidFill>
                <a:latin typeface="Helvetica Neue"/>
                <a:ea typeface="Helvetica Neue"/>
                <a:cs typeface="Helvetica Neue"/>
              </a:rPr>
              <a:t>A hand signal needs to be seen.</a:t>
            </a:r>
          </a:p>
          <a:p xmlns:a="http://schemas.openxmlformats.org/drawingml/2006/main">
            <a:pPr>
              <a:defRPr sz="2775" b="0">
                <a:solidFill>
                  <a:srgbClr val="F0F4F7"/>
                </a:solidFill>
                <a:latin typeface="Helvetica Neue"/>
                <a:ea typeface="Helvetica Neue"/>
                <a:cs typeface="Helvetica Neue"/>
              </a:defRPr>
            </a:pPr>
            <a:r>
              <a:rPr sz="2775" b="0">
                <a:solidFill>
                  <a:srgbClr val="F0F4F7"/>
                </a:solidFill>
                <a:latin typeface="Helvetica Neue"/>
                <a:ea typeface="Helvetica Neue"/>
                <a:cs typeface="Helvetica Neue"/>
              </a:rPr>
              <a:t>Getting attention is the first step.</a:t>
            </a:r>
          </a:p>
        </p:txBody>
      </p:sp>
      <p:sp>
        <p:nvSpPr>
          <p:cNvPr id="4" name="">
            <a:extLst xmlns:a="http://schemas.openxmlformats.org/drawingml/2006/main">
              <a:ext uri="{FF2B5EF4-FFF2-40B4-BE49-F238E27FC236}">
                <a16:creationId xmlns:a16="http://schemas.microsoft.com/office/drawing/2014/main" id="{3B8754B8-21CF-474B-9E23-90EE56912FD7}"/>
              </a:ext>
            </a:extLst>
          </p:cNvPr>
          <p:cNvSpPr>
            <a:spLocks xmlns:a="http://schemas.openxmlformats.org/drawingml/2006/main" noGrp="1"/>
          </p:cNvSpPr>
          <p:nvPr/>
        </p:nvSpPr>
        <p:spPr>
          <a:xfrm xmlns:a="http://schemas.openxmlformats.org/drawingml/2006/main">
            <a:off x="752475" y="56483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B0C4D4"/>
                </a:solidFill>
                <a:latin typeface="Helvetica Neue"/>
                <a:ea typeface="Helvetica Neue"/>
                <a:cs typeface="Helvetica Neue"/>
              </a:defRPr>
            </a:pPr>
            <a:r>
              <a:rPr sz="2475" b="0">
                <a:solidFill>
                  <a:srgbClr val="B0C4D4"/>
                </a:solidFill>
                <a:latin typeface="Helvetica Neue"/>
                <a:ea typeface="Helvetica Neue"/>
                <a:cs typeface="Helvetica Neue"/>
              </a:rPr>
              <a:t>Understanding where to look is the next.</a:t>
            </a:r>
          </a:p>
        </p:txBody>
      </p:sp>
    </p:spTree>
    <p:extLst>
      <p:ext uri="{BB962C8B-B14F-4D97-AF65-F5344CB8AC3E}">
        <p14:creationId xmlns:p14="http://schemas.microsoft.com/office/powerpoint/2010/main" val="1641380213"/>
      </p:ext>
    </p:extLst>
  </p:cSld>
</p:sld>
</file>

<file path=ppt/slides/slide3.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70E876-49BD-4C6D-9467-D970EF881E64}"/>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One press starts</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the conversation</a:t>
            </a:r>
          </a:p>
        </p:txBody>
      </p:sp>
      <p:sp>
        <p:nvSpPr>
          <p:cNvPr id="2" name="">
            <a:extLst xmlns:a="http://schemas.openxmlformats.org/drawingml/2006/main">
              <a:ext uri="{FF2B5EF4-FFF2-40B4-BE49-F238E27FC236}">
                <a16:creationId xmlns:a16="http://schemas.microsoft.com/office/drawing/2014/main" id="{12D78DD4-55E0-4BC7-B32F-01534208FDE5}"/>
              </a:ext>
            </a:extLst>
          </p:cNvPr>
          <p:cNvSpPr>
            <a:spLocks xmlns:a="http://schemas.openxmlformats.org/drawingml/2006/main" noGrp="1"/>
          </p:cNvSpPr>
          <p:nvPr/>
        </p:nvSpPr>
        <p:spPr>
          <a:xfrm xmlns:a="http://schemas.openxmlformats.org/drawingml/2006/main">
            <a:off x="733425" y="2457450"/>
            <a:ext cx="4714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9BD8E6"/>
                </a:solidFill>
                <a:latin typeface="Helvetica Neue"/>
                <a:ea typeface="Helvetica Neue"/>
                <a:cs typeface="Helvetica Neue"/>
              </a:defRPr>
            </a:pPr>
            <a:r>
              <a:rPr sz="2475" b="1">
                <a:solidFill>
                  <a:srgbClr val="9BD8E6"/>
                </a:solidFill>
                <a:latin typeface="Helvetica Neue"/>
                <a:ea typeface="Helvetica Neue"/>
                <a:cs typeface="Helvetica Neue"/>
              </a:rPr>
              <a:t>Before the dive</a:t>
            </a:r>
          </a:p>
        </p:txBody>
      </p:sp>
      <p:sp>
        <p:nvSpPr>
          <p:cNvPr id="3" name="">
            <a:extLst xmlns:a="http://schemas.openxmlformats.org/drawingml/2006/main">
              <a:ext uri="{FF2B5EF4-FFF2-40B4-BE49-F238E27FC236}">
                <a16:creationId xmlns:a16="http://schemas.microsoft.com/office/drawing/2014/main" id="{2A66BAAE-26C5-4135-9F85-2C421ECC2C6D}"/>
              </a:ext>
            </a:extLst>
          </p:cNvPr>
          <p:cNvSpPr>
            <a:spLocks xmlns:a="http://schemas.openxmlformats.org/drawingml/2006/main" noGrp="1"/>
          </p:cNvSpPr>
          <p:nvPr/>
        </p:nvSpPr>
        <p:spPr>
          <a:xfrm xmlns:a="http://schemas.openxmlformats.org/drawingml/2006/main">
            <a:off x="762000" y="3276600"/>
            <a:ext cx="4667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Pair two bands.</a:t>
            </a:r>
          </a:p>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Each diver has a defined</a:t>
            </a:r>
          </a:p>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buddy connection.</a:t>
            </a:r>
          </a:p>
        </p:txBody>
      </p:sp>
      <p:sp>
        <p:nvSpPr>
          <p:cNvPr id="4" name="">
            <a:extLst xmlns:a="http://schemas.openxmlformats.org/drawingml/2006/main">
              <a:ext uri="{FF2B5EF4-FFF2-40B4-BE49-F238E27FC236}">
                <a16:creationId xmlns:a16="http://schemas.microsoft.com/office/drawing/2014/main" id="{C78B8AF1-1C0A-4E6F-BF62-36DD6BED84BA}"/>
              </a:ext>
            </a:extLst>
          </p:cNvPr>
          <p:cNvSpPr>
            <a:spLocks xmlns:a="http://schemas.openxmlformats.org/drawingml/2006/main" noGrp="1"/>
          </p:cNvSpPr>
          <p:nvPr/>
        </p:nvSpPr>
        <p:spPr>
          <a:xfrm xmlns:a="http://schemas.openxmlformats.org/drawingml/2006/main">
            <a:off x="6858000" y="2457450"/>
            <a:ext cx="466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9BD8E6"/>
                </a:solidFill>
                <a:latin typeface="Helvetica Neue"/>
                <a:ea typeface="Helvetica Neue"/>
                <a:cs typeface="Helvetica Neue"/>
              </a:defRPr>
            </a:pPr>
            <a:r>
              <a:rPr sz="2475" b="1">
                <a:solidFill>
                  <a:srgbClr val="9BD8E6"/>
                </a:solidFill>
                <a:latin typeface="Helvetica Neue"/>
                <a:ea typeface="Helvetica Neue"/>
                <a:cs typeface="Helvetica Neue"/>
              </a:rPr>
              <a:t>During the dive</a:t>
            </a:r>
          </a:p>
        </p:txBody>
      </p:sp>
      <p:sp>
        <p:nvSpPr>
          <p:cNvPr id="5" name="">
            <a:extLst xmlns:a="http://schemas.openxmlformats.org/drawingml/2006/main">
              <a:ext uri="{FF2B5EF4-FFF2-40B4-BE49-F238E27FC236}">
                <a16:creationId xmlns:a16="http://schemas.microsoft.com/office/drawing/2014/main" id="{E0367549-CA97-4819-92D5-E0D9C13FFADB}"/>
              </a:ext>
            </a:extLst>
          </p:cNvPr>
          <p:cNvSpPr>
            <a:spLocks xmlns:a="http://schemas.openxmlformats.org/drawingml/2006/main" noGrp="1"/>
          </p:cNvSpPr>
          <p:nvPr/>
        </p:nvSpPr>
        <p:spPr>
          <a:xfrm xmlns:a="http://schemas.openxmlformats.org/drawingml/2006/main">
            <a:off x="6886575" y="3276600"/>
            <a:ext cx="4619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Hold the top button.</a:t>
            </a:r>
          </a:p>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Request a tactile alert</a:t>
            </a:r>
          </a:p>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on the paired band.</a:t>
            </a:r>
          </a:p>
        </p:txBody>
      </p:sp>
      <p:sp>
        <p:nvSpPr>
          <p:cNvPr id="6" name="">
            <a:extLst xmlns:a="http://schemas.openxmlformats.org/drawingml/2006/main">
              <a:ext uri="{FF2B5EF4-FFF2-40B4-BE49-F238E27FC236}">
                <a16:creationId xmlns:a16="http://schemas.microsoft.com/office/drawing/2014/main" id="{1499B3B9-33CE-4EAD-93B3-131B0FFFE478}"/>
              </a:ext>
            </a:extLst>
          </p:cNvPr>
          <p:cNvSpPr>
            <a:spLocks xmlns:a="http://schemas.openxmlformats.org/drawingml/2006/main" noGrp="1"/>
          </p:cNvSpPr>
          <p:nvPr/>
        </p:nvSpPr>
        <p:spPr>
          <a:xfrm xmlns:a="http://schemas.openxmlformats.org/drawingml/2006/main">
            <a:off x="762000" y="59055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0C4D4"/>
                </a:solidFill>
                <a:latin typeface="Helvetica Neue"/>
                <a:ea typeface="Helvetica Neue"/>
                <a:cs typeface="Helvetica Neue"/>
              </a:defRPr>
            </a:pPr>
            <a:r>
              <a:rPr sz="2025" b="0">
                <a:solidFill>
                  <a:srgbClr val="B0C4D4"/>
                </a:solidFill>
                <a:latin typeface="Helvetica Neue"/>
                <a:ea typeface="Helvetica Neue"/>
                <a:cs typeface="Helvetica Neue"/>
              </a:rPr>
              <a:t>One physical control. An addressed request for attention.</a:t>
            </a:r>
          </a:p>
        </p:txBody>
      </p:sp>
    </p:spTree>
    <p:extLst>
      <p:ext uri="{BB962C8B-B14F-4D97-AF65-F5344CB8AC3E}">
        <p14:creationId xmlns:p14="http://schemas.microsoft.com/office/powerpoint/2010/main" val="1317804993"/>
      </p:ext>
    </p:extLst>
  </p:cSld>
</p:sld>
</file>

<file path=ppt/slides/slide4.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F80D6F-6CB3-46F8-A77C-C74E90D9348A}"/>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The person responds.</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The caller knows</a:t>
            </a:r>
          </a:p>
        </p:txBody>
      </p:sp>
      <p:sp>
        <p:nvSpPr>
          <p:cNvPr id="2" name="">
            <a:extLst xmlns:a="http://schemas.openxmlformats.org/drawingml/2006/main">
              <a:ext uri="{FF2B5EF4-FFF2-40B4-BE49-F238E27FC236}">
                <a16:creationId xmlns:a16="http://schemas.microsoft.com/office/drawing/2014/main" id="{DED7950A-54A5-4103-ADC5-C0BF0323A1F6}"/>
              </a:ext>
            </a:extLst>
          </p:cNvPr>
          <p:cNvSpPr>
            <a:spLocks xmlns:a="http://schemas.openxmlformats.org/drawingml/2006/main" noGrp="1"/>
          </p:cNvSpPr>
          <p:nvPr/>
        </p:nvSpPr>
        <p:spPr>
          <a:xfrm xmlns:a="http://schemas.openxmlformats.org/drawingml/2006/main">
            <a:off x="714375" y="2381250"/>
            <a:ext cx="3143250" cy="23622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3" name="">
            <a:extLst xmlns:a="http://schemas.openxmlformats.org/drawingml/2006/main">
              <a:ext uri="{FF2B5EF4-FFF2-40B4-BE49-F238E27FC236}">
                <a16:creationId xmlns:a16="http://schemas.microsoft.com/office/drawing/2014/main" id="{8EEA662F-B803-411D-8379-69C7B64A759F}"/>
              </a:ext>
            </a:extLst>
          </p:cNvPr>
          <p:cNvSpPr>
            <a:spLocks xmlns:a="http://schemas.openxmlformats.org/drawingml/2006/main" noGrp="1"/>
          </p:cNvSpPr>
          <p:nvPr/>
        </p:nvSpPr>
        <p:spPr>
          <a:xfrm xmlns:a="http://schemas.openxmlformats.org/drawingml/2006/main">
            <a:off x="904875" y="2571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CALLING</a:t>
            </a:r>
          </a:p>
        </p:txBody>
      </p:sp>
      <p:sp>
        <p:nvSpPr>
          <p:cNvPr id="4" name="">
            <a:extLst xmlns:a="http://schemas.openxmlformats.org/drawingml/2006/main">
              <a:ext uri="{FF2B5EF4-FFF2-40B4-BE49-F238E27FC236}">
                <a16:creationId xmlns:a16="http://schemas.microsoft.com/office/drawing/2014/main" id="{39D7CCDC-AEB3-4013-97EB-A86F44CA3966}"/>
              </a:ext>
            </a:extLst>
          </p:cNvPr>
          <p:cNvSpPr>
            <a:spLocks xmlns:a="http://schemas.openxmlformats.org/drawingml/2006/main" noGrp="1"/>
          </p:cNvSpPr>
          <p:nvPr/>
        </p:nvSpPr>
        <p:spPr>
          <a:xfrm xmlns:a="http://schemas.openxmlformats.org/drawingml/2006/main">
            <a:off x="885825" y="31527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0F4F7"/>
                </a:solidFill>
                <a:latin typeface="Helvetica Neue"/>
                <a:ea typeface="Helvetica Neue"/>
                <a:cs typeface="Helvetica Neue"/>
              </a:defRPr>
            </a:pPr>
            <a:r>
              <a:rPr sz="3900" b="1">
                <a:solidFill>
                  <a:srgbClr val="F0F4F7"/>
                </a:solidFill>
                <a:latin typeface="Helvetica Neue"/>
                <a:ea typeface="Helvetica Neue"/>
                <a:cs typeface="Helvetica Neue"/>
              </a:rPr>
              <a:t>Sent</a:t>
            </a:r>
          </a:p>
        </p:txBody>
      </p:sp>
      <p:sp>
        <p:nvSpPr>
          <p:cNvPr id="5" name="">
            <a:extLst xmlns:a="http://schemas.openxmlformats.org/drawingml/2006/main">
              <a:ext uri="{FF2B5EF4-FFF2-40B4-BE49-F238E27FC236}">
                <a16:creationId xmlns:a16="http://schemas.microsoft.com/office/drawing/2014/main" id="{3A45038C-6112-4EE3-932F-00F2A1074921}"/>
              </a:ext>
            </a:extLst>
          </p:cNvPr>
          <p:cNvSpPr>
            <a:spLocks xmlns:a="http://schemas.openxmlformats.org/drawingml/2006/main" noGrp="1"/>
          </p:cNvSpPr>
          <p:nvPr/>
        </p:nvSpPr>
        <p:spPr>
          <a:xfrm xmlns:a="http://schemas.openxmlformats.org/drawingml/2006/main">
            <a:off x="904875" y="3886200"/>
            <a:ext cx="276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Waiting for a reply</a:t>
            </a:r>
          </a:p>
        </p:txBody>
      </p:sp>
      <p:sp>
        <p:nvSpPr>
          <p:cNvPr id="6" name="">
            <a:extLst xmlns:a="http://schemas.openxmlformats.org/drawingml/2006/main">
              <a:ext uri="{FF2B5EF4-FFF2-40B4-BE49-F238E27FC236}">
                <a16:creationId xmlns:a16="http://schemas.microsoft.com/office/drawing/2014/main" id="{2F2D16EB-1F10-41E5-A8F2-B91E15D4F558}"/>
              </a:ext>
            </a:extLst>
          </p:cNvPr>
          <p:cNvSpPr>
            <a:spLocks xmlns:a="http://schemas.openxmlformats.org/drawingml/2006/main" noGrp="1"/>
          </p:cNvSpPr>
          <p:nvPr/>
        </p:nvSpPr>
        <p:spPr>
          <a:xfrm xmlns:a="http://schemas.openxmlformats.org/drawingml/2006/main">
            <a:off x="904875" y="44386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C4D4"/>
                </a:solidFill>
                <a:latin typeface="Helvetica Neue"/>
                <a:ea typeface="Helvetica Neue"/>
                <a:cs typeface="Helvetica Neue"/>
              </a:defRPr>
            </a:pPr>
            <a:r>
              <a:rPr sz="1275" b="0">
                <a:solidFill>
                  <a:srgbClr val="B0C4D4"/>
                </a:solidFill>
                <a:latin typeface="Helvetica Neue"/>
                <a:ea typeface="Helvetica Neue"/>
                <a:cs typeface="Helvetica Neue"/>
              </a:rPr>
              <a:t>Caller display</a:t>
            </a:r>
          </a:p>
        </p:txBody>
      </p:sp>
      <p:sp>
        <p:nvSpPr>
          <p:cNvPr id="7" name="">
            <a:extLst xmlns:a="http://schemas.openxmlformats.org/drawingml/2006/main">
              <a:ext uri="{FF2B5EF4-FFF2-40B4-BE49-F238E27FC236}">
                <a16:creationId xmlns:a16="http://schemas.microsoft.com/office/drawing/2014/main" id="{A27FE2B6-81D5-436C-BE95-9FAA6FFAF179}"/>
              </a:ext>
            </a:extLst>
          </p:cNvPr>
          <p:cNvSpPr>
            <a:spLocks xmlns:a="http://schemas.openxmlformats.org/drawingml/2006/main" noGrp="1"/>
          </p:cNvSpPr>
          <p:nvPr/>
        </p:nvSpPr>
        <p:spPr>
          <a:xfrm xmlns:a="http://schemas.openxmlformats.org/drawingml/2006/main">
            <a:off x="4533900" y="2381250"/>
            <a:ext cx="3143250" cy="23622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8" name="">
            <a:extLst xmlns:a="http://schemas.openxmlformats.org/drawingml/2006/main">
              <a:ext uri="{FF2B5EF4-FFF2-40B4-BE49-F238E27FC236}">
                <a16:creationId xmlns:a16="http://schemas.microsoft.com/office/drawing/2014/main" id="{D352BFB2-5A75-4DC2-94E2-C4E58322F051}"/>
              </a:ext>
            </a:extLst>
          </p:cNvPr>
          <p:cNvSpPr>
            <a:spLocks xmlns:a="http://schemas.openxmlformats.org/drawingml/2006/main" noGrp="1"/>
          </p:cNvSpPr>
          <p:nvPr/>
        </p:nvSpPr>
        <p:spPr>
          <a:xfrm xmlns:a="http://schemas.openxmlformats.org/drawingml/2006/main">
            <a:off x="4724400" y="2571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DEVICE REPLIED</a:t>
            </a:r>
          </a:p>
        </p:txBody>
      </p:sp>
      <p:sp>
        <p:nvSpPr>
          <p:cNvPr id="9" name="">
            <a:extLst xmlns:a="http://schemas.openxmlformats.org/drawingml/2006/main">
              <a:ext uri="{FF2B5EF4-FFF2-40B4-BE49-F238E27FC236}">
                <a16:creationId xmlns:a16="http://schemas.microsoft.com/office/drawing/2014/main" id="{FEA93D2B-29B2-45E2-98EB-32BCFBB4D948}"/>
              </a:ext>
            </a:extLst>
          </p:cNvPr>
          <p:cNvSpPr>
            <a:spLocks xmlns:a="http://schemas.openxmlformats.org/drawingml/2006/main" noGrp="1"/>
          </p:cNvSpPr>
          <p:nvPr/>
        </p:nvSpPr>
        <p:spPr>
          <a:xfrm xmlns:a="http://schemas.openxmlformats.org/drawingml/2006/main">
            <a:off x="4705350" y="31527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0F4F7"/>
                </a:solidFill>
                <a:latin typeface="Helvetica Neue"/>
                <a:ea typeface="Helvetica Neue"/>
                <a:cs typeface="Helvetica Neue"/>
              </a:defRPr>
            </a:pPr>
            <a:r>
              <a:rPr sz="2625" b="1">
                <a:solidFill>
                  <a:srgbClr val="F0F4F7"/>
                </a:solidFill>
                <a:latin typeface="Helvetica Neue"/>
                <a:ea typeface="Helvetica Neue"/>
                <a:cs typeface="Helvetica Neue"/>
              </a:rPr>
              <a:t>Received</a:t>
            </a:r>
          </a:p>
        </p:txBody>
      </p:sp>
      <p:sp>
        <p:nvSpPr>
          <p:cNvPr id="10" name="">
            <a:extLst xmlns:a="http://schemas.openxmlformats.org/drawingml/2006/main">
              <a:ext uri="{FF2B5EF4-FFF2-40B4-BE49-F238E27FC236}">
                <a16:creationId xmlns:a16="http://schemas.microsoft.com/office/drawing/2014/main" id="{771B61D8-9ADA-4AD8-8254-E28E437B13CA}"/>
              </a:ext>
            </a:extLst>
          </p:cNvPr>
          <p:cNvSpPr>
            <a:spLocks xmlns:a="http://schemas.openxmlformats.org/drawingml/2006/main" noGrp="1"/>
          </p:cNvSpPr>
          <p:nvPr/>
        </p:nvSpPr>
        <p:spPr>
          <a:xfrm xmlns:a="http://schemas.openxmlformats.org/drawingml/2006/main">
            <a:off x="4724400" y="3886200"/>
            <a:ext cx="276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The paired band replied</a:t>
            </a:r>
          </a:p>
        </p:txBody>
      </p:sp>
      <p:sp>
        <p:nvSpPr>
          <p:cNvPr id="11" name="">
            <a:extLst xmlns:a="http://schemas.openxmlformats.org/drawingml/2006/main">
              <a:ext uri="{FF2B5EF4-FFF2-40B4-BE49-F238E27FC236}">
                <a16:creationId xmlns:a16="http://schemas.microsoft.com/office/drawing/2014/main" id="{1D72C252-9C0B-435B-946F-6AFFF35D8794}"/>
              </a:ext>
            </a:extLst>
          </p:cNvPr>
          <p:cNvSpPr>
            <a:spLocks xmlns:a="http://schemas.openxmlformats.org/drawingml/2006/main" noGrp="1"/>
          </p:cNvSpPr>
          <p:nvPr/>
        </p:nvSpPr>
        <p:spPr>
          <a:xfrm xmlns:a="http://schemas.openxmlformats.org/drawingml/2006/main">
            <a:off x="4724400" y="44386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C4D4"/>
                </a:solidFill>
                <a:latin typeface="Helvetica Neue"/>
                <a:ea typeface="Helvetica Neue"/>
                <a:cs typeface="Helvetica Neue"/>
              </a:defRPr>
            </a:pPr>
            <a:r>
              <a:rPr sz="1275" b="0">
                <a:solidFill>
                  <a:srgbClr val="B0C4D4"/>
                </a:solidFill>
                <a:latin typeface="Helvetica Neue"/>
                <a:ea typeface="Helvetica Neue"/>
                <a:cs typeface="Helvetica Neue"/>
              </a:rPr>
              <a:t>Caller display</a:t>
            </a:r>
          </a:p>
        </p:txBody>
      </p:sp>
      <p:sp>
        <p:nvSpPr>
          <p:cNvPr id="12" name="">
            <a:extLst xmlns:a="http://schemas.openxmlformats.org/drawingml/2006/main">
              <a:ext uri="{FF2B5EF4-FFF2-40B4-BE49-F238E27FC236}">
                <a16:creationId xmlns:a16="http://schemas.microsoft.com/office/drawing/2014/main" id="{E0EE51D3-50D7-49DA-999B-758205E8F53A}"/>
              </a:ext>
            </a:extLst>
          </p:cNvPr>
          <p:cNvSpPr>
            <a:spLocks xmlns:a="http://schemas.openxmlformats.org/drawingml/2006/main" noGrp="1"/>
          </p:cNvSpPr>
          <p:nvPr/>
        </p:nvSpPr>
        <p:spPr>
          <a:xfrm xmlns:a="http://schemas.openxmlformats.org/drawingml/2006/main">
            <a:off x="8353425" y="2381250"/>
            <a:ext cx="3143250" cy="23622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13" name="">
            <a:extLst xmlns:a="http://schemas.openxmlformats.org/drawingml/2006/main">
              <a:ext uri="{FF2B5EF4-FFF2-40B4-BE49-F238E27FC236}">
                <a16:creationId xmlns:a16="http://schemas.microsoft.com/office/drawing/2014/main" id="{A8C7768F-3D7A-47A5-9DA1-3B9B411FB6EE}"/>
              </a:ext>
            </a:extLst>
          </p:cNvPr>
          <p:cNvSpPr>
            <a:spLocks xmlns:a="http://schemas.openxmlformats.org/drawingml/2006/main" noGrp="1"/>
          </p:cNvSpPr>
          <p:nvPr/>
        </p:nvSpPr>
        <p:spPr>
          <a:xfrm xmlns:a="http://schemas.openxmlformats.org/drawingml/2006/main">
            <a:off x="8543925" y="2571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PERSON RESPONDED</a:t>
            </a:r>
          </a:p>
        </p:txBody>
      </p:sp>
      <p:sp>
        <p:nvSpPr>
          <p:cNvPr id="14" name="">
            <a:extLst xmlns:a="http://schemas.openxmlformats.org/drawingml/2006/main">
              <a:ext uri="{FF2B5EF4-FFF2-40B4-BE49-F238E27FC236}">
                <a16:creationId xmlns:a16="http://schemas.microsoft.com/office/drawing/2014/main" id="{926EA1F3-3964-416A-B6AE-C6B81E62C9A5}"/>
              </a:ext>
            </a:extLst>
          </p:cNvPr>
          <p:cNvSpPr>
            <a:spLocks xmlns:a="http://schemas.openxmlformats.org/drawingml/2006/main" noGrp="1"/>
          </p:cNvSpPr>
          <p:nvPr/>
        </p:nvSpPr>
        <p:spPr>
          <a:xfrm xmlns:a="http://schemas.openxmlformats.org/drawingml/2006/main">
            <a:off x="8524875" y="31527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0F4F7"/>
                </a:solidFill>
                <a:latin typeface="Helvetica Neue"/>
                <a:ea typeface="Helvetica Neue"/>
                <a:cs typeface="Helvetica Neue"/>
              </a:defRPr>
            </a:pPr>
            <a:r>
              <a:rPr sz="2100" b="1">
                <a:solidFill>
                  <a:srgbClr val="F0F4F7"/>
                </a:solidFill>
                <a:latin typeface="Helvetica Neue"/>
                <a:ea typeface="Helvetica Neue"/>
                <a:cs typeface="Helvetica Neue"/>
              </a:rPr>
              <a:t>Acknowledged</a:t>
            </a:r>
          </a:p>
        </p:txBody>
      </p:sp>
      <p:sp>
        <p:nvSpPr>
          <p:cNvPr id="15" name="">
            <a:extLst xmlns:a="http://schemas.openxmlformats.org/drawingml/2006/main">
              <a:ext uri="{FF2B5EF4-FFF2-40B4-BE49-F238E27FC236}">
                <a16:creationId xmlns:a16="http://schemas.microsoft.com/office/drawing/2014/main" id="{D899E843-AD3B-4A99-99EC-4BC5427D4729}"/>
              </a:ext>
            </a:extLst>
          </p:cNvPr>
          <p:cNvSpPr>
            <a:spLocks xmlns:a="http://schemas.openxmlformats.org/drawingml/2006/main" noGrp="1"/>
          </p:cNvSpPr>
          <p:nvPr/>
        </p:nvSpPr>
        <p:spPr>
          <a:xfrm xmlns:a="http://schemas.openxmlformats.org/drawingml/2006/main">
            <a:off x="8543925" y="3886200"/>
            <a:ext cx="276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The buddy pressed once</a:t>
            </a:r>
          </a:p>
        </p:txBody>
      </p:sp>
      <p:sp>
        <p:nvSpPr>
          <p:cNvPr id="16" name="">
            <a:extLst xmlns:a="http://schemas.openxmlformats.org/drawingml/2006/main">
              <a:ext uri="{FF2B5EF4-FFF2-40B4-BE49-F238E27FC236}">
                <a16:creationId xmlns:a16="http://schemas.microsoft.com/office/drawing/2014/main" id="{FF95D2BF-DDF1-488D-8067-D79F13FCFD08}"/>
              </a:ext>
            </a:extLst>
          </p:cNvPr>
          <p:cNvSpPr>
            <a:spLocks xmlns:a="http://schemas.openxmlformats.org/drawingml/2006/main" noGrp="1"/>
          </p:cNvSpPr>
          <p:nvPr/>
        </p:nvSpPr>
        <p:spPr>
          <a:xfrm xmlns:a="http://schemas.openxmlformats.org/drawingml/2006/main">
            <a:off x="8543925" y="44386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C4D4"/>
                </a:solidFill>
                <a:latin typeface="Helvetica Neue"/>
                <a:ea typeface="Helvetica Neue"/>
                <a:cs typeface="Helvetica Neue"/>
              </a:defRPr>
            </a:pPr>
            <a:r>
              <a:rPr sz="1275" b="0">
                <a:solidFill>
                  <a:srgbClr val="B0C4D4"/>
                </a:solidFill>
                <a:latin typeface="Helvetica Neue"/>
                <a:ea typeface="Helvetica Neue"/>
                <a:cs typeface="Helvetica Neue"/>
              </a:rPr>
              <a:t>Caller display</a:t>
            </a:r>
          </a:p>
        </p:txBody>
      </p:sp>
      <p:sp>
        <p:nvSpPr>
          <p:cNvPr id="17" name="">
            <a:extLst xmlns:a="http://schemas.openxmlformats.org/drawingml/2006/main">
              <a:ext uri="{FF2B5EF4-FFF2-40B4-BE49-F238E27FC236}">
                <a16:creationId xmlns:a16="http://schemas.microsoft.com/office/drawing/2014/main" id="{E7495408-A6B3-48B2-B469-FE2DDFCBFF19}"/>
              </a:ext>
            </a:extLst>
          </p:cNvPr>
          <p:cNvSpPr>
            <a:spLocks xmlns:a="http://schemas.openxmlformats.org/drawingml/2006/main" noGrp="1"/>
          </p:cNvSpPr>
          <p:nvPr/>
        </p:nvSpPr>
        <p:spPr>
          <a:xfrm xmlns:a="http://schemas.openxmlformats.org/drawingml/2006/main">
            <a:off x="752475" y="52863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0F4F7"/>
                </a:solidFill>
                <a:latin typeface="Helvetica Neue"/>
                <a:ea typeface="Helvetica Neue"/>
                <a:cs typeface="Helvetica Neue"/>
              </a:defRPr>
            </a:pPr>
            <a:r>
              <a:rPr sz="2400" b="0">
                <a:solidFill>
                  <a:srgbClr val="F0F4F7"/>
                </a:solidFill>
                <a:latin typeface="Helvetica Neue"/>
                <a:ea typeface="Helvetica Neue"/>
                <a:cs typeface="Helvetica Neue"/>
              </a:rPr>
              <a:t>Device receipt and a human acknowledgement</a:t>
            </a:r>
          </a:p>
          <a:p xmlns:a="http://schemas.openxmlformats.org/drawingml/2006/main">
            <a:pPr>
              <a:defRPr sz="2400" b="0">
                <a:solidFill>
                  <a:srgbClr val="F0F4F7"/>
                </a:solidFill>
                <a:latin typeface="Helvetica Neue"/>
                <a:ea typeface="Helvetica Neue"/>
                <a:cs typeface="Helvetica Neue"/>
              </a:defRPr>
            </a:pPr>
            <a:r>
              <a:rPr sz="2400" b="0">
                <a:solidFill>
                  <a:srgbClr val="F0F4F7"/>
                </a:solidFill>
                <a:latin typeface="Helvetica Neue"/>
                <a:ea typeface="Helvetica Neue"/>
                <a:cs typeface="Helvetica Neue"/>
              </a:rPr>
              <a:t>remain separate states.</a:t>
            </a:r>
          </a:p>
        </p:txBody>
      </p:sp>
      <p:sp>
        <p:nvSpPr>
          <p:cNvPr id="18" name="">
            <a:extLst xmlns:a="http://schemas.openxmlformats.org/drawingml/2006/main">
              <a:ext uri="{FF2B5EF4-FFF2-40B4-BE49-F238E27FC236}">
                <a16:creationId xmlns:a16="http://schemas.microsoft.com/office/drawing/2014/main" id="{04F4628A-7FCB-4B2C-887E-9DA80D05D075}"/>
              </a:ext>
            </a:extLst>
          </p:cNvPr>
          <p:cNvSpPr>
            <a:spLocks xmlns:a="http://schemas.openxmlformats.org/drawingml/2006/main" noGrp="1"/>
          </p:cNvSpPr>
          <p:nvPr/>
        </p:nvSpPr>
        <p:spPr>
          <a:xfrm xmlns:a="http://schemas.openxmlformats.org/drawingml/2006/main">
            <a:off x="752475" y="63627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Proposed interaction · synthetic screen states</a:t>
            </a:r>
          </a:p>
        </p:txBody>
      </p:sp>
    </p:spTree>
    <p:extLst>
      <p:ext uri="{BB962C8B-B14F-4D97-AF65-F5344CB8AC3E}">
        <p14:creationId xmlns:p14="http://schemas.microsoft.com/office/powerpoint/2010/main" val="36497498"/>
      </p:ext>
    </p:extLst>
  </p:cSld>
</p:sld>
</file>

<file path=ppt/slides/slide5.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232F80-084A-4408-948D-FF1C8B3BD081}"/>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Distance gains context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b58983700114535"/>
          <a:stretch xmlns:a="http://schemas.openxmlformats.org/drawingml/2006/main"/>
        </p:blipFill>
        <p:spPr>
          <a:xfrm xmlns:a="http://schemas.openxmlformats.org/drawingml/2006/main">
            <a:off x="1123091" y="1943100"/>
            <a:ext cx="3802193" cy="3810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96364047ad944ce"/>
          <a:stretch xmlns:a="http://schemas.openxmlformats.org/drawingml/2006/main"/>
        </p:blipFill>
        <p:spPr>
          <a:xfrm xmlns:a="http://schemas.openxmlformats.org/drawingml/2006/main">
            <a:off x="7266716" y="1943100"/>
            <a:ext cx="3802193" cy="3810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1D2A665-7B0F-4D15-9D43-BADD4A5EFA9D}"/>
              </a:ext>
            </a:extLst>
          </p:cNvPr>
          <p:cNvSpPr>
            <a:spLocks xmlns:a="http://schemas.openxmlformats.org/drawingml/2006/main" noGrp="1"/>
          </p:cNvSpPr>
          <p:nvPr/>
        </p:nvSpPr>
        <p:spPr>
          <a:xfrm xmlns:a="http://schemas.openxmlformats.org/drawingml/2006/main">
            <a:off x="781050" y="60293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9BD8E6"/>
                </a:solidFill>
                <a:latin typeface="Helvetica Neue"/>
                <a:ea typeface="Helvetica Neue"/>
                <a:cs typeface="Helvetica Neue"/>
              </a:defRPr>
            </a:pPr>
            <a:r>
              <a:rPr sz="2025" b="1">
                <a:solidFill>
                  <a:srgbClr val="9BD8E6"/>
                </a:solidFill>
                <a:latin typeface="Helvetica Neue"/>
                <a:ea typeface="Helvetica Neue"/>
                <a:cs typeface="Helvetica Neue"/>
              </a:rPr>
              <a:t>Bearing + relative depth</a:t>
            </a:r>
          </a:p>
        </p:txBody>
      </p:sp>
      <p:sp>
        <p:nvSpPr>
          <p:cNvPr id="5" name="">
            <a:extLst xmlns:a="http://schemas.openxmlformats.org/drawingml/2006/main">
              <a:ext uri="{FF2B5EF4-FFF2-40B4-BE49-F238E27FC236}">
                <a16:creationId xmlns:a16="http://schemas.microsoft.com/office/drawing/2014/main" id="{5507A6CD-D034-4067-A629-84FD76620225}"/>
              </a:ext>
            </a:extLst>
          </p:cNvPr>
          <p:cNvSpPr>
            <a:spLocks xmlns:a="http://schemas.openxmlformats.org/drawingml/2006/main" noGrp="1"/>
          </p:cNvSpPr>
          <p:nvPr/>
        </p:nvSpPr>
        <p:spPr>
          <a:xfrm xmlns:a="http://schemas.openxmlformats.org/drawingml/2006/main">
            <a:off x="6962775" y="60293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9BD8E6"/>
                </a:solidFill>
                <a:latin typeface="Helvetica Neue"/>
                <a:ea typeface="Helvetica Neue"/>
                <a:cs typeface="Helvetica Neue"/>
              </a:defRPr>
            </a:pPr>
            <a:r>
              <a:rPr sz="2025" b="1">
                <a:solidFill>
                  <a:srgbClr val="9BD8E6"/>
                </a:solidFill>
                <a:latin typeface="Helvetica Neue"/>
                <a:ea typeface="Helvetica Neue"/>
                <a:cs typeface="Helvetica Neue"/>
              </a:rPr>
              <a:t>Both divers, on one grid</a:t>
            </a:r>
          </a:p>
        </p:txBody>
      </p:sp>
    </p:spTree>
    <p:extLst>
      <p:ext uri="{BB962C8B-B14F-4D97-AF65-F5344CB8AC3E}">
        <p14:creationId xmlns:p14="http://schemas.microsoft.com/office/powerpoint/2010/main" val="1179814421"/>
      </p:ext>
    </p:extLst>
  </p:cSld>
</p:sld>
</file>

<file path=ppt/slides/slide6.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AF8FBE-5217-4AB0-8A34-93BD5E986893}"/>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Time, depth and movement.</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Each in its own place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cd1e4f8ab384ff1"/>
          <a:stretch xmlns:a="http://schemas.openxmlformats.org/drawingml/2006/main"/>
        </p:blipFill>
        <p:spPr>
          <a:xfrm xmlns:a="http://schemas.openxmlformats.org/drawingml/2006/main">
            <a:off x="1060984" y="2133600"/>
            <a:ext cx="3612083" cy="3619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CFE3B6-1EE9-4119-9206-41F7698E52CD}"/>
              </a:ext>
            </a:extLst>
          </p:cNvPr>
          <p:cNvSpPr>
            <a:spLocks xmlns:a="http://schemas.openxmlformats.org/drawingml/2006/main" noGrp="1"/>
          </p:cNvSpPr>
          <p:nvPr/>
        </p:nvSpPr>
        <p:spPr>
          <a:xfrm xmlns:a="http://schemas.openxmlformats.org/drawingml/2006/main">
            <a:off x="6086475" y="2333625"/>
            <a:ext cx="53816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Elapsed dive time. Own depth.</a:t>
            </a:r>
          </a:p>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Both divers’ horizontal speed.</a:t>
            </a:r>
          </a:p>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Both divers’ vertical rate.</a:t>
            </a:r>
          </a:p>
        </p:txBody>
      </p:sp>
      <p:sp>
        <p:nvSpPr>
          <p:cNvPr id="4" name="">
            <a:extLst xmlns:a="http://schemas.openxmlformats.org/drawingml/2006/main">
              <a:ext uri="{FF2B5EF4-FFF2-40B4-BE49-F238E27FC236}">
                <a16:creationId xmlns:a16="http://schemas.microsoft.com/office/drawing/2014/main" id="{BD5315BB-9212-4731-8B26-A5035904644E}"/>
              </a:ext>
            </a:extLst>
          </p:cNvPr>
          <p:cNvSpPr>
            <a:spLocks xmlns:a="http://schemas.openxmlformats.org/drawingml/2006/main" noGrp="1"/>
          </p:cNvSpPr>
          <p:nvPr/>
        </p:nvSpPr>
        <p:spPr>
          <a:xfrm xmlns:a="http://schemas.openxmlformats.org/drawingml/2006/main">
            <a:off x="6115050" y="4810125"/>
            <a:ext cx="53625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BD8E6"/>
                </a:solidFill>
                <a:latin typeface="Helvetica Neue"/>
                <a:ea typeface="Helvetica Neue"/>
                <a:cs typeface="Helvetica Neue"/>
              </a:defRPr>
            </a:pPr>
            <a:r>
              <a:rPr sz="2175" b="1">
                <a:solidFill>
                  <a:srgbClr val="9BD8E6"/>
                </a:solidFill>
                <a:latin typeface="Helvetica Neue"/>
                <a:ea typeface="Helvetica Neue"/>
                <a:cs typeface="Helvetica Neue"/>
              </a:rPr>
              <a:t>Reference-relative motion and</a:t>
            </a:r>
          </a:p>
          <a:p xmlns:a="http://schemas.openxmlformats.org/drawingml/2006/main">
            <a:pPr>
              <a:defRPr sz="2175" b="1">
                <a:solidFill>
                  <a:srgbClr val="9BD8E6"/>
                </a:solidFill>
                <a:latin typeface="Helvetica Neue"/>
                <a:ea typeface="Helvetica Neue"/>
                <a:cs typeface="Helvetica Neue"/>
              </a:defRPr>
            </a:pPr>
            <a:r>
              <a:rPr sz="2175" b="1">
                <a:solidFill>
                  <a:srgbClr val="9BD8E6"/>
                </a:solidFill>
                <a:latin typeface="Helvetica Neue"/>
                <a:ea typeface="Helvetica Neue"/>
                <a:cs typeface="Helvetica Neue"/>
              </a:rPr>
              <a:t>depth change are different measures.</a:t>
            </a:r>
          </a:p>
        </p:txBody>
      </p:sp>
      <p:sp>
        <p:nvSpPr>
          <p:cNvPr id="5" name="">
            <a:extLst xmlns:a="http://schemas.openxmlformats.org/drawingml/2006/main">
              <a:ext uri="{FF2B5EF4-FFF2-40B4-BE49-F238E27FC236}">
                <a16:creationId xmlns:a16="http://schemas.microsoft.com/office/drawing/2014/main" id="{F495EE4C-5D41-47EE-A8D2-B1C0752F51E8}"/>
              </a:ext>
            </a:extLst>
          </p:cNvPr>
          <p:cNvSpPr>
            <a:spLocks xmlns:a="http://schemas.openxmlformats.org/drawingml/2006/main" noGrp="1"/>
          </p:cNvSpPr>
          <p:nvPr/>
        </p:nvSpPr>
        <p:spPr>
          <a:xfrm xmlns:a="http://schemas.openxmlformats.org/drawingml/2006/main">
            <a:off x="752475" y="63436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0C4D4"/>
                </a:solidFill>
                <a:latin typeface="Helvetica Neue"/>
                <a:ea typeface="Helvetica Neue"/>
                <a:cs typeface="Helvetica Neue"/>
              </a:defRPr>
            </a:pPr>
            <a:r>
              <a:rPr sz="1575" b="0">
                <a:solidFill>
                  <a:srgbClr val="B0C4D4"/>
                </a:solidFill>
                <a:latin typeface="Helvetica Neue"/>
                <a:ea typeface="Helvetica Neue"/>
                <a:cs typeface="Helvetica Neue"/>
              </a:rPr>
              <a:t>Proposed information display. No decompression or ascent-limit calculation.</a:t>
            </a:r>
          </a:p>
        </p:txBody>
      </p:sp>
    </p:spTree>
    <p:extLst>
      <p:ext uri="{BB962C8B-B14F-4D97-AF65-F5344CB8AC3E}">
        <p14:creationId xmlns:p14="http://schemas.microsoft.com/office/powerpoint/2010/main" val="615664577"/>
      </p:ext>
    </p:extLst>
  </p:cSld>
</p:sld>
</file>

<file path=ppt/slides/slide7.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C92F95-26B3-4B6C-90F9-7272A98DF6C0}"/>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Direction needs</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a shared reference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11da4a295a3478a"/>
          <a:stretch xmlns:a="http://schemas.openxmlformats.org/drawingml/2006/main"/>
        </p:blipFill>
        <p:spPr>
          <a:xfrm xmlns:a="http://schemas.openxmlformats.org/drawingml/2006/main">
            <a:off x="1036888" y="2238375"/>
            <a:ext cx="3336424" cy="33432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07AD160-760C-47E8-95A3-FF7ADA6EEB12}"/>
              </a:ext>
            </a:extLst>
          </p:cNvPr>
          <p:cNvSpPr>
            <a:spLocks xmlns:a="http://schemas.openxmlformats.org/drawingml/2006/main" noGrp="1"/>
          </p:cNvSpPr>
          <p:nvPr/>
        </p:nvSpPr>
        <p:spPr>
          <a:xfrm xmlns:a="http://schemas.openxmlformats.org/drawingml/2006/main">
            <a:off x="5810250" y="2152650"/>
            <a:ext cx="5743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BD8E6"/>
                </a:solidFill>
                <a:latin typeface="Helvetica Neue"/>
                <a:ea typeface="Helvetica Neue"/>
                <a:cs typeface="Helvetica Neue"/>
              </a:defRPr>
            </a:pPr>
            <a:r>
              <a:rPr sz="2325" b="1">
                <a:solidFill>
                  <a:srgbClr val="9BD8E6"/>
                </a:solidFill>
                <a:latin typeface="Helvetica Neue"/>
                <a:ea typeface="Helvetica Neue"/>
                <a:cs typeface="Helvetica Neue"/>
              </a:rPr>
              <a:t>Boat-associated acoustic array</a:t>
            </a:r>
          </a:p>
        </p:txBody>
      </p:sp>
      <p:sp>
        <p:nvSpPr>
          <p:cNvPr id="4" name="">
            <a:extLst xmlns:a="http://schemas.openxmlformats.org/drawingml/2006/main">
              <a:ext uri="{FF2B5EF4-FFF2-40B4-BE49-F238E27FC236}">
                <a16:creationId xmlns:a16="http://schemas.microsoft.com/office/drawing/2014/main" id="{161B6C87-2582-47E2-92B2-A51B9078D4B6}"/>
              </a:ext>
            </a:extLst>
          </p:cNvPr>
          <p:cNvSpPr>
            <a:spLocks xmlns:a="http://schemas.openxmlformats.org/drawingml/2006/main" noGrp="1"/>
          </p:cNvSpPr>
          <p:nvPr/>
        </p:nvSpPr>
        <p:spPr>
          <a:xfrm xmlns:a="http://schemas.openxmlformats.org/drawingml/2006/main">
            <a:off x="5810250" y="2933700"/>
            <a:ext cx="5743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Shared positions for both bands</a:t>
            </a:r>
          </a:p>
        </p:txBody>
      </p:sp>
      <p:sp>
        <p:nvSpPr>
          <p:cNvPr id="5" name="">
            <a:extLst xmlns:a="http://schemas.openxmlformats.org/drawingml/2006/main">
              <a:ext uri="{FF2B5EF4-FFF2-40B4-BE49-F238E27FC236}">
                <a16:creationId xmlns:a16="http://schemas.microsoft.com/office/drawing/2014/main" id="{627EE184-6178-4B71-A14D-A2D366667C28}"/>
              </a:ext>
            </a:extLst>
          </p:cNvPr>
          <p:cNvSpPr>
            <a:spLocks xmlns:a="http://schemas.openxmlformats.org/drawingml/2006/main" noGrp="1"/>
          </p:cNvSpPr>
          <p:nvPr/>
        </p:nvSpPr>
        <p:spPr>
          <a:xfrm xmlns:a="http://schemas.openxmlformats.org/drawingml/2006/main">
            <a:off x="5810250" y="3705225"/>
            <a:ext cx="5743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BD8E6"/>
                </a:solidFill>
                <a:latin typeface="Helvetica Neue"/>
                <a:ea typeface="Helvetica Neue"/>
                <a:cs typeface="Helvetica Neue"/>
              </a:defRPr>
            </a:pPr>
            <a:r>
              <a:rPr sz="2325" b="1">
                <a:solidFill>
                  <a:srgbClr val="9BD8E6"/>
                </a:solidFill>
                <a:latin typeface="Helvetica Neue"/>
                <a:ea typeface="Helvetica Neue"/>
                <a:cs typeface="Helvetica Neue"/>
              </a:rPr>
              <a:t>Band depth + wrist heading</a:t>
            </a:r>
          </a:p>
        </p:txBody>
      </p:sp>
      <p:sp>
        <p:nvSpPr>
          <p:cNvPr id="6" name="">
            <a:extLst xmlns:a="http://schemas.openxmlformats.org/drawingml/2006/main">
              <a:ext uri="{FF2B5EF4-FFF2-40B4-BE49-F238E27FC236}">
                <a16:creationId xmlns:a16="http://schemas.microsoft.com/office/drawing/2014/main" id="{3CFC55FF-CDE9-4B0B-BC25-CB3A2DBB15CE}"/>
              </a:ext>
            </a:extLst>
          </p:cNvPr>
          <p:cNvSpPr>
            <a:spLocks xmlns:a="http://schemas.openxmlformats.org/drawingml/2006/main" noGrp="1"/>
          </p:cNvSpPr>
          <p:nvPr/>
        </p:nvSpPr>
        <p:spPr>
          <a:xfrm xmlns:a="http://schemas.openxmlformats.org/drawingml/2006/main">
            <a:off x="5810250" y="4486275"/>
            <a:ext cx="57435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7"/>
                </a:solidFill>
                <a:latin typeface="Helvetica Neue"/>
                <a:ea typeface="Helvetica Neue"/>
                <a:cs typeface="Helvetica Neue"/>
              </a:defRPr>
            </a:pPr>
            <a:r>
              <a:rPr sz="2100" b="0">
                <a:solidFill>
                  <a:srgbClr val="F0F4F7"/>
                </a:solidFill>
                <a:latin typeface="Helvetica Neue"/>
                <a:ea typeface="Helvetica Neue"/>
                <a:cs typeface="Helvetica Neue"/>
              </a:rPr>
              <a:t>Vertical context + display orientation</a:t>
            </a:r>
          </a:p>
        </p:txBody>
      </p:sp>
      <p:sp>
        <p:nvSpPr>
          <p:cNvPr id="7" name="">
            <a:extLst xmlns:a="http://schemas.openxmlformats.org/drawingml/2006/main">
              <a:ext uri="{FF2B5EF4-FFF2-40B4-BE49-F238E27FC236}">
                <a16:creationId xmlns:a16="http://schemas.microsoft.com/office/drawing/2014/main" id="{1D7B99E6-494B-4DAC-8386-616B74BA5A4C}"/>
              </a:ext>
            </a:extLst>
          </p:cNvPr>
          <p:cNvSpPr>
            <a:spLocks xmlns:a="http://schemas.openxmlformats.org/drawingml/2006/main" noGrp="1"/>
          </p:cNvSpPr>
          <p:nvPr/>
        </p:nvSpPr>
        <p:spPr>
          <a:xfrm xmlns:a="http://schemas.openxmlformats.org/drawingml/2006/main">
            <a:off x="752475" y="62388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0C4D4"/>
                </a:solidFill>
                <a:latin typeface="Helvetica Neue"/>
                <a:ea typeface="Helvetica Neue"/>
                <a:cs typeface="Helvetica Neue"/>
              </a:defRPr>
            </a:pPr>
            <a:r>
              <a:rPr sz="1725" b="0">
                <a:solidFill>
                  <a:srgbClr val="B0C4D4"/>
                </a:solidFill>
                <a:latin typeface="Helvetica Neue"/>
                <a:ea typeface="Helvetica Neue"/>
                <a:cs typeface="Helvetica Neue"/>
              </a:rPr>
              <a:t>Extra equipment, setup and power. Missing fixes clear arrows and map points.</a:t>
            </a:r>
          </a:p>
        </p:txBody>
      </p:sp>
    </p:spTree>
    <p:extLst>
      <p:ext uri="{BB962C8B-B14F-4D97-AF65-F5344CB8AC3E}">
        <p14:creationId xmlns:p14="http://schemas.microsoft.com/office/powerpoint/2010/main" val="3099460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EC7DA380-554E-464F-99FE-9D427073D789}"/>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Adjust the fit.</a:t>
            </a:r>
          </a:p>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Keep the connection</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c8a097b9992b455f"/>
          <a:stretch xmlns:a="http://schemas.openxmlformats.org/drawingml/2006/main"/>
        </p:blipFill>
        <p:spPr>
          <a:xfrm xmlns:a="http://schemas.openxmlformats.org/drawingml/2006/main">
            <a:off x="1070372" y="2028825"/>
            <a:ext cx="10051256" cy="4467225"/>
          </a:xfrm>
          <a:prstGeom xmlns:a="http://schemas.openxmlformats.org/drawingml/2006/main" prst="rect">
            <a:avLst/>
          </a:prstGeom>
        </p:spPr>
      </p:pic>
    </p:spTree>
    <p:extLst>
      <p:ext uri="{BB962C8B-B14F-4D97-AF65-F5344CB8AC3E}">
        <p14:creationId xmlns:p14="http://schemas.microsoft.com/office/powerpoint/2010/main" val="10042304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228CA1-B798-4BC9-A261-2B6F0F7717C3}"/>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Adjustment has a place</a:t>
            </a:r>
          </a:p>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in the actual model</a:t>
            </a:r>
          </a:p>
        </p:txBody>
      </p:sp>
      <p:sp>
        <p:nvSpPr>
          <p:cNvPr id="2" name="">
            <a:extLst xmlns:a="http://schemas.openxmlformats.org/drawingml/2006/main">
              <a:ext uri="{FF2B5EF4-FFF2-40B4-BE49-F238E27FC236}">
                <a16:creationId xmlns:a16="http://schemas.microsoft.com/office/drawing/2014/main" id="{F683618B-3FE5-426B-86B4-1DD42FC6EC12}"/>
              </a:ext>
            </a:extLst>
          </p:cNvPr>
          <p:cNvSpPr>
            <a:spLocks xmlns:a="http://schemas.openxmlformats.org/drawingml/2006/main" noGrp="1"/>
          </p:cNvSpPr>
          <p:nvPr/>
        </p:nvSpPr>
        <p:spPr>
          <a:xfrm xmlns:a="http://schemas.openxmlformats.org/drawingml/2006/main">
            <a:off x="733425" y="2447925"/>
            <a:ext cx="61912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46782"/>
                </a:solidFill>
                <a:latin typeface="Helvetica Neue"/>
                <a:ea typeface="Helvetica Neue"/>
                <a:cs typeface="Helvetica Neue"/>
              </a:defRPr>
            </a:pPr>
            <a:r>
              <a:rPr sz="3000" b="1">
                <a:solidFill>
                  <a:srgbClr val="246782"/>
                </a:solidFill>
                <a:latin typeface="Helvetica Neue"/>
                <a:ea typeface="Helvetica Neue"/>
                <a:cs typeface="Helvetica Neue"/>
              </a:rPr>
              <a:t>Adjustable silicone strap.</a:t>
            </a:r>
          </a:p>
          <a:p xmlns:a="http://schemas.openxmlformats.org/drawingml/2006/main">
            <a:pPr>
              <a:defRPr sz="3000" b="1">
                <a:solidFill>
                  <a:srgbClr val="246782"/>
                </a:solidFill>
                <a:latin typeface="Helvetica Neue"/>
                <a:ea typeface="Helvetica Neue"/>
                <a:cs typeface="Helvetica Neue"/>
              </a:defRPr>
            </a:pPr>
            <a:r>
              <a:rPr sz="3000" b="1">
                <a:solidFill>
                  <a:srgbClr val="246782"/>
                </a:solidFill>
                <a:latin typeface="Helvetica Neue"/>
                <a:ea typeface="Helvetica Neue"/>
                <a:cs typeface="Helvetica Neue"/>
              </a:rPr>
              <a:t>Matte acetal buckle.</a:t>
            </a:r>
          </a:p>
          <a:p xmlns:a="http://schemas.openxmlformats.org/drawingml/2006/main">
            <a:pPr>
              <a:defRPr sz="3000" b="1">
                <a:solidFill>
                  <a:srgbClr val="246782"/>
                </a:solidFill>
                <a:latin typeface="Helvetica Neue"/>
                <a:ea typeface="Helvetica Neue"/>
                <a:cs typeface="Helvetica Neue"/>
              </a:defRPr>
            </a:pPr>
            <a:r>
              <a:rPr sz="3000" b="1">
                <a:solidFill>
                  <a:srgbClr val="246782"/>
                </a:solidFill>
                <a:latin typeface="Helvetica Neue"/>
                <a:ea typeface="Helvetica Neue"/>
                <a:cs typeface="Helvetica Neue"/>
              </a:rPr>
              <a:t>Silicone keeper.</a:t>
            </a:r>
          </a:p>
        </p:txBody>
      </p:sp>
      <p:sp>
        <p:nvSpPr>
          <p:cNvPr id="3" name="">
            <a:extLst xmlns:a="http://schemas.openxmlformats.org/drawingml/2006/main">
              <a:ext uri="{FF2B5EF4-FFF2-40B4-BE49-F238E27FC236}">
                <a16:creationId xmlns:a16="http://schemas.microsoft.com/office/drawing/2014/main" id="{42D14C4A-DCD1-4FE9-97C6-FB1051F8F69C}"/>
              </a:ext>
            </a:extLst>
          </p:cNvPr>
          <p:cNvSpPr>
            <a:spLocks xmlns:a="http://schemas.openxmlformats.org/drawingml/2006/main" noGrp="1"/>
          </p:cNvSpPr>
          <p:nvPr/>
        </p:nvSpPr>
        <p:spPr>
          <a:xfrm xmlns:a="http://schemas.openxmlformats.org/drawingml/2006/main">
            <a:off x="762000" y="5000625"/>
            <a:ext cx="10572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635"/>
                </a:solidFill>
                <a:latin typeface="Helvetica Neue"/>
                <a:ea typeface="Helvetica Neue"/>
                <a:cs typeface="Helvetica Neue"/>
              </a:defRPr>
            </a:pPr>
            <a:r>
              <a:rPr sz="2400" b="0">
                <a:solidFill>
                  <a:srgbClr val="142635"/>
                </a:solidFill>
                <a:latin typeface="Helvetica Neue"/>
                <a:ea typeface="Helvetica Neue"/>
                <a:cs typeface="Helvetica Neue"/>
              </a:rPr>
              <a:t>Three nominal layouts: 50 / 62 / 78 mm.</a:t>
            </a:r>
          </a:p>
          <a:p xmlns:a="http://schemas.openxmlformats.org/drawingml/2006/main">
            <a:pPr>
              <a:defRPr sz="2400" b="0">
                <a:solidFill>
                  <a:srgbClr val="142635"/>
                </a:solidFill>
                <a:latin typeface="Helvetica Neue"/>
                <a:ea typeface="Helvetica Neue"/>
                <a:cs typeface="Helvetica Neue"/>
              </a:defRPr>
            </a:pPr>
            <a:r>
              <a:rPr sz="2400" b="0">
                <a:solidFill>
                  <a:srgbClr val="142635"/>
                </a:solidFill>
                <a:latin typeface="Helvetica Neue"/>
                <a:ea typeface="Helvetica Neue"/>
                <a:cs typeface="Helvetica Neue"/>
              </a:rPr>
              <a:t>Fit ranges still require definition.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9faf317b0a24b14"/>
          <a:stretch xmlns:a="http://schemas.openxmlformats.org/drawingml/2006/main"/>
        </p:blipFill>
        <p:spPr>
          <a:xfrm xmlns:a="http://schemas.openxmlformats.org/drawingml/2006/main">
            <a:off x="7730218" y="2152650"/>
            <a:ext cx="3341914" cy="2924175"/>
          </a:xfrm>
          <a:prstGeom xmlns:a="http://schemas.openxmlformats.org/drawingml/2006/main" prst="rect">
            <a:avLst/>
          </a:prstGeom>
        </p:spPr>
      </p:pic>
    </p:spTree>
    <p:extLst>
      <p:ext uri="{BB962C8B-B14F-4D97-AF65-F5344CB8AC3E}">
        <p14:creationId xmlns:p14="http://schemas.microsoft.com/office/powerpoint/2010/main" val="15983047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089883-FFB6-44DB-9D59-67BC3D07340F}"/>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A larger display.</a:t>
            </a:r>
          </a:p>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A removable sealed module</a:t>
            </a:r>
          </a:p>
        </p:txBody>
      </p:sp>
      <p:sp>
        <p:nvSpPr>
          <p:cNvPr id="2" name="">
            <a:extLst xmlns:a="http://schemas.openxmlformats.org/drawingml/2006/main">
              <a:ext uri="{FF2B5EF4-FFF2-40B4-BE49-F238E27FC236}">
                <a16:creationId xmlns:a16="http://schemas.microsoft.com/office/drawing/2014/main" id="{5ECFB689-7189-4560-83F4-419517EBBF4A}"/>
              </a:ext>
            </a:extLst>
          </p:cNvPr>
          <p:cNvSpPr>
            <a:spLocks xmlns:a="http://schemas.openxmlformats.org/drawingml/2006/main" noGrp="1"/>
          </p:cNvSpPr>
          <p:nvPr/>
        </p:nvSpPr>
        <p:spPr>
          <a:xfrm xmlns:a="http://schemas.openxmlformats.org/drawingml/2006/main">
            <a:off x="714375" y="2352675"/>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6782"/>
                </a:solidFill>
                <a:latin typeface="Helvetica Neue"/>
                <a:ea typeface="Helvetica Neue"/>
                <a:cs typeface="Helvetica Neue"/>
              </a:defRPr>
            </a:pPr>
            <a:r>
              <a:rPr sz="3150" b="1">
                <a:solidFill>
                  <a:srgbClr val="246782"/>
                </a:solidFill>
                <a:latin typeface="Helvetica Neue"/>
                <a:ea typeface="Helvetica Neue"/>
                <a:cs typeface="Helvetica Neue"/>
              </a:rPr>
              <a:t>54 × 38 × 19.5 mm</a:t>
            </a:r>
          </a:p>
        </p:txBody>
      </p:sp>
      <p:sp>
        <p:nvSpPr>
          <p:cNvPr id="3" name="">
            <a:extLst xmlns:a="http://schemas.openxmlformats.org/drawingml/2006/main">
              <a:ext uri="{FF2B5EF4-FFF2-40B4-BE49-F238E27FC236}">
                <a16:creationId xmlns:a16="http://schemas.microsoft.com/office/drawing/2014/main" id="{53AC1545-C46C-4BD7-A575-A06BCE4865D3}"/>
              </a:ext>
            </a:extLst>
          </p:cNvPr>
          <p:cNvSpPr>
            <a:spLocks xmlns:a="http://schemas.openxmlformats.org/drawingml/2006/main" noGrp="1"/>
          </p:cNvSpPr>
          <p:nvPr/>
        </p:nvSpPr>
        <p:spPr>
          <a:xfrm xmlns:a="http://schemas.openxmlformats.org/drawingml/2006/main">
            <a:off x="752475" y="3190875"/>
            <a:ext cx="5791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96172"/>
                </a:solidFill>
                <a:latin typeface="Helvetica Neue"/>
                <a:ea typeface="Helvetica Neue"/>
                <a:cs typeface="Helvetica Neue"/>
              </a:defRPr>
            </a:pPr>
            <a:r>
              <a:rPr sz="2025" b="0">
                <a:solidFill>
                  <a:srgbClr val="496172"/>
                </a:solidFill>
                <a:latin typeface="Helvetica Neue"/>
                <a:ea typeface="Helvetica Neue"/>
                <a:cs typeface="Helvetica Neue"/>
              </a:rPr>
              <a:t>Nominal housing dimensions</a:t>
            </a:r>
          </a:p>
        </p:txBody>
      </p:sp>
      <p:sp>
        <p:nvSpPr>
          <p:cNvPr id="4" name="">
            <a:extLst xmlns:a="http://schemas.openxmlformats.org/drawingml/2006/main">
              <a:ext uri="{FF2B5EF4-FFF2-40B4-BE49-F238E27FC236}">
                <a16:creationId xmlns:a16="http://schemas.microsoft.com/office/drawing/2014/main" id="{B11E55B0-BB03-4796-903A-BC6BBD699683}"/>
              </a:ext>
            </a:extLst>
          </p:cNvPr>
          <p:cNvSpPr>
            <a:spLocks xmlns:a="http://schemas.openxmlformats.org/drawingml/2006/main" noGrp="1"/>
          </p:cNvSpPr>
          <p:nvPr/>
        </p:nvSpPr>
        <p:spPr>
          <a:xfrm xmlns:a="http://schemas.openxmlformats.org/drawingml/2006/main">
            <a:off x="752475" y="4010025"/>
            <a:ext cx="585787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24 × 24 mm active display area.</a:t>
            </a:r>
          </a:p>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One physical button on top.</a:t>
            </a:r>
          </a:p>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Inductive charging through the cap.</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87a8efaddca4dce"/>
          <a:stretch xmlns:a="http://schemas.openxmlformats.org/drawingml/2006/main"/>
        </p:blipFill>
        <p:spPr>
          <a:xfrm xmlns:a="http://schemas.openxmlformats.org/drawingml/2006/main">
            <a:off x="7496175" y="2324100"/>
            <a:ext cx="3333750" cy="3333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C806478-E234-4980-A1EB-773D3983C1E7}"/>
              </a:ext>
            </a:extLst>
          </p:cNvPr>
          <p:cNvSpPr>
            <a:spLocks xmlns:a="http://schemas.openxmlformats.org/drawingml/2006/main" noGrp="1"/>
          </p:cNvSpPr>
          <p:nvPr/>
        </p:nvSpPr>
        <p:spPr>
          <a:xfrm xmlns:a="http://schemas.openxmlformats.org/drawingml/2006/main">
            <a:off x="752475" y="6324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96172"/>
                </a:solidFill>
                <a:latin typeface="Helvetica Neue"/>
                <a:ea typeface="Helvetica Neue"/>
                <a:cs typeface="Helvetica Neue"/>
              </a:defRPr>
            </a:pPr>
            <a:r>
              <a:rPr sz="1575" b="0">
                <a:solidFill>
                  <a:srgbClr val="496172"/>
                </a:solidFill>
                <a:latin typeface="Helvetica Neue"/>
                <a:ea typeface="Helvetica Neue"/>
                <a:cs typeface="Helvetica Neue"/>
              </a:rPr>
              <a:t>Concept geometry. No pressure rating, validated runtime or manufacturing release.</a:t>
            </a:r>
          </a:p>
        </p:txBody>
      </p:sp>
    </p:spTree>
    <p:extLst>
      <p:ext uri="{BB962C8B-B14F-4D97-AF65-F5344CB8AC3E}">
        <p14:creationId xmlns:p14="http://schemas.microsoft.com/office/powerpoint/2010/main" val="371510501"/>
      </p:ext>
    </p:extLst>
  </p:cSld>
</p:sld>
</file>

<file path=ppt/slides/slide1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185648-8144-4277-941D-1ACB95ADCB00}"/>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A pair of bands.</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A shared reference</a:t>
            </a:r>
          </a:p>
        </p:txBody>
      </p:sp>
      <p:sp>
        <p:nvSpPr>
          <p:cNvPr id="2" name="">
            <a:extLst xmlns:a="http://schemas.openxmlformats.org/drawingml/2006/main">
              <a:ext uri="{FF2B5EF4-FFF2-40B4-BE49-F238E27FC236}">
                <a16:creationId xmlns:a16="http://schemas.microsoft.com/office/drawing/2014/main" id="{F4C17E07-DE48-4290-980D-32C1C67D2E5F}"/>
              </a:ext>
            </a:extLst>
          </p:cNvPr>
          <p:cNvSpPr>
            <a:spLocks xmlns:a="http://schemas.openxmlformats.org/drawingml/2006/main" noGrp="1"/>
          </p:cNvSpPr>
          <p:nvPr/>
        </p:nvSpPr>
        <p:spPr>
          <a:xfrm xmlns:a="http://schemas.openxmlformats.org/drawingml/2006/main">
            <a:off x="733425" y="23431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9BD8E6"/>
                </a:solidFill>
                <a:latin typeface="Helvetica Neue"/>
                <a:ea typeface="Helvetica Neue"/>
                <a:cs typeface="Helvetica Neue"/>
              </a:defRPr>
            </a:pPr>
            <a:r>
              <a:rPr sz="3375" b="1">
                <a:solidFill>
                  <a:srgbClr val="9BD8E6"/>
                </a:solidFill>
                <a:latin typeface="Helvetica Neue"/>
                <a:ea typeface="Helvetica Neue"/>
                <a:cs typeface="Helvetica Neue"/>
              </a:rPr>
              <a:t>For buddy pairs and dive operators</a:t>
            </a:r>
          </a:p>
        </p:txBody>
      </p:sp>
      <p:sp>
        <p:nvSpPr>
          <p:cNvPr id="3" name="">
            <a:extLst xmlns:a="http://schemas.openxmlformats.org/drawingml/2006/main">
              <a:ext uri="{FF2B5EF4-FFF2-40B4-BE49-F238E27FC236}">
                <a16:creationId xmlns:a16="http://schemas.microsoft.com/office/drawing/2014/main" id="{6D3EA1BD-42C8-4ED4-9530-1BA530C7DE82}"/>
              </a:ext>
            </a:extLst>
          </p:cNvPr>
          <p:cNvSpPr>
            <a:spLocks xmlns:a="http://schemas.openxmlformats.org/drawingml/2006/main" noGrp="1"/>
          </p:cNvSpPr>
          <p:nvPr/>
        </p:nvSpPr>
        <p:spPr>
          <a:xfrm xmlns:a="http://schemas.openxmlformats.org/drawingml/2006/main">
            <a:off x="762000" y="3524250"/>
            <a:ext cx="10572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The proposition: an addressed call</a:t>
            </a:r>
          </a:p>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with useful spatial context on the wrist.</a:t>
            </a:r>
          </a:p>
        </p:txBody>
      </p:sp>
      <p:sp>
        <p:nvSpPr>
          <p:cNvPr id="4" name="">
            <a:extLst xmlns:a="http://schemas.openxmlformats.org/drawingml/2006/main">
              <a:ext uri="{FF2B5EF4-FFF2-40B4-BE49-F238E27FC236}">
                <a16:creationId xmlns:a16="http://schemas.microsoft.com/office/drawing/2014/main" id="{C8E3236E-73F1-4D85-B324-F87023562432}"/>
              </a:ext>
            </a:extLst>
          </p:cNvPr>
          <p:cNvSpPr>
            <a:spLocks xmlns:a="http://schemas.openxmlformats.org/drawingml/2006/main" noGrp="1"/>
          </p:cNvSpPr>
          <p:nvPr/>
        </p:nvSpPr>
        <p:spPr>
          <a:xfrm xmlns:a="http://schemas.openxmlformats.org/drawingml/2006/main">
            <a:off x="762000" y="5257800"/>
            <a:ext cx="1057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0C4D4"/>
                </a:solidFill>
                <a:latin typeface="Helvetica Neue"/>
                <a:ea typeface="Helvetica Neue"/>
                <a:cs typeface="Helvetica Neue"/>
              </a:defRPr>
            </a:pPr>
            <a:r>
              <a:rPr sz="2175" b="0">
                <a:solidFill>
                  <a:srgbClr val="B0C4D4"/>
                </a:solidFill>
                <a:latin typeface="Helvetica Neue"/>
                <a:ea typeface="Helvetica Neue"/>
                <a:cs typeface="Helvetica Neue"/>
              </a:rPr>
              <a:t>Reference deployment, acoustic performance, wearability,</a:t>
            </a:r>
          </a:p>
          <a:p xmlns:a="http://schemas.openxmlformats.org/drawingml/2006/main">
            <a:pPr>
              <a:defRPr sz="2175" b="0">
                <a:solidFill>
                  <a:srgbClr val="B0C4D4"/>
                </a:solidFill>
                <a:latin typeface="Helvetica Neue"/>
                <a:ea typeface="Helvetica Neue"/>
                <a:cs typeface="Helvetica Neue"/>
              </a:defRPr>
            </a:pPr>
            <a:r>
              <a:rPr sz="2175" b="0">
                <a:solidFill>
                  <a:srgbClr val="B0C4D4"/>
                </a:solidFill>
                <a:latin typeface="Helvetica Neue"/>
                <a:ea typeface="Helvetica Neue"/>
                <a:cs typeface="Helvetica Neue"/>
              </a:rPr>
              <a:t>runtime and complete-system cost remain to be established.</a:t>
            </a:r>
          </a:p>
        </p:txBody>
      </p:sp>
    </p:spTree>
    <p:extLst>
      <p:ext uri="{BB962C8B-B14F-4D97-AF65-F5344CB8AC3E}">
        <p14:creationId xmlns:p14="http://schemas.microsoft.com/office/powerpoint/2010/main" val="866894837"/>
      </p:ext>
    </p:extLst>
  </p:cSld>
</p:sld>
</file>

<file path=ppt/slides/slide1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75F7D8-1937-4CA3-8B2F-BBE92398FC38}"/>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Stay in touch.</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Know where to look</a:t>
            </a:r>
          </a:p>
        </p:txBody>
      </p:sp>
      <p:sp>
        <p:nvSpPr>
          <p:cNvPr id="2" name="">
            <a:extLst xmlns:a="http://schemas.openxmlformats.org/drawingml/2006/main">
              <a:ext uri="{FF2B5EF4-FFF2-40B4-BE49-F238E27FC236}">
                <a16:creationId xmlns:a16="http://schemas.microsoft.com/office/drawing/2014/main" id="{9DB0B721-2F14-416D-864D-CD0B6A220E4D}"/>
              </a:ext>
            </a:extLst>
          </p:cNvPr>
          <p:cNvSpPr>
            <a:spLocks xmlns:a="http://schemas.openxmlformats.org/drawingml/2006/main" noGrp="1"/>
          </p:cNvSpPr>
          <p:nvPr/>
        </p:nvSpPr>
        <p:spPr>
          <a:xfrm xmlns:a="http://schemas.openxmlformats.org/drawingml/2006/main">
            <a:off x="742950" y="2609850"/>
            <a:ext cx="10382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9BD8E6"/>
                </a:solidFill>
                <a:latin typeface="Helvetica Neue"/>
                <a:ea typeface="Helvetica Neue"/>
                <a:cs typeface="Helvetica Neue"/>
              </a:defRPr>
            </a:pPr>
            <a:r>
              <a:rPr sz="3225" b="1">
                <a:solidFill>
                  <a:srgbClr val="9BD8E6"/>
                </a:solidFill>
                <a:latin typeface="Helvetica Neue"/>
                <a:ea typeface="Helvetica Neue"/>
                <a:cs typeface="Helvetica Neue"/>
              </a:rPr>
              <a:t>A clear call. A human response.</a:t>
            </a:r>
          </a:p>
          <a:p xmlns:a="http://schemas.openxmlformats.org/drawingml/2006/main">
            <a:pPr>
              <a:defRPr sz="3225" b="1">
                <a:solidFill>
                  <a:srgbClr val="9BD8E6"/>
                </a:solidFill>
                <a:latin typeface="Helvetica Neue"/>
                <a:ea typeface="Helvetica Neue"/>
                <a:cs typeface="Helvetica Neue"/>
              </a:defRPr>
            </a:pPr>
            <a:r>
              <a:rPr sz="3225" b="1">
                <a:solidFill>
                  <a:srgbClr val="9BD8E6"/>
                </a:solidFill>
                <a:latin typeface="Helvetica Neue"/>
                <a:ea typeface="Helvetica Neue"/>
                <a:cs typeface="Helvetica Neue"/>
              </a:rPr>
              <a:t>A proposed view of your buddy.</a:t>
            </a:r>
          </a:p>
        </p:txBody>
      </p:sp>
      <p:sp>
        <p:nvSpPr>
          <p:cNvPr id="3" name="">
            <a:extLst xmlns:a="http://schemas.openxmlformats.org/drawingml/2006/main">
              <a:ext uri="{FF2B5EF4-FFF2-40B4-BE49-F238E27FC236}">
                <a16:creationId xmlns:a16="http://schemas.microsoft.com/office/drawing/2014/main" id="{DA5317BA-E8D9-44E3-9C35-CB8D0646011E}"/>
              </a:ext>
            </a:extLst>
          </p:cNvPr>
          <p:cNvSpPr>
            <a:spLocks xmlns:a="http://schemas.openxmlformats.org/drawingml/2006/main" noGrp="1"/>
          </p:cNvSpPr>
          <p:nvPr/>
        </p:nvSpPr>
        <p:spPr>
          <a:xfrm xmlns:a="http://schemas.openxmlformats.org/drawingml/2006/main">
            <a:off x="771525" y="4505325"/>
            <a:ext cx="1038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Explore the interactive concept, then open</a:t>
            </a:r>
          </a:p>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the current drawings and editable presentation.</a:t>
            </a:r>
          </a:p>
        </p:txBody>
      </p:sp>
      <p:sp>
        <p:nvSpPr>
          <p:cNvPr id="4" name="">
            <a:extLst xmlns:a="http://schemas.openxmlformats.org/drawingml/2006/main">
              <a:ext uri="{FF2B5EF4-FFF2-40B4-BE49-F238E27FC236}">
                <a16:creationId xmlns:a16="http://schemas.microsoft.com/office/drawing/2014/main" id="{E14B3D7C-D8C5-4558-9B5A-8E87B972932B}"/>
              </a:ext>
            </a:extLst>
          </p:cNvPr>
          <p:cNvSpPr>
            <a:spLocks xmlns:a="http://schemas.openxmlformats.org/drawingml/2006/main" noGrp="1"/>
          </p:cNvSpPr>
          <p:nvPr/>
        </p:nvSpPr>
        <p:spPr>
          <a:xfrm xmlns:a="http://schemas.openxmlformats.org/drawingml/2006/main">
            <a:off x="771525" y="57531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0C4D4"/>
                </a:solidFill>
                <a:latin typeface="Helvetica Neue"/>
                <a:ea typeface="Helvetica Neue"/>
                <a:cs typeface="Helvetica Neue"/>
              </a:defRPr>
            </a:pPr>
            <a:r>
              <a:rPr sz="1500" b="0">
                <a:solidFill>
                  <a:srgbClr val="B0C4D4"/>
                </a:solidFill>
                <a:latin typeface="Helvetica Neue"/>
                <a:ea typeface="Helvetica Neue"/>
                <a:cs typeface="Helvetica Neue"/>
              </a:rPr>
              <a:t>Concept by Rafael. An aid to buddy procedures, never a safety guarantee.</a:t>
            </a:r>
          </a:p>
        </p:txBody>
      </p:sp>
      <p:sp>
        <p:nvSpPr>
          <p:cNvPr id="5" name="">
            <a:extLst xmlns:a="http://schemas.openxmlformats.org/drawingml/2006/main">
              <a:ext uri="{FF2B5EF4-FFF2-40B4-BE49-F238E27FC236}">
                <a16:creationId xmlns:a16="http://schemas.microsoft.com/office/drawing/2014/main" id="{8B2BFDEA-D08A-4261-8185-CFB65BDA8838}"/>
              </a:ext>
            </a:extLst>
          </p:cNvPr>
          <p:cNvSpPr>
            <a:spLocks xmlns:a="http://schemas.openxmlformats.org/drawingml/2006/main" noGrp="1"/>
          </p:cNvSpPr>
          <p:nvPr/>
        </p:nvSpPr>
        <p:spPr>
          <a:xfrm xmlns:a="http://schemas.openxmlformats.org/drawingml/2006/main">
            <a:off x="771525" y="617220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F0F4F7"/>
                </a:solidFill>
                <a:latin typeface="Helvetica Neue"/>
                <a:ea typeface="Helvetica Neue"/>
                <a:cs typeface="Helvetica Neue"/>
              </a:defRPr>
            </a:pPr>
            <a:r>
              <a:rPr sz="1650" b="0">
                <a:solidFill>
                  <a:srgbClr val="F0F4F7"/>
                </a:solidFill>
                <a:latin typeface="Helvetica Neue"/>
                <a:ea typeface="Helvetica Neue"/>
                <a:cs typeface="Helvetica Neue"/>
              </a:rPr>
              <a:t>Presentation strategy, design &amp; production by The AI Doc</a:t>
            </a:r>
          </a:p>
        </p:txBody>
      </p:sp>
      <p:sp>
        <p:nvSpPr>
          <p:cNvPr id="6" name="">
            <a:extLst xmlns:a="http://schemas.openxmlformats.org/drawingml/2006/main">
              <a:ext uri="{FF2B5EF4-FFF2-40B4-BE49-F238E27FC236}">
                <a16:creationId xmlns:a16="http://schemas.microsoft.com/office/drawing/2014/main" id="{B2C63B6E-9F4B-467B-AF3B-F522A75BD47C}"/>
              </a:ext>
            </a:extLst>
          </p:cNvPr>
          <p:cNvSpPr>
            <a:spLocks xmlns:a="http://schemas.openxmlformats.org/drawingml/2006/main" noGrp="1"/>
          </p:cNvSpPr>
          <p:nvPr/>
        </p:nvSpPr>
        <p:spPr>
          <a:xfrm xmlns:a="http://schemas.openxmlformats.org/drawingml/2006/main">
            <a:off x="771525" y="65151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Prepared for Rafael</a:t>
            </a:r>
          </a:p>
        </p:txBody>
      </p:sp>
    </p:spTree>
    <p:extLst>
      <p:ext uri="{BB962C8B-B14F-4D97-AF65-F5344CB8AC3E}">
        <p14:creationId xmlns:p14="http://schemas.microsoft.com/office/powerpoint/2010/main" val="1114074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2026-09-10T07:16:54.0560000Z</dcterms:created>
  <dcterms:modified xsi:type="dcterms:W3CDTF">2026-09-10T07:16:54.0560000Z</dcterms:modified>
</coreProperties>
</file>