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ba4385f1a247da" /><Relationship Type="http://schemas.openxmlformats.org/officeDocument/2006/relationships/extended-properties" Target="/docProps/app.xml" Id="R0f9b02d629ba4153" /><Relationship Type="http://schemas.openxmlformats.org/officeDocument/2006/relationships/officeDocument" Target="/ppt/presentation.xml" Id="R95b006d790a7445b" /></Relationships>
</file>

<file path=ppt/presentation.xml><?xml version="1.0" encoding="utf-8"?>
<p:presentation xmlns:p="http://schemas.openxmlformats.org/presentationml/2006/main">
  <p:sldMasterIdLst>
    <p:sldMasterId xmlns:r="http://schemas.openxmlformats.org/officeDocument/2006/relationships" id="2147483648" r:id="Rc9184bcc410f4c4b"/>
  </p:sldMasterIdLst>
  <p:notesMasterIdLst>
    <p:notesMasterId xmlns:r="http://schemas.openxmlformats.org/officeDocument/2006/relationships" r:id="R3bb94eb35af74b0d"/>
  </p:notesMasterIdLst>
  <p:sldIdLst>
    <p:sldId xmlns:r="http://schemas.openxmlformats.org/officeDocument/2006/relationships" id="256" r:id="R44f1a7e047a04976"/>
    <p:sldId xmlns:r="http://schemas.openxmlformats.org/officeDocument/2006/relationships" id="257" r:id="R92746e2210f348c8"/>
    <p:sldId xmlns:r="http://schemas.openxmlformats.org/officeDocument/2006/relationships" id="258" r:id="R2bb25c3125b94a7e"/>
    <p:sldId xmlns:r="http://schemas.openxmlformats.org/officeDocument/2006/relationships" id="259" r:id="Rf0a2db9de79e467d"/>
    <p:sldId xmlns:r="http://schemas.openxmlformats.org/officeDocument/2006/relationships" id="260" r:id="R12bc17ae41fe4ded"/>
    <p:sldId xmlns:r="http://schemas.openxmlformats.org/officeDocument/2006/relationships" id="261" r:id="Ra4a7b19077364ea3"/>
    <p:sldId xmlns:r="http://schemas.openxmlformats.org/officeDocument/2006/relationships" id="262" r:id="R33d4ff8ad69a4b25"/>
    <p:sldId xmlns:r="http://schemas.openxmlformats.org/officeDocument/2006/relationships" id="263" r:id="R9cec26d53e314bf6"/>
    <p:sldId xmlns:r="http://schemas.openxmlformats.org/officeDocument/2006/relationships" id="264" r:id="R6f19ccc5cdc947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58212d11d34be1" /><Relationship Type="http://schemas.openxmlformats.org/officeDocument/2006/relationships/slideMaster" Target="/ppt/slideMasters/slideMaster1.xml" Id="Rc9184bcc410f4c4b" /><Relationship Type="http://schemas.openxmlformats.org/officeDocument/2006/relationships/notesMaster" Target="/ppt/notesMasters/notesMaster1.xml" Id="R3bb94eb35af74b0d" /><Relationship Type="http://schemas.openxmlformats.org/officeDocument/2006/relationships/presProps" Target="/ppt/presProps.xml" Id="Ra5eadbabd7174efc" /><Relationship Type="http://schemas.openxmlformats.org/officeDocument/2006/relationships/tableStyles" Target="/ppt/tableStyles.xml" Id="Rb949197df6fe45e6" /><Relationship Type="http://schemas.openxmlformats.org/officeDocument/2006/relationships/slide" Target="/ppt/slides/slide1.xml" Id="R44f1a7e047a04976" /><Relationship Type="http://schemas.openxmlformats.org/officeDocument/2006/relationships/slide" Target="/ppt/slides/slide2.xml" Id="R92746e2210f348c8" /><Relationship Type="http://schemas.openxmlformats.org/officeDocument/2006/relationships/slide" Target="/ppt/slides/slide3.xml" Id="R2bb25c3125b94a7e" /><Relationship Type="http://schemas.openxmlformats.org/officeDocument/2006/relationships/slide" Target="/ppt/slides/slide4.xml" Id="Rf0a2db9de79e467d" /><Relationship Type="http://schemas.openxmlformats.org/officeDocument/2006/relationships/slide" Target="/ppt/slides/slide5.xml" Id="R12bc17ae41fe4ded" /><Relationship Type="http://schemas.openxmlformats.org/officeDocument/2006/relationships/slide" Target="/ppt/slides/slide6.xml" Id="Ra4a7b19077364ea3" /><Relationship Type="http://schemas.openxmlformats.org/officeDocument/2006/relationships/slide" Target="/ppt/slides/slide7.xml" Id="R33d4ff8ad69a4b25" /><Relationship Type="http://schemas.openxmlformats.org/officeDocument/2006/relationships/slide" Target="/ppt/slides/slide8.xml" Id="R9cec26d53e314bf6" /><Relationship Type="http://schemas.openxmlformats.org/officeDocument/2006/relationships/slide" Target="/ppt/slides/slide9.xml" Id="R6f19ccc5cdc947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b1d0645bff4a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afc5b7c9314a6d" /><Relationship Type="http://schemas.openxmlformats.org/officeDocument/2006/relationships/notesMaster" Target="/ppt/notesMasters/notesMaster1.xml" Id="Rdc27d4933c9541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a3ad757e524002" /><Relationship Type="http://schemas.openxmlformats.org/officeDocument/2006/relationships/notesMaster" Target="/ppt/notesMasters/notesMaster1.xml" Id="Ra4a9f68a699049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973d850f6a4f00" /><Relationship Type="http://schemas.openxmlformats.org/officeDocument/2006/relationships/notesMaster" Target="/ppt/notesMasters/notesMaster1.xml" Id="Re1284d4688184d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86314ac7fc4f4c" /><Relationship Type="http://schemas.openxmlformats.org/officeDocument/2006/relationships/notesMaster" Target="/ppt/notesMasters/notesMaster1.xml" Id="Rf947319c216846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2a9d066a00432d" /><Relationship Type="http://schemas.openxmlformats.org/officeDocument/2006/relationships/notesMaster" Target="/ppt/notesMasters/notesMaster1.xml" Id="Rc7c3a37b45924a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903e9b121a4055" /><Relationship Type="http://schemas.openxmlformats.org/officeDocument/2006/relationships/notesMaster" Target="/ppt/notesMasters/notesMaster1.xml" Id="R2066b2f657ad4d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1e136483794b78" /><Relationship Type="http://schemas.openxmlformats.org/officeDocument/2006/relationships/notesMaster" Target="/ppt/notesMasters/notesMaster1.xml" Id="R5d8e42b3f09c49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1c55ee17d34c84" /><Relationship Type="http://schemas.openxmlformats.org/officeDocument/2006/relationships/notesMaster" Target="/ppt/notesMasters/notesMaster1.xml" Id="R1c7606f1078a45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5345a6fa8a4db9" /><Relationship Type="http://schemas.openxmlformats.org/officeDocument/2006/relationships/notesMaster" Target="/ppt/notesMasters/notesMaster1.xml" Id="Rcf73725128114c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Rev C as a wristband concept combining a paired tactile call and visible distance feedback. The original hero render shows the CAD baseline without a physically integrated display. A display alongside the physical top button is an appearance and interaction proposal. It gives no bearing and cannot ensure reunion.</a:t>
            </a:r>
          </a:p>
          <a:p xmlns:a="http://schemas.openxmlformats.org/drawingml/2006/main">
            <a:r>
              <a:t/>
            </a:r>
          </a:p>
          <a:p xmlns:a="http://schemas.openxmlformats.org/drawingml/2006/main">
            <a:r>
              <a:t>Source: supplied DBA_Design_Package_RevA.pdf, reviewed DBA_Design_Package_RevC.pdf and presentation/requirements.json. Concept by Rafael. Rev C display behavior is proposed; sample screen values are synthetic. Original CAD, performance targets and cost estimates do not establish the display variant’s engineering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roles of each channel. Haptics provide attention and optional caller cadence. The screen communicates call state, fresh distance and the link state. Both divers get fresh range information during a session. The design retains a physical top button rather than relying on an underwater touchscreen. Underwater readability and haptic perceptibility are not established.</a:t>
            </a:r>
          </a:p>
          <a:p xmlns:a="http://schemas.openxmlformats.org/drawingml/2006/main">
            <a:r>
              <a:t/>
            </a:r>
          </a:p>
          <a:p xmlns:a="http://schemas.openxmlformats.org/drawingml/2006/main">
            <a:r>
              <a:t>Source: supplied DBA_Design_Package_RevA.pdf, reviewed DBA_Design_Package_RevC.pdf and presentation/requirements.json. Concept by Rafael. Rev C display behavior is proposed; sample screen values are synthetic. Original CAD, performance targets and cost estimates do not establish the display variant’s engineering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surface both users hold three seconds to pair. A short press from Ready calls B, whose band gives three pulses and an incoming-call screen. A packet reply changes A’s display to Received by device. B presses to acknowledge, which then changes A’s display to Buddy acknowledged. These states are distinct. A holds one second for ranging, a short press during ranging stops, and the original five-minute timeout and below-two-metre stop remain proposed. Collision handling, retries and remote-stop confirmation remain firmware decisions.</a:t>
            </a:r>
          </a:p>
          <a:p xmlns:a="http://schemas.openxmlformats.org/drawingml/2006/main">
            <a:r>
              <a:t/>
            </a:r>
          </a:p>
          <a:p xmlns:a="http://schemas.openxmlformats.org/drawingml/2006/main">
            <a:r>
              <a:t>Source: supplied DBA_Design_Package_RevA.pdf, reviewed DBA_Design_Package_RevC.pdf and presentation/requirements.json. Concept by Rafael. Rev C display behavior is proposed; sample screen values are synthetic. Original CAD, performance targets and cost estimates do not establish the display variant’s engineering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enlarged editable interface studies, not physical display dimensions or a proven pixel layout. Ready shows the paired buddy and local battery. Calling is distinct from both device receipt and human acknowledgement. During ranging, the largest content is the latest valid distance. Getting closer requires enough recent valid measurements. Lost or stale data clears distance and trend and suppresses proximity cadence. Both 8 metres and 82 percent are synthetic values.</a:t>
            </a:r>
          </a:p>
          <a:p xmlns:a="http://schemas.openxmlformats.org/drawingml/2006/main">
            <a:r>
              <a:t/>
            </a:r>
          </a:p>
          <a:p xmlns:a="http://schemas.openxmlformats.org/drawingml/2006/main">
            <a:r>
              <a:t>Source: supplied DBA_Design_Package_RevA.pdf, reviewed DBA_Design_Package_RevC.pdf and presentation/requirements.json. Concept by Rafael. Rev C display behavior is proposed; sample screen values are synthetic. Original CAD, performance targets and cost estimates do not establish the display variant’s engineering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approximately 65 kHz, single-transducer, two-way time-of-flight proposal measures range. The same measured range could correspond to a buddy anywhere around the wearer, including above or below. A directional arrow needs a separate bearing-capable architecture. Exchanging device headings does not establish the relative location of the two divers. A wrist heading is also not necessarily the swimmer’s heading. No directional arrow, radar or safe-route guidance is promised.</a:t>
            </a:r>
          </a:p>
          <a:p xmlns:a="http://schemas.openxmlformats.org/drawingml/2006/main">
            <a:r>
              <a:t/>
            </a:r>
          </a:p>
          <a:p xmlns:a="http://schemas.openxmlformats.org/drawingml/2006/main">
            <a:r>
              <a:t>Source: supplied DBA_Design_Package_RevA.pdf, reviewed DBA_Design_Package_RevC.pdf and presentation/requirements.json. Concept by Rafael. Rev C display behavior is proposed; sample screen values are synthetic. Original CAD, performance targets and cost estimates do not establish the display variant’s engineering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keeps the slip-on band, removable sealed module, physical top button and inductive charging through the cap. The original housing dimensions are baseline reference dimensions and do not establish the display variant’s envelope. A small display next to the top button adds a sealed window and optical stack. Packaging must reconcile the display, coil, button and battery. No CAD or embedded mesh has been regenerated.</a:t>
            </a:r>
          </a:p>
          <a:p xmlns:a="http://schemas.openxmlformats.org/drawingml/2006/main">
            <a:r>
              <a:t/>
            </a:r>
          </a:p>
          <a:p xmlns:a="http://schemas.openxmlformats.org/drawingml/2006/main">
            <a:r>
              <a:t>Source: supplied DBA_Design_Package_RevA.pdf, reviewed DBA_Design_Package_RevC.pdf and presentation/requirements.json. Concept by Rafael. Rev C display behavior is proposed; sample screen values are synthetic. Original CAD, performance targets and cost estimates do not establish the display variant’s engineering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transducer and power layout illustrate the architectural baseline. Approximately 65 kHz two-way ranging and a 20 m target remain. No measured range or depth rating is available. The display creates additional power and packaging requirements. The original four-dive runtime, approximately 28 g mass and original envelope cannot be carried over as display-variant promises. The original coil and battery clearance conflicts and energy-budget arithmetic are documented in the technical brief.</a:t>
            </a:r>
          </a:p>
          <a:p xmlns:a="http://schemas.openxmlformats.org/drawingml/2006/main">
            <a:r>
              <a:t/>
            </a:r>
          </a:p>
          <a:p xmlns:a="http://schemas.openxmlformats.org/drawingml/2006/main">
            <a:r>
              <a:t>Source: supplied DBA_Design_Package_RevA.pdf, reviewed DBA_Design_Package_RevC.pdf and presentation/requirements.json. Concept by Rafael. Rev C display behavior is proposed; sample screen values are synthetic. Original CAD, performance targets and cost estimates do not establish the display variant’s engineering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proposal remains two bands with one shared inductive charging dock for recreational buddy pairs. Rev A retail and cost numbers apply to the original screenless baseline. Rev C has no revised cost estimate or retail target. The original desk estimate is approximately $43 per band or $86 per pair at 5,000 pairs, plus or minus 30 percent, with dock allocation. It excludes tooling, non-recurring engineering, freight and duty. Supplier quotes, channel margins and customer demand are not established.</a:t>
            </a:r>
          </a:p>
          <a:p xmlns:a="http://schemas.openxmlformats.org/drawingml/2006/main">
            <a:r>
              <a:t/>
            </a:r>
          </a:p>
          <a:p xmlns:a="http://schemas.openxmlformats.org/drawingml/2006/main">
            <a:r>
              <a:t>Source: supplied DBA_Design_Package_RevA.pdf, reviewed DBA_Design_Package_RevC.pdf and presentation/requirements.json. Concept by Rafael. Rev C display behavior is proposed; sample screen values are synthetic. Original CAD, performance targets and cost estimates do not establish the display variant’s engineering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product concept: an addressed tactile call, visible communication state and fresh distance feedback on both bands. The display makes the proposed range information visible but introduces real integration tradeoffs. The current package offers an interactive interface study, the unchanged CAD baseline and engineering specification. It does not establish hardware readiness, direction finding, or safe reunion.</a:t>
            </a:r>
          </a:p>
          <a:p xmlns:a="http://schemas.openxmlformats.org/drawingml/2006/main">
            <a:r>
              <a:t/>
            </a:r>
          </a:p>
          <a:p xmlns:a="http://schemas.openxmlformats.org/drawingml/2006/main">
            <a:r>
              <a:t>Source: supplied DBA_Design_Package_RevA.pdf, reviewed DBA_Design_Package_RevC.pdf and presentation/requirements.json. Concept by Rafael. Rev C display behavior is proposed; sample screen values are synthetic. Original CAD, performance targets and cost estimates do not establish the display variant’s engineering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83fe1476084f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711f13b0ce43c2" /><Relationship Type="http://schemas.openxmlformats.org/officeDocument/2006/relationships/slideLayout" Target="/ppt/slideLayouts/slideLayout1.xml" Id="Rd4b4fa08366a41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b4fa08366a41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ce5b163249494e" /><Relationship Type="http://schemas.openxmlformats.org/officeDocument/2006/relationships/image" Target="/ppt/media/image.png" Id="R8eaf2143f9f0491f" /><Relationship Type="http://schemas.openxmlformats.org/officeDocument/2006/relationships/notesSlide" Target="/ppt/notesSlides/notesSlide1.xml" Id="Rece88545b7b244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d972548b334384" /><Relationship Type="http://schemas.openxmlformats.org/officeDocument/2006/relationships/notesSlide" Target="/ppt/notesSlides/notesSlide2.xml" Id="Rc278dff3ecd142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081b7e88404fe3" /><Relationship Type="http://schemas.openxmlformats.org/officeDocument/2006/relationships/notesSlide" Target="/ppt/notesSlides/notesSlide3.xml" Id="Ref7c426df6be4c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556fea97a243f9" /><Relationship Type="http://schemas.openxmlformats.org/officeDocument/2006/relationships/notesSlide" Target="/ppt/notesSlides/notesSlide4.xml" Id="R3fa5f75af62f4d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301eb5f5a64885" /><Relationship Type="http://schemas.openxmlformats.org/officeDocument/2006/relationships/notesSlide" Target="/ppt/notesSlides/notesSlide5.xml" Id="Rbc1e62270ec44b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da5c160f16409c" /><Relationship Type="http://schemas.openxmlformats.org/officeDocument/2006/relationships/image" Target="/ppt/media/image2.png" Id="R2cd026b74f3b4393" /><Relationship Type="http://schemas.openxmlformats.org/officeDocument/2006/relationships/notesSlide" Target="/ppt/notesSlides/notesSlide6.xml" Id="Rb673a3f7cffe47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7387311bde417c" /><Relationship Type="http://schemas.openxmlformats.org/officeDocument/2006/relationships/image" Target="/ppt/media/image3.png" Id="Rcd9a9a7017754d2b" /><Relationship Type="http://schemas.openxmlformats.org/officeDocument/2006/relationships/notesSlide" Target="/ppt/notesSlides/notesSlide7.xml" Id="R1bb29b07ab684b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7e07e41201f4188" /><Relationship Type="http://schemas.openxmlformats.org/officeDocument/2006/relationships/notesSlide" Target="/ppt/notesSlides/notesSlide8.xml" Id="Rf136cc29c30447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5f7f5afd5d64732" /><Relationship Type="http://schemas.openxmlformats.org/officeDocument/2006/relationships/notesSlide" Target="/ppt/notesSlides/notesSlide9.xml" Id="R0c53c4d614f94926" /></Relationships>
</file>

<file path=ppt/slides/slide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D38992-46FE-45B9-AE6A-F9B86A28E699}"/>
              </a:ext>
            </a:extLst>
          </p:cNvPr>
          <p:cNvSpPr>
            <a:spLocks xmlns:a="http://schemas.openxmlformats.org/drawingml/2006/main" noGrp="1"/>
          </p:cNvSpPr>
          <p:nvPr/>
        </p:nvSpPr>
        <p:spPr>
          <a:xfrm xmlns:a="http://schemas.openxmlformats.org/drawingml/2006/main">
            <a:off x="666750" y="1238250"/>
            <a:ext cx="5810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F0F4F7"/>
                </a:solidFill>
                <a:latin typeface="Helvetica Neue"/>
                <a:ea typeface="Helvetica Neue"/>
                <a:cs typeface="Helvetica Neue"/>
              </a:defRPr>
            </a:pPr>
            <a:r>
              <a:rPr sz="5850" b="1">
                <a:solidFill>
                  <a:srgbClr val="F0F4F7"/>
                </a:solidFill>
                <a:latin typeface="Helvetica Neue"/>
                <a:ea typeface="Helvetica Neue"/>
                <a:cs typeface="Helvetica Neue"/>
              </a:rPr>
              <a:t>Dive Buddy</a:t>
            </a:r>
          </a:p>
          <a:p xmlns:a="http://schemas.openxmlformats.org/drawingml/2006/main">
            <a:pPr>
              <a:defRPr sz="5850" b="1">
                <a:solidFill>
                  <a:srgbClr val="F0F4F7"/>
                </a:solidFill>
                <a:latin typeface="Helvetica Neue"/>
                <a:ea typeface="Helvetica Neue"/>
                <a:cs typeface="Helvetica Neue"/>
              </a:defRPr>
            </a:pPr>
            <a:r>
              <a:rPr sz="5850" b="1">
                <a:solidFill>
                  <a:srgbClr val="F0F4F7"/>
                </a:solidFill>
                <a:latin typeface="Helvetica Neue"/>
                <a:ea typeface="Helvetica Neue"/>
                <a:cs typeface="Helvetica Neue"/>
              </a:rPr>
              <a:t>Alert Band</a:t>
            </a:r>
          </a:p>
        </p:txBody>
      </p:sp>
      <p:sp>
        <p:nvSpPr>
          <p:cNvPr id="2" name="">
            <a:extLst xmlns:a="http://schemas.openxmlformats.org/drawingml/2006/main">
              <a:ext uri="{FF2B5EF4-FFF2-40B4-BE49-F238E27FC236}">
                <a16:creationId xmlns:a16="http://schemas.microsoft.com/office/drawing/2014/main" id="{0B39E659-120A-4349-9E06-7850FE979985}"/>
              </a:ext>
            </a:extLst>
          </p:cNvPr>
          <p:cNvSpPr>
            <a:spLocks xmlns:a="http://schemas.openxmlformats.org/drawingml/2006/main" noGrp="1"/>
          </p:cNvSpPr>
          <p:nvPr/>
        </p:nvSpPr>
        <p:spPr>
          <a:xfrm xmlns:a="http://schemas.openxmlformats.org/drawingml/2006/main">
            <a:off x="704850" y="385762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9BD8E6"/>
                </a:solidFill>
                <a:latin typeface="Helvetica Neue"/>
                <a:ea typeface="Helvetica Neue"/>
                <a:cs typeface="Helvetica Neue"/>
              </a:defRPr>
            </a:pPr>
            <a:r>
              <a:rPr sz="2625" b="0">
                <a:solidFill>
                  <a:srgbClr val="9BD8E6"/>
                </a:solidFill>
                <a:latin typeface="Helvetica Neue"/>
                <a:ea typeface="Helvetica Neue"/>
                <a:cs typeface="Helvetica Neue"/>
              </a:rPr>
              <a:t>Feel the call.</a:t>
            </a:r>
          </a:p>
          <a:p xmlns:a="http://schemas.openxmlformats.org/drawingml/2006/main">
            <a:pPr>
              <a:defRPr sz="2625" b="0">
                <a:solidFill>
                  <a:srgbClr val="9BD8E6"/>
                </a:solidFill>
                <a:latin typeface="Helvetica Neue"/>
                <a:ea typeface="Helvetica Neue"/>
                <a:cs typeface="Helvetica Neue"/>
              </a:defRPr>
            </a:pPr>
            <a:r>
              <a:rPr sz="2625" b="0">
                <a:solidFill>
                  <a:srgbClr val="9BD8E6"/>
                </a:solidFill>
                <a:latin typeface="Helvetica Neue"/>
                <a:ea typeface="Helvetica Neue"/>
                <a:cs typeface="Helvetica Neue"/>
              </a:rPr>
              <a:t>See the distance.</a:t>
            </a:r>
          </a:p>
        </p:txBody>
      </p:sp>
      <p:sp>
        <p:nvSpPr>
          <p:cNvPr id="3" name="">
            <a:extLst xmlns:a="http://schemas.openxmlformats.org/drawingml/2006/main">
              <a:ext uri="{FF2B5EF4-FFF2-40B4-BE49-F238E27FC236}">
                <a16:creationId xmlns:a16="http://schemas.microsoft.com/office/drawing/2014/main" id="{A8BA2572-40B8-4413-AE7A-C809E357950F}"/>
              </a:ext>
            </a:extLst>
          </p:cNvPr>
          <p:cNvSpPr>
            <a:spLocks xmlns:a="http://schemas.openxmlformats.org/drawingml/2006/main" noGrp="1"/>
          </p:cNvSpPr>
          <p:nvPr/>
        </p:nvSpPr>
        <p:spPr>
          <a:xfrm xmlns:a="http://schemas.openxmlformats.org/drawingml/2006/main">
            <a:off x="704850" y="56769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0C4D4"/>
                </a:solidFill>
                <a:latin typeface="Helvetica Neue"/>
                <a:ea typeface="Helvetica Neue"/>
                <a:cs typeface="Helvetica Neue"/>
              </a:defRPr>
            </a:pPr>
            <a:r>
              <a:rPr sz="1725" b="0">
                <a:solidFill>
                  <a:srgbClr val="B0C4D4"/>
                </a:solidFill>
                <a:latin typeface="Helvetica Neue"/>
                <a:ea typeface="Helvetica Neue"/>
                <a:cs typeface="Helvetica Neue"/>
              </a:rPr>
              <a:t>Concept by Rafael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eaf2143f9f0491f"/>
          <a:stretch xmlns:a="http://schemas.openxmlformats.org/drawingml/2006/main"/>
        </p:blipFill>
        <p:spPr>
          <a:xfrm xmlns:a="http://schemas.openxmlformats.org/drawingml/2006/main">
            <a:off x="6572250" y="1009055"/>
            <a:ext cx="5095875" cy="445889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85DB651-E2D9-4AB0-869E-52574E334DDC}"/>
              </a:ext>
            </a:extLst>
          </p:cNvPr>
          <p:cNvSpPr>
            <a:spLocks xmlns:a="http://schemas.openxmlformats.org/drawingml/2006/main" noGrp="1"/>
          </p:cNvSpPr>
          <p:nvPr/>
        </p:nvSpPr>
        <p:spPr>
          <a:xfrm xmlns:a="http://schemas.openxmlformats.org/drawingml/2006/main">
            <a:off x="6648450" y="6153150"/>
            <a:ext cx="5000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Original CAD baseline · Display integration pending</a:t>
            </a:r>
          </a:p>
        </p:txBody>
      </p:sp>
    </p:spTree>
    <p:extLst>
      <p:ext uri="{BB962C8B-B14F-4D97-AF65-F5344CB8AC3E}">
        <p14:creationId xmlns:p14="http://schemas.microsoft.com/office/powerpoint/2010/main" val="1798760072"/>
      </p:ext>
    </p:extLst>
  </p:cSld>
</p:sld>
</file>

<file path=ppt/slides/slide2.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3CB215-A1C8-4545-BB39-6AF44DB0D9B7}"/>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Haptics and a glanceable display</a:t>
            </a:r>
          </a:p>
        </p:txBody>
      </p:sp>
      <p:sp>
        <p:nvSpPr>
          <p:cNvPr id="2" name="">
            <a:extLst xmlns:a="http://schemas.openxmlformats.org/drawingml/2006/main">
              <a:ext uri="{FF2B5EF4-FFF2-40B4-BE49-F238E27FC236}">
                <a16:creationId xmlns:a16="http://schemas.microsoft.com/office/drawing/2014/main" id="{E2F451C7-82B7-4453-A408-04BCD259AFBB}"/>
              </a:ext>
            </a:extLst>
          </p:cNvPr>
          <p:cNvSpPr>
            <a:spLocks xmlns:a="http://schemas.openxmlformats.org/drawingml/2006/main" noGrp="1"/>
          </p:cNvSpPr>
          <p:nvPr/>
        </p:nvSpPr>
        <p:spPr>
          <a:xfrm xmlns:a="http://schemas.openxmlformats.org/drawingml/2006/main">
            <a:off x="704850" y="2152650"/>
            <a:ext cx="476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F47760"/>
                </a:solidFill>
                <a:latin typeface="Helvetica Neue"/>
                <a:ea typeface="Helvetica Neue"/>
                <a:cs typeface="Helvetica Neue"/>
              </a:defRPr>
            </a:pPr>
            <a:r>
              <a:rPr sz="6000" b="1">
                <a:solidFill>
                  <a:srgbClr val="F47760"/>
                </a:solidFill>
                <a:latin typeface="Helvetica Neue"/>
                <a:ea typeface="Helvetica Neue"/>
                <a:cs typeface="Helvetica Neue"/>
              </a:rPr>
              <a:t>Feel</a:t>
            </a:r>
          </a:p>
        </p:txBody>
      </p:sp>
      <p:sp>
        <p:nvSpPr>
          <p:cNvPr id="3" name="">
            <a:extLst xmlns:a="http://schemas.openxmlformats.org/drawingml/2006/main">
              <a:ext uri="{FF2B5EF4-FFF2-40B4-BE49-F238E27FC236}">
                <a16:creationId xmlns:a16="http://schemas.microsoft.com/office/drawing/2014/main" id="{55E11FD8-9A6D-4978-AF0C-B55D8D2CECE8}"/>
              </a:ext>
            </a:extLst>
          </p:cNvPr>
          <p:cNvSpPr>
            <a:spLocks xmlns:a="http://schemas.openxmlformats.org/drawingml/2006/main" noGrp="1"/>
          </p:cNvSpPr>
          <p:nvPr/>
        </p:nvSpPr>
        <p:spPr>
          <a:xfrm xmlns:a="http://schemas.openxmlformats.org/drawingml/2006/main">
            <a:off x="733425" y="33623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An incoming buddy call.</a:t>
            </a:r>
          </a:p>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Optional distance cadence.</a:t>
            </a:r>
          </a:p>
        </p:txBody>
      </p:sp>
      <p:sp>
        <p:nvSpPr>
          <p:cNvPr id="4" name="">
            <a:extLst xmlns:a="http://schemas.openxmlformats.org/drawingml/2006/main">
              <a:ext uri="{FF2B5EF4-FFF2-40B4-BE49-F238E27FC236}">
                <a16:creationId xmlns:a16="http://schemas.microsoft.com/office/drawing/2014/main" id="{3BF0845B-F69F-43B1-89AA-75189C26F531}"/>
              </a:ext>
            </a:extLst>
          </p:cNvPr>
          <p:cNvSpPr>
            <a:spLocks xmlns:a="http://schemas.openxmlformats.org/drawingml/2006/main" noGrp="1"/>
          </p:cNvSpPr>
          <p:nvPr/>
        </p:nvSpPr>
        <p:spPr>
          <a:xfrm xmlns:a="http://schemas.openxmlformats.org/drawingml/2006/main">
            <a:off x="6819900" y="2152650"/>
            <a:ext cx="4667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9BD8E6"/>
                </a:solidFill>
                <a:latin typeface="Helvetica Neue"/>
                <a:ea typeface="Helvetica Neue"/>
                <a:cs typeface="Helvetica Neue"/>
              </a:defRPr>
            </a:pPr>
            <a:r>
              <a:rPr sz="6000" b="1">
                <a:solidFill>
                  <a:srgbClr val="9BD8E6"/>
                </a:solidFill>
                <a:latin typeface="Helvetica Neue"/>
                <a:ea typeface="Helvetica Neue"/>
                <a:cs typeface="Helvetica Neue"/>
              </a:rPr>
              <a:t>See</a:t>
            </a:r>
          </a:p>
        </p:txBody>
      </p:sp>
      <p:sp>
        <p:nvSpPr>
          <p:cNvPr id="5" name="">
            <a:extLst xmlns:a="http://schemas.openxmlformats.org/drawingml/2006/main">
              <a:ext uri="{FF2B5EF4-FFF2-40B4-BE49-F238E27FC236}">
                <a16:creationId xmlns:a16="http://schemas.microsoft.com/office/drawing/2014/main" id="{BBEEAA71-404D-4B7E-90D3-7B5C8F703797}"/>
              </a:ext>
            </a:extLst>
          </p:cNvPr>
          <p:cNvSpPr>
            <a:spLocks xmlns:a="http://schemas.openxmlformats.org/drawingml/2006/main" noGrp="1"/>
          </p:cNvSpPr>
          <p:nvPr/>
        </p:nvSpPr>
        <p:spPr>
          <a:xfrm xmlns:a="http://schemas.openxmlformats.org/drawingml/2006/main">
            <a:off x="6848475" y="33623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Call status. Fresh distance.</a:t>
            </a:r>
          </a:p>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A clear unavailable state.</a:t>
            </a:r>
          </a:p>
        </p:txBody>
      </p:sp>
      <p:sp>
        <p:nvSpPr>
          <p:cNvPr id="6" name="">
            <a:extLst xmlns:a="http://schemas.openxmlformats.org/drawingml/2006/main">
              <a:ext uri="{FF2B5EF4-FFF2-40B4-BE49-F238E27FC236}">
                <a16:creationId xmlns:a16="http://schemas.microsoft.com/office/drawing/2014/main" id="{1435CF0E-8D13-4460-A93C-C3C5847B7B03}"/>
              </a:ext>
            </a:extLst>
          </p:cNvPr>
          <p:cNvSpPr>
            <a:spLocks xmlns:a="http://schemas.openxmlformats.org/drawingml/2006/main" noGrp="1"/>
          </p:cNvSpPr>
          <p:nvPr/>
        </p:nvSpPr>
        <p:spPr>
          <a:xfrm xmlns:a="http://schemas.openxmlformats.org/drawingml/2006/main">
            <a:off x="733425" y="53816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One physical button controls the interaction.</a:t>
            </a:r>
          </a:p>
        </p:txBody>
      </p:sp>
      <p:sp>
        <p:nvSpPr>
          <p:cNvPr id="7" name="">
            <a:extLst xmlns:a="http://schemas.openxmlformats.org/drawingml/2006/main">
              <a:ext uri="{FF2B5EF4-FFF2-40B4-BE49-F238E27FC236}">
                <a16:creationId xmlns:a16="http://schemas.microsoft.com/office/drawing/2014/main" id="{1F8689A8-8ACA-4B03-B835-5B7B992620BF}"/>
              </a:ext>
            </a:extLst>
          </p:cNvPr>
          <p:cNvSpPr>
            <a:spLocks xmlns:a="http://schemas.openxmlformats.org/drawingml/2006/main" noGrp="1"/>
          </p:cNvSpPr>
          <p:nvPr/>
        </p:nvSpPr>
        <p:spPr>
          <a:xfrm xmlns:a="http://schemas.openxmlformats.org/drawingml/2006/main">
            <a:off x="733425" y="62674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0C4D4"/>
                </a:solidFill>
                <a:latin typeface="Helvetica Neue"/>
                <a:ea typeface="Helvetica Neue"/>
                <a:cs typeface="Helvetica Neue"/>
              </a:defRPr>
            </a:pPr>
            <a:r>
              <a:rPr sz="1425" b="0">
                <a:solidFill>
                  <a:srgbClr val="B0C4D4"/>
                </a:solidFill>
                <a:latin typeface="Helvetica Neue"/>
                <a:ea typeface="Helvetica Neue"/>
                <a:cs typeface="Helvetica Neue"/>
              </a:rPr>
              <a:t>Proposed interface. Underwater readability and haptic performance require definition.</a:t>
            </a:r>
          </a:p>
        </p:txBody>
      </p:sp>
    </p:spTree>
    <p:extLst>
      <p:ext uri="{BB962C8B-B14F-4D97-AF65-F5344CB8AC3E}">
        <p14:creationId xmlns:p14="http://schemas.microsoft.com/office/powerpoint/2010/main" val="363195201"/>
      </p:ext>
    </p:extLst>
  </p:cSld>
</p:sld>
</file>

<file path=ppt/slides/slide3.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00D3B5-83D7-4A0D-A972-615D967BD0B5}"/>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Calling and acknowledgement</a:t>
            </a:r>
          </a:p>
        </p:txBody>
      </p:sp>
      <p:sp>
        <p:nvSpPr>
          <p:cNvPr id="2" name="">
            <a:extLst xmlns:a="http://schemas.openxmlformats.org/drawingml/2006/main">
              <a:ext uri="{FF2B5EF4-FFF2-40B4-BE49-F238E27FC236}">
                <a16:creationId xmlns:a16="http://schemas.microsoft.com/office/drawing/2014/main" id="{829E5E94-2ADF-4B5D-9F87-D17E4FF41F27}"/>
              </a:ext>
            </a:extLst>
          </p:cNvPr>
          <p:cNvSpPr>
            <a:spLocks xmlns:a="http://schemas.openxmlformats.org/drawingml/2006/main" noGrp="1"/>
          </p:cNvSpPr>
          <p:nvPr/>
        </p:nvSpPr>
        <p:spPr>
          <a:xfrm xmlns:a="http://schemas.openxmlformats.org/drawingml/2006/main">
            <a:off x="714375" y="2171700"/>
            <a:ext cx="1004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9BD8E6"/>
                </a:solidFill>
                <a:latin typeface="Helvetica Neue"/>
                <a:ea typeface="Helvetica Neue"/>
                <a:cs typeface="Helvetica Neue"/>
              </a:defRPr>
            </a:pPr>
            <a:r>
              <a:rPr sz="3525" b="1">
                <a:solidFill>
                  <a:srgbClr val="9BD8E6"/>
                </a:solidFill>
                <a:latin typeface="Helvetica Neue"/>
                <a:ea typeface="Helvetica Neue"/>
                <a:cs typeface="Helvetica Neue"/>
              </a:rPr>
              <a:t>Received by device</a:t>
            </a:r>
          </a:p>
        </p:txBody>
      </p:sp>
      <p:sp>
        <p:nvSpPr>
          <p:cNvPr id="3" name="">
            <a:extLst xmlns:a="http://schemas.openxmlformats.org/drawingml/2006/main">
              <a:ext uri="{FF2B5EF4-FFF2-40B4-BE49-F238E27FC236}">
                <a16:creationId xmlns:a16="http://schemas.microsoft.com/office/drawing/2014/main" id="{FACC7D8D-F19E-4282-BBDC-5C5719A1C89B}"/>
              </a:ext>
            </a:extLst>
          </p:cNvPr>
          <p:cNvSpPr>
            <a:spLocks xmlns:a="http://schemas.openxmlformats.org/drawingml/2006/main" noGrp="1"/>
          </p:cNvSpPr>
          <p:nvPr/>
        </p:nvSpPr>
        <p:spPr>
          <a:xfrm xmlns:a="http://schemas.openxmlformats.org/drawingml/2006/main">
            <a:off x="742950" y="30289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0C4D4"/>
                </a:solidFill>
                <a:latin typeface="Helvetica Neue"/>
                <a:ea typeface="Helvetica Neue"/>
                <a:cs typeface="Helvetica Neue"/>
              </a:defRPr>
            </a:pPr>
            <a:r>
              <a:rPr sz="2250" b="0">
                <a:solidFill>
                  <a:srgbClr val="B0C4D4"/>
                </a:solidFill>
                <a:latin typeface="Helvetica Neue"/>
                <a:ea typeface="Helvetica Neue"/>
                <a:cs typeface="Helvetica Neue"/>
              </a:rPr>
              <a:t>The paired band replied to the message.</a:t>
            </a:r>
          </a:p>
        </p:txBody>
      </p:sp>
      <p:sp>
        <p:nvSpPr>
          <p:cNvPr id="4" name="">
            <a:extLst xmlns:a="http://schemas.openxmlformats.org/drawingml/2006/main">
              <a:ext uri="{FF2B5EF4-FFF2-40B4-BE49-F238E27FC236}">
                <a16:creationId xmlns:a16="http://schemas.microsoft.com/office/drawing/2014/main" id="{551B92A7-6496-4AC5-A04C-5592614F8CC8}"/>
              </a:ext>
            </a:extLst>
          </p:cNvPr>
          <p:cNvSpPr>
            <a:spLocks xmlns:a="http://schemas.openxmlformats.org/drawingml/2006/main" noGrp="1"/>
          </p:cNvSpPr>
          <p:nvPr/>
        </p:nvSpPr>
        <p:spPr>
          <a:xfrm xmlns:a="http://schemas.openxmlformats.org/drawingml/2006/main">
            <a:off x="714375" y="417195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0F4F7"/>
                </a:solidFill>
                <a:latin typeface="Helvetica Neue"/>
                <a:ea typeface="Helvetica Neue"/>
                <a:cs typeface="Helvetica Neue"/>
              </a:defRPr>
            </a:pPr>
            <a:r>
              <a:rPr sz="3525" b="1">
                <a:solidFill>
                  <a:srgbClr val="F0F4F7"/>
                </a:solidFill>
                <a:latin typeface="Helvetica Neue"/>
                <a:ea typeface="Helvetica Neue"/>
                <a:cs typeface="Helvetica Neue"/>
              </a:rPr>
              <a:t>Buddy acknowledged</a:t>
            </a:r>
          </a:p>
        </p:txBody>
      </p:sp>
      <p:sp>
        <p:nvSpPr>
          <p:cNvPr id="5" name="">
            <a:extLst xmlns:a="http://schemas.openxmlformats.org/drawingml/2006/main">
              <a:ext uri="{FF2B5EF4-FFF2-40B4-BE49-F238E27FC236}">
                <a16:creationId xmlns:a16="http://schemas.microsoft.com/office/drawing/2014/main" id="{FCB1B494-AF98-455F-A64C-EF20DFE68139}"/>
              </a:ext>
            </a:extLst>
          </p:cNvPr>
          <p:cNvSpPr>
            <a:spLocks xmlns:a="http://schemas.openxmlformats.org/drawingml/2006/main" noGrp="1"/>
          </p:cNvSpPr>
          <p:nvPr/>
        </p:nvSpPr>
        <p:spPr>
          <a:xfrm xmlns:a="http://schemas.openxmlformats.org/drawingml/2006/main">
            <a:off x="742950" y="50292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0C4D4"/>
                </a:solidFill>
                <a:latin typeface="Helvetica Neue"/>
                <a:ea typeface="Helvetica Neue"/>
                <a:cs typeface="Helvetica Neue"/>
              </a:defRPr>
            </a:pPr>
            <a:r>
              <a:rPr sz="2250" b="0">
                <a:solidFill>
                  <a:srgbClr val="B0C4D4"/>
                </a:solidFill>
                <a:latin typeface="Helvetica Neue"/>
                <a:ea typeface="Helvetica Neue"/>
                <a:cs typeface="Helvetica Neue"/>
              </a:rPr>
              <a:t>The other diver pressed the button to respond.</a:t>
            </a:r>
          </a:p>
        </p:txBody>
      </p:sp>
      <p:sp>
        <p:nvSpPr>
          <p:cNvPr id="6" name="">
            <a:extLst xmlns:a="http://schemas.openxmlformats.org/drawingml/2006/main">
              <a:ext uri="{FF2B5EF4-FFF2-40B4-BE49-F238E27FC236}">
                <a16:creationId xmlns:a16="http://schemas.microsoft.com/office/drawing/2014/main" id="{33CDFBA6-4B8B-4598-AECA-046BC83A4042}"/>
              </a:ext>
            </a:extLst>
          </p:cNvPr>
          <p:cNvSpPr>
            <a:spLocks xmlns:a="http://schemas.openxmlformats.org/drawingml/2006/main" noGrp="1"/>
          </p:cNvSpPr>
          <p:nvPr/>
        </p:nvSpPr>
        <p:spPr>
          <a:xfrm xmlns:a="http://schemas.openxmlformats.org/drawingml/2006/main">
            <a:off x="742950" y="61912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0C4D4"/>
                </a:solidFill>
                <a:latin typeface="Helvetica Neue"/>
                <a:ea typeface="Helvetica Neue"/>
                <a:cs typeface="Helvetica Neue"/>
              </a:defRPr>
            </a:pPr>
            <a:r>
              <a:rPr sz="1725" b="0">
                <a:solidFill>
                  <a:srgbClr val="B0C4D4"/>
                </a:solidFill>
                <a:latin typeface="Helvetica Neue"/>
                <a:ea typeface="Helvetica Neue"/>
                <a:cs typeface="Helvetica Neue"/>
              </a:rPr>
              <a:t>A device reply alone does not establish the diver’s acknowledgement.</a:t>
            </a:r>
          </a:p>
        </p:txBody>
      </p:sp>
    </p:spTree>
    <p:extLst>
      <p:ext uri="{BB962C8B-B14F-4D97-AF65-F5344CB8AC3E}">
        <p14:creationId xmlns:p14="http://schemas.microsoft.com/office/powerpoint/2010/main" val="1335363425"/>
      </p:ext>
    </p:extLst>
  </p:cSld>
</p:sld>
</file>

<file path=ppt/slides/slide4.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BE46864-8294-4AEB-A3CC-4DC23EDA7C13}"/>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Four display states</a:t>
            </a:r>
          </a:p>
        </p:txBody>
      </p:sp>
      <p:sp>
        <p:nvSpPr>
          <p:cNvPr id="2" name="">
            <a:extLst xmlns:a="http://schemas.openxmlformats.org/drawingml/2006/main">
              <a:ext uri="{FF2B5EF4-FFF2-40B4-BE49-F238E27FC236}">
                <a16:creationId xmlns:a16="http://schemas.microsoft.com/office/drawing/2014/main" id="{8F6D1527-0B2F-4C79-ABFE-0A1BE7F1CA3E}"/>
              </a:ext>
            </a:extLst>
          </p:cNvPr>
          <p:cNvSpPr>
            <a:spLocks xmlns:a="http://schemas.openxmlformats.org/drawingml/2006/main" noGrp="1"/>
          </p:cNvSpPr>
          <p:nvPr/>
        </p:nvSpPr>
        <p:spPr>
          <a:xfrm xmlns:a="http://schemas.openxmlformats.org/drawingml/2006/main">
            <a:off x="714375" y="2438400"/>
            <a:ext cx="2381250" cy="24765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3" name="">
            <a:extLst xmlns:a="http://schemas.openxmlformats.org/drawingml/2006/main">
              <a:ext uri="{FF2B5EF4-FFF2-40B4-BE49-F238E27FC236}">
                <a16:creationId xmlns:a16="http://schemas.microsoft.com/office/drawing/2014/main" id="{B6C5DCA9-1979-44FB-8E39-70D7A82DDD28}"/>
              </a:ext>
            </a:extLst>
          </p:cNvPr>
          <p:cNvSpPr>
            <a:spLocks xmlns:a="http://schemas.openxmlformats.org/drawingml/2006/main" noGrp="1"/>
          </p:cNvSpPr>
          <p:nvPr/>
        </p:nvSpPr>
        <p:spPr>
          <a:xfrm xmlns:a="http://schemas.openxmlformats.org/drawingml/2006/main">
            <a:off x="904875" y="26289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READY</a:t>
            </a:r>
          </a:p>
        </p:txBody>
      </p:sp>
      <p:sp>
        <p:nvSpPr>
          <p:cNvPr id="4" name="">
            <a:extLst xmlns:a="http://schemas.openxmlformats.org/drawingml/2006/main">
              <a:ext uri="{FF2B5EF4-FFF2-40B4-BE49-F238E27FC236}">
                <a16:creationId xmlns:a16="http://schemas.microsoft.com/office/drawing/2014/main" id="{2D090960-50DA-4174-979E-E25FE11E41F0}"/>
              </a:ext>
            </a:extLst>
          </p:cNvPr>
          <p:cNvSpPr>
            <a:spLocks xmlns:a="http://schemas.openxmlformats.org/drawingml/2006/main" noGrp="1"/>
          </p:cNvSpPr>
          <p:nvPr/>
        </p:nvSpPr>
        <p:spPr>
          <a:xfrm xmlns:a="http://schemas.openxmlformats.org/drawingml/2006/main">
            <a:off x="876300" y="3200400"/>
            <a:ext cx="2057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0F4F7"/>
                </a:solidFill>
                <a:latin typeface="Helvetica Neue"/>
                <a:ea typeface="Helvetica Neue"/>
                <a:cs typeface="Helvetica Neue"/>
              </a:defRPr>
            </a:pPr>
            <a:r>
              <a:rPr sz="2250" b="1">
                <a:solidFill>
                  <a:srgbClr val="F0F4F7"/>
                </a:solidFill>
                <a:latin typeface="Helvetica Neue"/>
                <a:ea typeface="Helvetica Neue"/>
                <a:cs typeface="Helvetica Neue"/>
              </a:rPr>
              <a:t>BUDDY B</a:t>
            </a:r>
          </a:p>
        </p:txBody>
      </p:sp>
      <p:sp>
        <p:nvSpPr>
          <p:cNvPr id="5" name="">
            <a:extLst xmlns:a="http://schemas.openxmlformats.org/drawingml/2006/main">
              <a:ext uri="{FF2B5EF4-FFF2-40B4-BE49-F238E27FC236}">
                <a16:creationId xmlns:a16="http://schemas.microsoft.com/office/drawing/2014/main" id="{B451A418-136B-48D8-AED7-2C85524FDEC3}"/>
              </a:ext>
            </a:extLst>
          </p:cNvPr>
          <p:cNvSpPr>
            <a:spLocks xmlns:a="http://schemas.openxmlformats.org/drawingml/2006/main" noGrp="1"/>
          </p:cNvSpPr>
          <p:nvPr/>
        </p:nvSpPr>
        <p:spPr>
          <a:xfrm xmlns:a="http://schemas.openxmlformats.org/drawingml/2006/main">
            <a:off x="904875" y="39528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0F4F7"/>
                </a:solidFill>
                <a:latin typeface="Helvetica Neue"/>
                <a:ea typeface="Helvetica Neue"/>
                <a:cs typeface="Helvetica Neue"/>
              </a:defRPr>
            </a:pPr>
            <a:r>
              <a:rPr sz="1575" b="0">
                <a:solidFill>
                  <a:srgbClr val="F0F4F7"/>
                </a:solidFill>
                <a:latin typeface="Helvetica Neue"/>
                <a:ea typeface="Helvetica Neue"/>
                <a:cs typeface="Helvetica Neue"/>
              </a:rPr>
              <a:t>Paired</a:t>
            </a:r>
          </a:p>
        </p:txBody>
      </p:sp>
      <p:sp>
        <p:nvSpPr>
          <p:cNvPr id="6" name="">
            <a:extLst xmlns:a="http://schemas.openxmlformats.org/drawingml/2006/main">
              <a:ext uri="{FF2B5EF4-FFF2-40B4-BE49-F238E27FC236}">
                <a16:creationId xmlns:a16="http://schemas.microsoft.com/office/drawing/2014/main" id="{CBBAB4A2-CB3D-4474-8C3A-97453ECB268C}"/>
              </a:ext>
            </a:extLst>
          </p:cNvPr>
          <p:cNvSpPr>
            <a:spLocks xmlns:a="http://schemas.openxmlformats.org/drawingml/2006/main" noGrp="1"/>
          </p:cNvSpPr>
          <p:nvPr/>
        </p:nvSpPr>
        <p:spPr>
          <a:xfrm xmlns:a="http://schemas.openxmlformats.org/drawingml/2006/main">
            <a:off x="904875" y="467677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4D4"/>
                </a:solidFill>
                <a:latin typeface="Helvetica Neue"/>
                <a:ea typeface="Helvetica Neue"/>
                <a:cs typeface="Helvetica Neue"/>
              </a:defRPr>
            </a:pPr>
            <a:r>
              <a:rPr sz="1200" b="0">
                <a:solidFill>
                  <a:srgbClr val="B0C4D4"/>
                </a:solidFill>
                <a:latin typeface="Helvetica Neue"/>
                <a:ea typeface="Helvetica Neue"/>
                <a:cs typeface="Helvetica Neue"/>
              </a:rPr>
              <a:t>Battery 82%</a:t>
            </a:r>
          </a:p>
        </p:txBody>
      </p:sp>
      <p:sp>
        <p:nvSpPr>
          <p:cNvPr id="7" name="">
            <a:extLst xmlns:a="http://schemas.openxmlformats.org/drawingml/2006/main">
              <a:ext uri="{FF2B5EF4-FFF2-40B4-BE49-F238E27FC236}">
                <a16:creationId xmlns:a16="http://schemas.microsoft.com/office/drawing/2014/main" id="{19D8FAD9-1986-4328-A803-1C218744283E}"/>
              </a:ext>
            </a:extLst>
          </p:cNvPr>
          <p:cNvSpPr>
            <a:spLocks xmlns:a="http://schemas.openxmlformats.org/drawingml/2006/main" noGrp="1"/>
          </p:cNvSpPr>
          <p:nvPr/>
        </p:nvSpPr>
        <p:spPr>
          <a:xfrm xmlns:a="http://schemas.openxmlformats.org/drawingml/2006/main">
            <a:off x="3505200" y="2438400"/>
            <a:ext cx="2381250" cy="24765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8" name="">
            <a:extLst xmlns:a="http://schemas.openxmlformats.org/drawingml/2006/main">
              <a:ext uri="{FF2B5EF4-FFF2-40B4-BE49-F238E27FC236}">
                <a16:creationId xmlns:a16="http://schemas.microsoft.com/office/drawing/2014/main" id="{5B7ABBA5-44D8-430F-AD3A-6757846ACC8E}"/>
              </a:ext>
            </a:extLst>
          </p:cNvPr>
          <p:cNvSpPr>
            <a:spLocks xmlns:a="http://schemas.openxmlformats.org/drawingml/2006/main" noGrp="1"/>
          </p:cNvSpPr>
          <p:nvPr/>
        </p:nvSpPr>
        <p:spPr>
          <a:xfrm xmlns:a="http://schemas.openxmlformats.org/drawingml/2006/main">
            <a:off x="3695700" y="26289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CALLING</a:t>
            </a:r>
          </a:p>
        </p:txBody>
      </p:sp>
      <p:sp>
        <p:nvSpPr>
          <p:cNvPr id="9" name="">
            <a:extLst xmlns:a="http://schemas.openxmlformats.org/drawingml/2006/main">
              <a:ext uri="{FF2B5EF4-FFF2-40B4-BE49-F238E27FC236}">
                <a16:creationId xmlns:a16="http://schemas.microsoft.com/office/drawing/2014/main" id="{A9AC1062-F35E-4940-8876-6E459B402C2B}"/>
              </a:ext>
            </a:extLst>
          </p:cNvPr>
          <p:cNvSpPr>
            <a:spLocks xmlns:a="http://schemas.openxmlformats.org/drawingml/2006/main" noGrp="1"/>
          </p:cNvSpPr>
          <p:nvPr/>
        </p:nvSpPr>
        <p:spPr>
          <a:xfrm xmlns:a="http://schemas.openxmlformats.org/drawingml/2006/main">
            <a:off x="3667125" y="3200400"/>
            <a:ext cx="2057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0F4F7"/>
                </a:solidFill>
                <a:latin typeface="Helvetica Neue"/>
                <a:ea typeface="Helvetica Neue"/>
                <a:cs typeface="Helvetica Neue"/>
              </a:defRPr>
            </a:pPr>
            <a:r>
              <a:rPr sz="3675" b="1">
                <a:solidFill>
                  <a:srgbClr val="F0F4F7"/>
                </a:solidFill>
                <a:latin typeface="Helvetica Neue"/>
                <a:ea typeface="Helvetica Neue"/>
                <a:cs typeface="Helvetica Neue"/>
              </a:rPr>
              <a:t>Sent</a:t>
            </a:r>
          </a:p>
        </p:txBody>
      </p:sp>
      <p:sp>
        <p:nvSpPr>
          <p:cNvPr id="10" name="">
            <a:extLst xmlns:a="http://schemas.openxmlformats.org/drawingml/2006/main">
              <a:ext uri="{FF2B5EF4-FFF2-40B4-BE49-F238E27FC236}">
                <a16:creationId xmlns:a16="http://schemas.microsoft.com/office/drawing/2014/main" id="{33739777-33F0-4139-9D3D-7A265E1A09C6}"/>
              </a:ext>
            </a:extLst>
          </p:cNvPr>
          <p:cNvSpPr>
            <a:spLocks xmlns:a="http://schemas.openxmlformats.org/drawingml/2006/main" noGrp="1"/>
          </p:cNvSpPr>
          <p:nvPr/>
        </p:nvSpPr>
        <p:spPr>
          <a:xfrm xmlns:a="http://schemas.openxmlformats.org/drawingml/2006/main">
            <a:off x="3695700" y="39528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0F4F7"/>
                </a:solidFill>
                <a:latin typeface="Helvetica Neue"/>
                <a:ea typeface="Helvetica Neue"/>
                <a:cs typeface="Helvetica Neue"/>
              </a:defRPr>
            </a:pPr>
            <a:r>
              <a:rPr sz="1575" b="0">
                <a:solidFill>
                  <a:srgbClr val="F0F4F7"/>
                </a:solidFill>
                <a:latin typeface="Helvetica Neue"/>
                <a:ea typeface="Helvetica Neue"/>
                <a:cs typeface="Helvetica Neue"/>
              </a:rPr>
              <a:t>Waiting for reply</a:t>
            </a:r>
          </a:p>
        </p:txBody>
      </p:sp>
      <p:sp>
        <p:nvSpPr>
          <p:cNvPr id="11" name="">
            <a:extLst xmlns:a="http://schemas.openxmlformats.org/drawingml/2006/main">
              <a:ext uri="{FF2B5EF4-FFF2-40B4-BE49-F238E27FC236}">
                <a16:creationId xmlns:a16="http://schemas.microsoft.com/office/drawing/2014/main" id="{98B2BDA8-CEEA-418A-9FED-2909CD9F6F88}"/>
              </a:ext>
            </a:extLst>
          </p:cNvPr>
          <p:cNvSpPr>
            <a:spLocks xmlns:a="http://schemas.openxmlformats.org/drawingml/2006/main" noGrp="1"/>
          </p:cNvSpPr>
          <p:nvPr/>
        </p:nvSpPr>
        <p:spPr>
          <a:xfrm xmlns:a="http://schemas.openxmlformats.org/drawingml/2006/main">
            <a:off x="3695700" y="467677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4D4"/>
                </a:solidFill>
                <a:latin typeface="Helvetica Neue"/>
                <a:ea typeface="Helvetica Neue"/>
                <a:cs typeface="Helvetica Neue"/>
              </a:defRPr>
            </a:pPr>
            <a:r>
              <a:rPr sz="1200" b="0">
                <a:solidFill>
                  <a:srgbClr val="B0C4D4"/>
                </a:solidFill>
                <a:latin typeface="Helvetica Neue"/>
                <a:ea typeface="Helvetica Neue"/>
                <a:cs typeface="Helvetica Neue"/>
              </a:rPr>
              <a:t>Battery 82%</a:t>
            </a:r>
          </a:p>
        </p:txBody>
      </p:sp>
      <p:sp>
        <p:nvSpPr>
          <p:cNvPr id="12" name="">
            <a:extLst xmlns:a="http://schemas.openxmlformats.org/drawingml/2006/main">
              <a:ext uri="{FF2B5EF4-FFF2-40B4-BE49-F238E27FC236}">
                <a16:creationId xmlns:a16="http://schemas.microsoft.com/office/drawing/2014/main" id="{283A33ED-8E7C-4113-965E-57141931DE64}"/>
              </a:ext>
            </a:extLst>
          </p:cNvPr>
          <p:cNvSpPr>
            <a:spLocks xmlns:a="http://schemas.openxmlformats.org/drawingml/2006/main" noGrp="1"/>
          </p:cNvSpPr>
          <p:nvPr/>
        </p:nvSpPr>
        <p:spPr>
          <a:xfrm xmlns:a="http://schemas.openxmlformats.org/drawingml/2006/main">
            <a:off x="6296025" y="2438400"/>
            <a:ext cx="2381250" cy="24765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13" name="">
            <a:extLst xmlns:a="http://schemas.openxmlformats.org/drawingml/2006/main">
              <a:ext uri="{FF2B5EF4-FFF2-40B4-BE49-F238E27FC236}">
                <a16:creationId xmlns:a16="http://schemas.microsoft.com/office/drawing/2014/main" id="{7CB74BEF-0BAE-4FDD-B3D2-545473770FEF}"/>
              </a:ext>
            </a:extLst>
          </p:cNvPr>
          <p:cNvSpPr>
            <a:spLocks xmlns:a="http://schemas.openxmlformats.org/drawingml/2006/main" noGrp="1"/>
          </p:cNvSpPr>
          <p:nvPr/>
        </p:nvSpPr>
        <p:spPr>
          <a:xfrm xmlns:a="http://schemas.openxmlformats.org/drawingml/2006/main">
            <a:off x="6486525" y="26289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RANGING</a:t>
            </a:r>
          </a:p>
        </p:txBody>
      </p:sp>
      <p:sp>
        <p:nvSpPr>
          <p:cNvPr id="14" name="">
            <a:extLst xmlns:a="http://schemas.openxmlformats.org/drawingml/2006/main">
              <a:ext uri="{FF2B5EF4-FFF2-40B4-BE49-F238E27FC236}">
                <a16:creationId xmlns:a16="http://schemas.microsoft.com/office/drawing/2014/main" id="{672AEDC6-F7EF-4F21-A892-9AC10B20A810}"/>
              </a:ext>
            </a:extLst>
          </p:cNvPr>
          <p:cNvSpPr>
            <a:spLocks xmlns:a="http://schemas.openxmlformats.org/drawingml/2006/main" noGrp="1"/>
          </p:cNvSpPr>
          <p:nvPr/>
        </p:nvSpPr>
        <p:spPr>
          <a:xfrm xmlns:a="http://schemas.openxmlformats.org/drawingml/2006/main">
            <a:off x="6457950" y="3200400"/>
            <a:ext cx="2057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0F4F7"/>
                </a:solidFill>
                <a:latin typeface="Helvetica Neue"/>
                <a:ea typeface="Helvetica Neue"/>
                <a:cs typeface="Helvetica Neue"/>
              </a:defRPr>
            </a:pPr>
            <a:r>
              <a:rPr sz="3675" b="1">
                <a:solidFill>
                  <a:srgbClr val="F0F4F7"/>
                </a:solidFill>
                <a:latin typeface="Helvetica Neue"/>
                <a:ea typeface="Helvetica Neue"/>
                <a:cs typeface="Helvetica Neue"/>
              </a:rPr>
              <a:t>8 m</a:t>
            </a:r>
          </a:p>
        </p:txBody>
      </p:sp>
      <p:sp>
        <p:nvSpPr>
          <p:cNvPr id="15" name="">
            <a:extLst xmlns:a="http://schemas.openxmlformats.org/drawingml/2006/main">
              <a:ext uri="{FF2B5EF4-FFF2-40B4-BE49-F238E27FC236}">
                <a16:creationId xmlns:a16="http://schemas.microsoft.com/office/drawing/2014/main" id="{6C2BCDBF-8171-4729-848B-454C7E00A2E9}"/>
              </a:ext>
            </a:extLst>
          </p:cNvPr>
          <p:cNvSpPr>
            <a:spLocks xmlns:a="http://schemas.openxmlformats.org/drawingml/2006/main" noGrp="1"/>
          </p:cNvSpPr>
          <p:nvPr/>
        </p:nvSpPr>
        <p:spPr>
          <a:xfrm xmlns:a="http://schemas.openxmlformats.org/drawingml/2006/main">
            <a:off x="6486525" y="39528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0F4F7"/>
                </a:solidFill>
                <a:latin typeface="Helvetica Neue"/>
                <a:ea typeface="Helvetica Neue"/>
                <a:cs typeface="Helvetica Neue"/>
              </a:defRPr>
            </a:pPr>
            <a:r>
              <a:rPr sz="1575" b="0">
                <a:solidFill>
                  <a:srgbClr val="F0F4F7"/>
                </a:solidFill>
                <a:latin typeface="Helvetica Neue"/>
                <a:ea typeface="Helvetica Neue"/>
                <a:cs typeface="Helvetica Neue"/>
              </a:rPr>
              <a:t>Getting closer</a:t>
            </a:r>
          </a:p>
        </p:txBody>
      </p:sp>
      <p:sp>
        <p:nvSpPr>
          <p:cNvPr id="16" name="">
            <a:extLst xmlns:a="http://schemas.openxmlformats.org/drawingml/2006/main">
              <a:ext uri="{FF2B5EF4-FFF2-40B4-BE49-F238E27FC236}">
                <a16:creationId xmlns:a16="http://schemas.microsoft.com/office/drawing/2014/main" id="{77995EEB-BD5D-4B8E-91FD-735230F85226}"/>
              </a:ext>
            </a:extLst>
          </p:cNvPr>
          <p:cNvSpPr>
            <a:spLocks xmlns:a="http://schemas.openxmlformats.org/drawingml/2006/main" noGrp="1"/>
          </p:cNvSpPr>
          <p:nvPr/>
        </p:nvSpPr>
        <p:spPr>
          <a:xfrm xmlns:a="http://schemas.openxmlformats.org/drawingml/2006/main">
            <a:off x="6486525" y="467677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4D4"/>
                </a:solidFill>
                <a:latin typeface="Helvetica Neue"/>
                <a:ea typeface="Helvetica Neue"/>
                <a:cs typeface="Helvetica Neue"/>
              </a:defRPr>
            </a:pPr>
            <a:r>
              <a:rPr sz="1200" b="0">
                <a:solidFill>
                  <a:srgbClr val="B0C4D4"/>
                </a:solidFill>
                <a:latin typeface="Helvetica Neue"/>
                <a:ea typeface="Helvetica Neue"/>
                <a:cs typeface="Helvetica Neue"/>
              </a:rPr>
              <a:t>Fresh reading</a:t>
            </a:r>
          </a:p>
        </p:txBody>
      </p:sp>
      <p:sp>
        <p:nvSpPr>
          <p:cNvPr id="17" name="">
            <a:extLst xmlns:a="http://schemas.openxmlformats.org/drawingml/2006/main">
              <a:ext uri="{FF2B5EF4-FFF2-40B4-BE49-F238E27FC236}">
                <a16:creationId xmlns:a16="http://schemas.microsoft.com/office/drawing/2014/main" id="{A8FF5FEE-831A-47C6-8F03-7555EE69770D}"/>
              </a:ext>
            </a:extLst>
          </p:cNvPr>
          <p:cNvSpPr>
            <a:spLocks xmlns:a="http://schemas.openxmlformats.org/drawingml/2006/main" noGrp="1"/>
          </p:cNvSpPr>
          <p:nvPr/>
        </p:nvSpPr>
        <p:spPr>
          <a:xfrm xmlns:a="http://schemas.openxmlformats.org/drawingml/2006/main">
            <a:off x="9086850" y="2438400"/>
            <a:ext cx="2381250" cy="24765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18" name="">
            <a:extLst xmlns:a="http://schemas.openxmlformats.org/drawingml/2006/main">
              <a:ext uri="{FF2B5EF4-FFF2-40B4-BE49-F238E27FC236}">
                <a16:creationId xmlns:a16="http://schemas.microsoft.com/office/drawing/2014/main" id="{9DD11CC8-B89E-446C-9B68-872858F0C663}"/>
              </a:ext>
            </a:extLst>
          </p:cNvPr>
          <p:cNvSpPr>
            <a:spLocks xmlns:a="http://schemas.openxmlformats.org/drawingml/2006/main" noGrp="1"/>
          </p:cNvSpPr>
          <p:nvPr/>
        </p:nvSpPr>
        <p:spPr>
          <a:xfrm xmlns:a="http://schemas.openxmlformats.org/drawingml/2006/main">
            <a:off x="9277350" y="26289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LINK LOST</a:t>
            </a:r>
          </a:p>
        </p:txBody>
      </p:sp>
      <p:sp>
        <p:nvSpPr>
          <p:cNvPr id="19" name="">
            <a:extLst xmlns:a="http://schemas.openxmlformats.org/drawingml/2006/main">
              <a:ext uri="{FF2B5EF4-FFF2-40B4-BE49-F238E27FC236}">
                <a16:creationId xmlns:a16="http://schemas.microsoft.com/office/drawing/2014/main" id="{5C5F75B7-1D19-4F4D-AD6E-3CD255C5CFA1}"/>
              </a:ext>
            </a:extLst>
          </p:cNvPr>
          <p:cNvSpPr>
            <a:spLocks xmlns:a="http://schemas.openxmlformats.org/drawingml/2006/main" noGrp="1"/>
          </p:cNvSpPr>
          <p:nvPr/>
        </p:nvSpPr>
        <p:spPr>
          <a:xfrm xmlns:a="http://schemas.openxmlformats.org/drawingml/2006/main">
            <a:off x="9248775" y="3200400"/>
            <a:ext cx="2057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0F4F7"/>
                </a:solidFill>
                <a:latin typeface="Helvetica Neue"/>
                <a:ea typeface="Helvetica Neue"/>
                <a:cs typeface="Helvetica Neue"/>
              </a:defRPr>
            </a:pPr>
            <a:r>
              <a:rPr sz="3675" b="1">
                <a:solidFill>
                  <a:srgbClr val="F0F4F7"/>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CFF7D1E0-5ECA-4B2E-84EB-401A7154E091}"/>
              </a:ext>
            </a:extLst>
          </p:cNvPr>
          <p:cNvSpPr>
            <a:spLocks xmlns:a="http://schemas.openxmlformats.org/drawingml/2006/main" noGrp="1"/>
          </p:cNvSpPr>
          <p:nvPr/>
        </p:nvSpPr>
        <p:spPr>
          <a:xfrm xmlns:a="http://schemas.openxmlformats.org/drawingml/2006/main">
            <a:off x="9277350" y="39528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0F4F7"/>
                </a:solidFill>
                <a:latin typeface="Helvetica Neue"/>
                <a:ea typeface="Helvetica Neue"/>
                <a:cs typeface="Helvetica Neue"/>
              </a:defRPr>
            </a:pPr>
            <a:r>
              <a:rPr sz="1575" b="0">
                <a:solidFill>
                  <a:srgbClr val="F0F4F7"/>
                </a:solidFill>
                <a:latin typeface="Helvetica Neue"/>
                <a:ea typeface="Helvetica Neue"/>
                <a:cs typeface="Helvetica Neue"/>
              </a:rPr>
              <a:t>Distance unavailable</a:t>
            </a:r>
          </a:p>
        </p:txBody>
      </p:sp>
      <p:sp>
        <p:nvSpPr>
          <p:cNvPr id="21" name="">
            <a:extLst xmlns:a="http://schemas.openxmlformats.org/drawingml/2006/main">
              <a:ext uri="{FF2B5EF4-FFF2-40B4-BE49-F238E27FC236}">
                <a16:creationId xmlns:a16="http://schemas.microsoft.com/office/drawing/2014/main" id="{AFB962D3-A8D3-4F1D-834F-8DE84FD8949E}"/>
              </a:ext>
            </a:extLst>
          </p:cNvPr>
          <p:cNvSpPr>
            <a:spLocks xmlns:a="http://schemas.openxmlformats.org/drawingml/2006/main" noGrp="1"/>
          </p:cNvSpPr>
          <p:nvPr/>
        </p:nvSpPr>
        <p:spPr>
          <a:xfrm xmlns:a="http://schemas.openxmlformats.org/drawingml/2006/main">
            <a:off x="9277350" y="467677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4D4"/>
                </a:solidFill>
                <a:latin typeface="Helvetica Neue"/>
                <a:ea typeface="Helvetica Neue"/>
                <a:cs typeface="Helvetica Neue"/>
              </a:defRPr>
            </a:pPr>
            <a:r>
              <a:rPr sz="1200" b="0">
                <a:solidFill>
                  <a:srgbClr val="B0C4D4"/>
                </a:solidFill>
                <a:latin typeface="Helvetica Neue"/>
                <a:ea typeface="Helvetica Neue"/>
                <a:cs typeface="Helvetica Neue"/>
              </a:rPr>
              <a:t>No current reading</a:t>
            </a:r>
          </a:p>
        </p:txBody>
      </p:sp>
      <p:sp>
        <p:nvSpPr>
          <p:cNvPr id="22" name="">
            <a:extLst xmlns:a="http://schemas.openxmlformats.org/drawingml/2006/main">
              <a:ext uri="{FF2B5EF4-FFF2-40B4-BE49-F238E27FC236}">
                <a16:creationId xmlns:a16="http://schemas.microsoft.com/office/drawing/2014/main" id="{D7A81A87-8449-4EC9-9995-F545F4DD08EC}"/>
              </a:ext>
            </a:extLst>
          </p:cNvPr>
          <p:cNvSpPr>
            <a:spLocks xmlns:a="http://schemas.openxmlformats.org/drawingml/2006/main" noGrp="1"/>
          </p:cNvSpPr>
          <p:nvPr/>
        </p:nvSpPr>
        <p:spPr>
          <a:xfrm xmlns:a="http://schemas.openxmlformats.org/drawingml/2006/main">
            <a:off x="742950" y="532447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0F4F7"/>
                </a:solidFill>
                <a:latin typeface="Helvetica Neue"/>
                <a:ea typeface="Helvetica Neue"/>
                <a:cs typeface="Helvetica Neue"/>
              </a:defRPr>
            </a:pPr>
            <a:r>
              <a:rPr sz="2325" b="0">
                <a:solidFill>
                  <a:srgbClr val="F0F4F7"/>
                </a:solidFill>
                <a:latin typeface="Helvetica Neue"/>
                <a:ea typeface="Helvetica Neue"/>
                <a:cs typeface="Helvetica Neue"/>
              </a:rPr>
              <a:t>Fresh readings on both bands. No old distance presented as current.</a:t>
            </a:r>
          </a:p>
        </p:txBody>
      </p:sp>
      <p:sp>
        <p:nvSpPr>
          <p:cNvPr id="23" name="">
            <a:extLst xmlns:a="http://schemas.openxmlformats.org/drawingml/2006/main">
              <a:ext uri="{FF2B5EF4-FFF2-40B4-BE49-F238E27FC236}">
                <a16:creationId xmlns:a16="http://schemas.microsoft.com/office/drawing/2014/main" id="{2BAC02E4-9729-412A-B2A6-997D635F419D}"/>
              </a:ext>
            </a:extLst>
          </p:cNvPr>
          <p:cNvSpPr>
            <a:spLocks xmlns:a="http://schemas.openxmlformats.org/drawingml/2006/main" noGrp="1"/>
          </p:cNvSpPr>
          <p:nvPr/>
        </p:nvSpPr>
        <p:spPr>
          <a:xfrm xmlns:a="http://schemas.openxmlformats.org/drawingml/2006/main">
            <a:off x="742950" y="62579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0C4D4"/>
                </a:solidFill>
                <a:latin typeface="Helvetica Neue"/>
                <a:ea typeface="Helvetica Neue"/>
                <a:cs typeface="Helvetica Neue"/>
              </a:defRPr>
            </a:pPr>
            <a:r>
              <a:rPr sz="1575" b="0">
                <a:solidFill>
                  <a:srgbClr val="B0C4D4"/>
                </a:solidFill>
                <a:latin typeface="Helvetica Neue"/>
                <a:ea typeface="Helvetica Neue"/>
                <a:cs typeface="Helvetica Neue"/>
              </a:rPr>
              <a:t>Enlarged UI studies with synthetic values. Text accompanies status colors.</a:t>
            </a:r>
          </a:p>
        </p:txBody>
      </p:sp>
    </p:spTree>
    <p:extLst>
      <p:ext uri="{BB962C8B-B14F-4D97-AF65-F5344CB8AC3E}">
        <p14:creationId xmlns:p14="http://schemas.microsoft.com/office/powerpoint/2010/main" val="1051630792"/>
      </p:ext>
    </p:extLst>
  </p:cSld>
</p:sld>
</file>

<file path=ppt/slides/slide5.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764E17-35D9-4FD5-A188-782316184837}"/>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Distance and direction</a:t>
            </a:r>
          </a:p>
        </p:txBody>
      </p:sp>
      <p:sp>
        <p:nvSpPr>
          <p:cNvPr id="2" name="">
            <a:extLst xmlns:a="http://schemas.openxmlformats.org/drawingml/2006/main">
              <a:ext uri="{FF2B5EF4-FFF2-40B4-BE49-F238E27FC236}">
                <a16:creationId xmlns:a16="http://schemas.microsoft.com/office/drawing/2014/main" id="{E9BDC70A-9002-4DE6-BB24-1D8748CD3C6A}"/>
              </a:ext>
            </a:extLst>
          </p:cNvPr>
          <p:cNvSpPr>
            <a:spLocks xmlns:a="http://schemas.openxmlformats.org/drawingml/2006/main" noGrp="1"/>
          </p:cNvSpPr>
          <p:nvPr/>
        </p:nvSpPr>
        <p:spPr>
          <a:xfrm xmlns:a="http://schemas.openxmlformats.org/drawingml/2006/main">
            <a:off x="714375" y="2152650"/>
            <a:ext cx="4476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400" b="1">
                <a:solidFill>
                  <a:srgbClr val="9BD8E6"/>
                </a:solidFill>
                <a:latin typeface="Helvetica Neue"/>
                <a:ea typeface="Helvetica Neue"/>
                <a:cs typeface="Helvetica Neue"/>
              </a:defRPr>
            </a:pPr>
            <a:r>
              <a:rPr sz="8400" b="1">
                <a:solidFill>
                  <a:srgbClr val="9BD8E6"/>
                </a:solidFill>
                <a:latin typeface="Helvetica Neue"/>
                <a:ea typeface="Helvetica Neue"/>
                <a:cs typeface="Helvetica Neue"/>
              </a:rPr>
              <a:t>8 m</a:t>
            </a:r>
          </a:p>
        </p:txBody>
      </p:sp>
      <p:sp>
        <p:nvSpPr>
          <p:cNvPr id="3" name="">
            <a:extLst xmlns:a="http://schemas.openxmlformats.org/drawingml/2006/main">
              <a:ext uri="{FF2B5EF4-FFF2-40B4-BE49-F238E27FC236}">
                <a16:creationId xmlns:a16="http://schemas.microsoft.com/office/drawing/2014/main" id="{DCF3F599-B429-4B92-94F6-9C02C9C450F2}"/>
              </a:ext>
            </a:extLst>
          </p:cNvPr>
          <p:cNvSpPr>
            <a:spLocks xmlns:a="http://schemas.openxmlformats.org/drawingml/2006/main" noGrp="1"/>
          </p:cNvSpPr>
          <p:nvPr/>
        </p:nvSpPr>
        <p:spPr>
          <a:xfrm xmlns:a="http://schemas.openxmlformats.org/drawingml/2006/main">
            <a:off x="752475" y="37242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0C4D4"/>
                </a:solidFill>
                <a:latin typeface="Helvetica Neue"/>
                <a:ea typeface="Helvetica Neue"/>
                <a:cs typeface="Helvetica Neue"/>
              </a:defRPr>
            </a:pPr>
            <a:r>
              <a:rPr sz="2250" b="0">
                <a:solidFill>
                  <a:srgbClr val="B0C4D4"/>
                </a:solidFill>
                <a:latin typeface="Helvetica Neue"/>
                <a:ea typeface="Helvetica Neue"/>
                <a:cs typeface="Helvetica Neue"/>
              </a:rPr>
              <a:t>Estimated separation</a:t>
            </a:r>
          </a:p>
        </p:txBody>
      </p:sp>
      <p:sp>
        <p:nvSpPr>
          <p:cNvPr id="4" name="">
            <a:extLst xmlns:a="http://schemas.openxmlformats.org/drawingml/2006/main">
              <a:ext uri="{FF2B5EF4-FFF2-40B4-BE49-F238E27FC236}">
                <a16:creationId xmlns:a16="http://schemas.microsoft.com/office/drawing/2014/main" id="{8E47DC87-5271-405B-A3F5-163453F848C3}"/>
              </a:ext>
            </a:extLst>
          </p:cNvPr>
          <p:cNvSpPr>
            <a:spLocks xmlns:a="http://schemas.openxmlformats.org/drawingml/2006/main" noGrp="1"/>
          </p:cNvSpPr>
          <p:nvPr/>
        </p:nvSpPr>
        <p:spPr>
          <a:xfrm xmlns:a="http://schemas.openxmlformats.org/drawingml/2006/main">
            <a:off x="6610350" y="23812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7"/>
                </a:solidFill>
                <a:latin typeface="Helvetica Neue"/>
                <a:ea typeface="Helvetica Neue"/>
                <a:cs typeface="Helvetica Neue"/>
              </a:defRPr>
            </a:pPr>
            <a:r>
              <a:rPr sz="3150" b="1">
                <a:solidFill>
                  <a:srgbClr val="F0F4F7"/>
                </a:solidFill>
                <a:latin typeface="Helvetica Neue"/>
                <a:ea typeface="Helvetica Neue"/>
                <a:cs typeface="Helvetica Neue"/>
              </a:rPr>
              <a:t>Where is the buddy?</a:t>
            </a:r>
          </a:p>
        </p:txBody>
      </p:sp>
      <p:sp>
        <p:nvSpPr>
          <p:cNvPr id="5" name="">
            <a:extLst xmlns:a="http://schemas.openxmlformats.org/drawingml/2006/main">
              <a:ext uri="{FF2B5EF4-FFF2-40B4-BE49-F238E27FC236}">
                <a16:creationId xmlns:a16="http://schemas.microsoft.com/office/drawing/2014/main" id="{6B36F79A-F8CF-4A38-BC5C-92CD6D96DB6E}"/>
              </a:ext>
            </a:extLst>
          </p:cNvPr>
          <p:cNvSpPr>
            <a:spLocks xmlns:a="http://schemas.openxmlformats.org/drawingml/2006/main" noGrp="1"/>
          </p:cNvSpPr>
          <p:nvPr/>
        </p:nvSpPr>
        <p:spPr>
          <a:xfrm xmlns:a="http://schemas.openxmlformats.org/drawingml/2006/main">
            <a:off x="6648450" y="347662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0C4D4"/>
                </a:solidFill>
                <a:latin typeface="Helvetica Neue"/>
                <a:ea typeface="Helvetica Neue"/>
                <a:cs typeface="Helvetica Neue"/>
              </a:defRPr>
            </a:pPr>
            <a:r>
              <a:rPr sz="2325" b="0">
                <a:solidFill>
                  <a:srgbClr val="B0C4D4"/>
                </a:solidFill>
                <a:latin typeface="Helvetica Neue"/>
                <a:ea typeface="Helvetica Neue"/>
                <a:cs typeface="Helvetica Neue"/>
              </a:rPr>
              <a:t>Left, right, above or below</a:t>
            </a:r>
          </a:p>
          <a:p xmlns:a="http://schemas.openxmlformats.org/drawingml/2006/main">
            <a:pPr>
              <a:defRPr sz="2325" b="0">
                <a:solidFill>
                  <a:srgbClr val="B0C4D4"/>
                </a:solidFill>
                <a:latin typeface="Helvetica Neue"/>
                <a:ea typeface="Helvetica Neue"/>
                <a:cs typeface="Helvetica Neue"/>
              </a:defRPr>
            </a:pPr>
            <a:r>
              <a:rPr sz="2325" b="0">
                <a:solidFill>
                  <a:srgbClr val="B0C4D4"/>
                </a:solidFill>
                <a:latin typeface="Helvetica Neue"/>
                <a:ea typeface="Helvetica Neue"/>
                <a:cs typeface="Helvetica Neue"/>
              </a:rPr>
              <a:t>remain unknown.</a:t>
            </a:r>
          </a:p>
        </p:txBody>
      </p:sp>
      <p:sp>
        <p:nvSpPr>
          <p:cNvPr id="6" name="">
            <a:extLst xmlns:a="http://schemas.openxmlformats.org/drawingml/2006/main">
              <a:ext uri="{FF2B5EF4-FFF2-40B4-BE49-F238E27FC236}">
                <a16:creationId xmlns:a16="http://schemas.microsoft.com/office/drawing/2014/main" id="{C1D1E45A-41EF-4E85-8EFE-A4C1F8417EB1}"/>
              </a:ext>
            </a:extLst>
          </p:cNvPr>
          <p:cNvSpPr>
            <a:spLocks xmlns:a="http://schemas.openxmlformats.org/drawingml/2006/main" noGrp="1"/>
          </p:cNvSpPr>
          <p:nvPr/>
        </p:nvSpPr>
        <p:spPr>
          <a:xfrm xmlns:a="http://schemas.openxmlformats.org/drawingml/2006/main">
            <a:off x="752475" y="53911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Relative bearing requires additional sensing.</a:t>
            </a:r>
          </a:p>
        </p:txBody>
      </p:sp>
      <p:sp>
        <p:nvSpPr>
          <p:cNvPr id="7" name="">
            <a:extLst xmlns:a="http://schemas.openxmlformats.org/drawingml/2006/main">
              <a:ext uri="{FF2B5EF4-FFF2-40B4-BE49-F238E27FC236}">
                <a16:creationId xmlns:a16="http://schemas.microsoft.com/office/drawing/2014/main" id="{61DE1A1E-ECC9-4CFD-833F-A1C23BA69C53}"/>
              </a:ext>
            </a:extLst>
          </p:cNvPr>
          <p:cNvSpPr>
            <a:spLocks xmlns:a="http://schemas.openxmlformats.org/drawingml/2006/main" noGrp="1"/>
          </p:cNvSpPr>
          <p:nvPr/>
        </p:nvSpPr>
        <p:spPr>
          <a:xfrm xmlns:a="http://schemas.openxmlformats.org/drawingml/2006/main">
            <a:off x="752475" y="61912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0C4D4"/>
                </a:solidFill>
                <a:latin typeface="Helvetica Neue"/>
                <a:ea typeface="Helvetica Neue"/>
                <a:cs typeface="Helvetica Neue"/>
              </a:defRPr>
            </a:pPr>
            <a:r>
              <a:rPr sz="1725" b="0">
                <a:solidFill>
                  <a:srgbClr val="B0C4D4"/>
                </a:solidFill>
                <a:latin typeface="Helvetica Neue"/>
                <a:ea typeface="Helvetica Neue"/>
                <a:cs typeface="Helvetica Neue"/>
              </a:rPr>
              <a:t>A screen can display range. Device headings alone cannot provide buddy bearing.</a:t>
            </a:r>
          </a:p>
        </p:txBody>
      </p:sp>
    </p:spTree>
    <p:extLst>
      <p:ext uri="{BB962C8B-B14F-4D97-AF65-F5344CB8AC3E}">
        <p14:creationId xmlns:p14="http://schemas.microsoft.com/office/powerpoint/2010/main" val="15407901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C7D7D7-2CDB-459A-BFCE-E16D912EB018}"/>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42635"/>
                </a:solidFill>
                <a:latin typeface="Helvetica Neue"/>
                <a:ea typeface="Helvetica Neue"/>
                <a:cs typeface="Helvetica Neue"/>
              </a:defRPr>
            </a:pPr>
            <a:r>
              <a:rPr sz="4500" b="1">
                <a:solidFill>
                  <a:srgbClr val="142635"/>
                </a:solidFill>
                <a:latin typeface="Helvetica Neue"/>
                <a:ea typeface="Helvetica Neue"/>
                <a:cs typeface="Helvetica Neue"/>
              </a:rPr>
              <a:t>The band and its display</a:t>
            </a:r>
          </a:p>
        </p:txBody>
      </p:sp>
      <p:sp>
        <p:nvSpPr>
          <p:cNvPr id="2" name="">
            <a:extLst xmlns:a="http://schemas.openxmlformats.org/drawingml/2006/main">
              <a:ext uri="{FF2B5EF4-FFF2-40B4-BE49-F238E27FC236}">
                <a16:creationId xmlns:a16="http://schemas.microsoft.com/office/drawing/2014/main" id="{F6F81AFC-21D7-41C0-A179-8E0CEC1BEB72}"/>
              </a:ext>
            </a:extLst>
          </p:cNvPr>
          <p:cNvSpPr>
            <a:spLocks xmlns:a="http://schemas.openxmlformats.org/drawingml/2006/main" noGrp="1"/>
          </p:cNvSpPr>
          <p:nvPr/>
        </p:nvSpPr>
        <p:spPr>
          <a:xfrm xmlns:a="http://schemas.openxmlformats.org/drawingml/2006/main">
            <a:off x="704850" y="2209800"/>
            <a:ext cx="5857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46782"/>
                </a:solidFill>
                <a:latin typeface="Helvetica Neue"/>
                <a:ea typeface="Helvetica Neue"/>
                <a:cs typeface="Helvetica Neue"/>
              </a:defRPr>
            </a:pPr>
            <a:r>
              <a:rPr sz="3000" b="1">
                <a:solidFill>
                  <a:srgbClr val="246782"/>
                </a:solidFill>
                <a:latin typeface="Helvetica Neue"/>
                <a:ea typeface="Helvetica Neue"/>
                <a:cs typeface="Helvetica Neue"/>
              </a:rPr>
              <a:t>A screen beside the top button</a:t>
            </a:r>
          </a:p>
        </p:txBody>
      </p:sp>
      <p:sp>
        <p:nvSpPr>
          <p:cNvPr id="3" name="">
            <a:extLst xmlns:a="http://schemas.openxmlformats.org/drawingml/2006/main">
              <a:ext uri="{FF2B5EF4-FFF2-40B4-BE49-F238E27FC236}">
                <a16:creationId xmlns:a16="http://schemas.microsoft.com/office/drawing/2014/main" id="{286E06D5-79F7-4197-B673-7F9E4471FA05}"/>
              </a:ext>
            </a:extLst>
          </p:cNvPr>
          <p:cNvSpPr>
            <a:spLocks xmlns:a="http://schemas.openxmlformats.org/drawingml/2006/main" noGrp="1"/>
          </p:cNvSpPr>
          <p:nvPr/>
        </p:nvSpPr>
        <p:spPr>
          <a:xfrm xmlns:a="http://schemas.openxmlformats.org/drawingml/2006/main">
            <a:off x="733425" y="3657600"/>
            <a:ext cx="5810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Slip-on silicone band.</a:t>
            </a:r>
          </a:p>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Removable sealed module.</a:t>
            </a:r>
          </a:p>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Inductive charging through the cap.</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cd026b74f3b4393"/>
          <a:stretch xmlns:a="http://schemas.openxmlformats.org/drawingml/2006/main"/>
        </p:blipFill>
        <p:spPr>
          <a:xfrm xmlns:a="http://schemas.openxmlformats.org/drawingml/2006/main">
            <a:off x="7310438" y="1905000"/>
            <a:ext cx="3571875" cy="3571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F81CBE7-F6C2-4188-8BE5-607436488030}"/>
              </a:ext>
            </a:extLst>
          </p:cNvPr>
          <p:cNvSpPr>
            <a:spLocks xmlns:a="http://schemas.openxmlformats.org/drawingml/2006/main" noGrp="1"/>
          </p:cNvSpPr>
          <p:nvPr/>
        </p:nvSpPr>
        <p:spPr>
          <a:xfrm xmlns:a="http://schemas.openxmlformats.org/drawingml/2006/main">
            <a:off x="733425" y="55626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496172"/>
                </a:solidFill>
                <a:latin typeface="Helvetica Neue"/>
                <a:ea typeface="Helvetica Neue"/>
                <a:cs typeface="Helvetica Neue"/>
              </a:defRPr>
            </a:pPr>
            <a:r>
              <a:rPr sz="2250" b="0">
                <a:solidFill>
                  <a:srgbClr val="496172"/>
                </a:solidFill>
                <a:latin typeface="Helvetica Neue"/>
                <a:ea typeface="Helvetica Neue"/>
                <a:cs typeface="Helvetica Neue"/>
              </a:rPr>
              <a:t>Original housing: 38 × 28 × 11.5 mm</a:t>
            </a:r>
          </a:p>
        </p:txBody>
      </p:sp>
      <p:sp>
        <p:nvSpPr>
          <p:cNvPr id="6" name="">
            <a:extLst xmlns:a="http://schemas.openxmlformats.org/drawingml/2006/main">
              <a:ext uri="{FF2B5EF4-FFF2-40B4-BE49-F238E27FC236}">
                <a16:creationId xmlns:a16="http://schemas.microsoft.com/office/drawing/2014/main" id="{44303E0E-A728-48EB-B70B-AAA2268A3345}"/>
              </a:ext>
            </a:extLst>
          </p:cNvPr>
          <p:cNvSpPr>
            <a:spLocks xmlns:a="http://schemas.openxmlformats.org/drawingml/2006/main" noGrp="1"/>
          </p:cNvSpPr>
          <p:nvPr/>
        </p:nvSpPr>
        <p:spPr>
          <a:xfrm xmlns:a="http://schemas.openxmlformats.org/drawingml/2006/main">
            <a:off x="733425" y="62484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96172"/>
                </a:solidFill>
                <a:latin typeface="Helvetica Neue"/>
                <a:ea typeface="Helvetica Neue"/>
                <a:cs typeface="Helvetica Neue"/>
              </a:defRPr>
            </a:pPr>
            <a:r>
              <a:rPr sz="1425" b="0">
                <a:solidFill>
                  <a:srgbClr val="496172"/>
                </a:solidFill>
                <a:latin typeface="Helvetica Neue"/>
                <a:ea typeface="Helvetica Neue"/>
                <a:cs typeface="Helvetica Neue"/>
              </a:rPr>
              <a:t>CAD baseline only. Display window, packaging and final dimensions require engineering definition.</a:t>
            </a:r>
          </a:p>
        </p:txBody>
      </p:sp>
    </p:spTree>
    <p:extLst>
      <p:ext uri="{BB962C8B-B14F-4D97-AF65-F5344CB8AC3E}">
        <p14:creationId xmlns:p14="http://schemas.microsoft.com/office/powerpoint/2010/main" val="2019450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D0ACB8-8B45-4E07-B84D-F7E27F2EB5C6}"/>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42635"/>
                </a:solidFill>
                <a:latin typeface="Helvetica Neue"/>
                <a:ea typeface="Helvetica Neue"/>
                <a:cs typeface="Helvetica Neue"/>
              </a:defRPr>
            </a:pPr>
            <a:r>
              <a:rPr sz="4500" b="1">
                <a:solidFill>
                  <a:srgbClr val="142635"/>
                </a:solidFill>
                <a:latin typeface="Helvetica Neue"/>
                <a:ea typeface="Helvetica Neue"/>
                <a:cs typeface="Helvetica Neue"/>
              </a:rPr>
              <a:t>Acoustics and power</a:t>
            </a:r>
          </a:p>
        </p:txBody>
      </p:sp>
      <p:sp>
        <p:nvSpPr>
          <p:cNvPr id="2" name="">
            <a:extLst xmlns:a="http://schemas.openxmlformats.org/drawingml/2006/main">
              <a:ext uri="{FF2B5EF4-FFF2-40B4-BE49-F238E27FC236}">
                <a16:creationId xmlns:a16="http://schemas.microsoft.com/office/drawing/2014/main" id="{224C4F57-EE00-4BDB-97D3-A878E0A23575}"/>
              </a:ext>
            </a:extLst>
          </p:cNvPr>
          <p:cNvSpPr>
            <a:spLocks xmlns:a="http://schemas.openxmlformats.org/drawingml/2006/main" noGrp="1"/>
          </p:cNvSpPr>
          <p:nvPr/>
        </p:nvSpPr>
        <p:spPr>
          <a:xfrm xmlns:a="http://schemas.openxmlformats.org/drawingml/2006/main">
            <a:off x="723900" y="228600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246782"/>
                </a:solidFill>
                <a:latin typeface="Helvetica Neue"/>
                <a:ea typeface="Helvetica Neue"/>
                <a:cs typeface="Helvetica Neue"/>
              </a:defRPr>
            </a:pPr>
            <a:r>
              <a:rPr sz="4275" b="1">
                <a:solidFill>
                  <a:srgbClr val="246782"/>
                </a:solidFill>
                <a:latin typeface="Helvetica Neue"/>
                <a:ea typeface="Helvetica Neue"/>
                <a:cs typeface="Helvetica Neue"/>
              </a:rPr>
              <a:t>~65 kHz</a:t>
            </a:r>
          </a:p>
        </p:txBody>
      </p:sp>
      <p:sp>
        <p:nvSpPr>
          <p:cNvPr id="3" name="">
            <a:extLst xmlns:a="http://schemas.openxmlformats.org/drawingml/2006/main">
              <a:ext uri="{FF2B5EF4-FFF2-40B4-BE49-F238E27FC236}">
                <a16:creationId xmlns:a16="http://schemas.microsoft.com/office/drawing/2014/main" id="{44CE58C6-1037-4B9E-8357-94985233ACC3}"/>
              </a:ext>
            </a:extLst>
          </p:cNvPr>
          <p:cNvSpPr>
            <a:spLocks xmlns:a="http://schemas.openxmlformats.org/drawingml/2006/main" noGrp="1"/>
          </p:cNvSpPr>
          <p:nvPr/>
        </p:nvSpPr>
        <p:spPr>
          <a:xfrm xmlns:a="http://schemas.openxmlformats.org/drawingml/2006/main">
            <a:off x="752475" y="3228975"/>
            <a:ext cx="5381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Two-way acoustic ranging</a:t>
            </a:r>
          </a:p>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20 m range target</a:t>
            </a:r>
          </a:p>
        </p:txBody>
      </p:sp>
      <p:sp>
        <p:nvSpPr>
          <p:cNvPr id="4" name="">
            <a:extLst xmlns:a="http://schemas.openxmlformats.org/drawingml/2006/main">
              <a:ext uri="{FF2B5EF4-FFF2-40B4-BE49-F238E27FC236}">
                <a16:creationId xmlns:a16="http://schemas.microsoft.com/office/drawing/2014/main" id="{FA39A991-5FCE-48B5-87CE-9C0145A64E15}"/>
              </a:ext>
            </a:extLst>
          </p:cNvPr>
          <p:cNvSpPr>
            <a:spLocks xmlns:a="http://schemas.openxmlformats.org/drawingml/2006/main" noGrp="1"/>
          </p:cNvSpPr>
          <p:nvPr/>
        </p:nvSpPr>
        <p:spPr>
          <a:xfrm xmlns:a="http://schemas.openxmlformats.org/drawingml/2006/main">
            <a:off x="752475" y="4533900"/>
            <a:ext cx="5429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635"/>
                </a:solidFill>
                <a:latin typeface="Helvetica Neue"/>
                <a:ea typeface="Helvetica Neue"/>
                <a:cs typeface="Helvetica Neue"/>
              </a:defRPr>
            </a:pPr>
            <a:r>
              <a:rPr sz="2400" b="0">
                <a:solidFill>
                  <a:srgbClr val="142635"/>
                </a:solidFill>
                <a:latin typeface="Helvetica Neue"/>
                <a:ea typeface="Helvetica Neue"/>
                <a:cs typeface="Helvetica Neue"/>
              </a:rPr>
              <a:t>Display integration adds</a:t>
            </a:r>
          </a:p>
          <a:p xmlns:a="http://schemas.openxmlformats.org/drawingml/2006/main">
            <a:pPr>
              <a:defRPr sz="2400" b="0">
                <a:solidFill>
                  <a:srgbClr val="142635"/>
                </a:solidFill>
                <a:latin typeface="Helvetica Neue"/>
                <a:ea typeface="Helvetica Neue"/>
                <a:cs typeface="Helvetica Neue"/>
              </a:defRPr>
            </a:pPr>
            <a:r>
              <a:rPr sz="2400" b="0">
                <a:solidFill>
                  <a:srgbClr val="142635"/>
                </a:solidFill>
                <a:latin typeface="Helvetica Neue"/>
                <a:ea typeface="Helvetica Neue"/>
                <a:cs typeface="Helvetica Neue"/>
              </a:rPr>
              <a:t>a window and a power load.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d9a9a7017754d2b"/>
          <a:stretch xmlns:a="http://schemas.openxmlformats.org/drawingml/2006/main"/>
        </p:blipFill>
        <p:spPr>
          <a:xfrm xmlns:a="http://schemas.openxmlformats.org/drawingml/2006/main">
            <a:off x="7710488" y="1924050"/>
            <a:ext cx="314325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B3022AD-C61E-434E-B174-D64158F053E1}"/>
              </a:ext>
            </a:extLst>
          </p:cNvPr>
          <p:cNvSpPr>
            <a:spLocks xmlns:a="http://schemas.openxmlformats.org/drawingml/2006/main" noGrp="1"/>
          </p:cNvSpPr>
          <p:nvPr/>
        </p:nvSpPr>
        <p:spPr>
          <a:xfrm xmlns:a="http://schemas.openxmlformats.org/drawingml/2006/main">
            <a:off x="742950" y="6257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96172"/>
                </a:solidFill>
                <a:latin typeface="Helvetica Neue"/>
                <a:ea typeface="Helvetica Neue"/>
                <a:cs typeface="Helvetica Neue"/>
              </a:defRPr>
            </a:pPr>
            <a:r>
              <a:rPr sz="1575" b="0">
                <a:solidFill>
                  <a:srgbClr val="496172"/>
                </a:solidFill>
                <a:latin typeface="Helvetica Neue"/>
                <a:ea typeface="Helvetica Neue"/>
                <a:cs typeface="Helvetica Neue"/>
              </a:rPr>
              <a:t>Rev A runtime, mass and dimensions do not establish the display variant’s performance.</a:t>
            </a:r>
          </a:p>
        </p:txBody>
      </p:sp>
    </p:spTree>
    <p:extLst>
      <p:ext uri="{BB962C8B-B14F-4D97-AF65-F5344CB8AC3E}">
        <p14:creationId xmlns:p14="http://schemas.microsoft.com/office/powerpoint/2010/main" val="558098156"/>
      </p:ext>
    </p:extLst>
  </p:cSld>
</p:sld>
</file>

<file path=ppt/slides/slide8.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8D2B0A-30D2-47E1-9D2A-3BE4E1534D84}"/>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Paired kit economics</a:t>
            </a:r>
          </a:p>
        </p:txBody>
      </p:sp>
      <p:sp>
        <p:nvSpPr>
          <p:cNvPr id="2" name="">
            <a:extLst xmlns:a="http://schemas.openxmlformats.org/drawingml/2006/main">
              <a:ext uri="{FF2B5EF4-FFF2-40B4-BE49-F238E27FC236}">
                <a16:creationId xmlns:a16="http://schemas.microsoft.com/office/drawing/2014/main" id="{42D26EA1-1AD2-4E1B-A93C-6BACD8B06D63}"/>
              </a:ext>
            </a:extLst>
          </p:cNvPr>
          <p:cNvSpPr>
            <a:spLocks xmlns:a="http://schemas.openxmlformats.org/drawingml/2006/main" noGrp="1"/>
          </p:cNvSpPr>
          <p:nvPr/>
        </p:nvSpPr>
        <p:spPr>
          <a:xfrm xmlns:a="http://schemas.openxmlformats.org/drawingml/2006/main">
            <a:off x="723900" y="21336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0F4F7"/>
                </a:solidFill>
                <a:latin typeface="Helvetica Neue"/>
                <a:ea typeface="Helvetica Neue"/>
                <a:cs typeface="Helvetica Neue"/>
              </a:defRPr>
            </a:pPr>
            <a:r>
              <a:rPr sz="3525" b="1">
                <a:solidFill>
                  <a:srgbClr val="F0F4F7"/>
                </a:solidFill>
                <a:latin typeface="Helvetica Neue"/>
                <a:ea typeface="Helvetica Neue"/>
                <a:cs typeface="Helvetica Neue"/>
              </a:rPr>
              <a:t>Two bands. One shared dock.</a:t>
            </a:r>
          </a:p>
        </p:txBody>
      </p:sp>
      <p:sp>
        <p:nvSpPr>
          <p:cNvPr id="3" name="">
            <a:extLst xmlns:a="http://schemas.openxmlformats.org/drawingml/2006/main">
              <a:ext uri="{FF2B5EF4-FFF2-40B4-BE49-F238E27FC236}">
                <a16:creationId xmlns:a16="http://schemas.microsoft.com/office/drawing/2014/main" id="{DC1B4B3C-49DE-4C38-BF9A-8470227A588E}"/>
              </a:ext>
            </a:extLst>
          </p:cNvPr>
          <p:cNvSpPr>
            <a:spLocks xmlns:a="http://schemas.openxmlformats.org/drawingml/2006/main" noGrp="1"/>
          </p:cNvSpPr>
          <p:nvPr/>
        </p:nvSpPr>
        <p:spPr>
          <a:xfrm xmlns:a="http://schemas.openxmlformats.org/drawingml/2006/main">
            <a:off x="733425" y="3419475"/>
            <a:ext cx="619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9BD8E6"/>
                </a:solidFill>
                <a:latin typeface="Helvetica Neue"/>
                <a:ea typeface="Helvetica Neue"/>
                <a:cs typeface="Helvetica Neue"/>
              </a:defRPr>
            </a:pPr>
            <a:r>
              <a:rPr sz="5025" b="1">
                <a:solidFill>
                  <a:srgbClr val="9BD8E6"/>
                </a:solidFill>
                <a:latin typeface="Helvetica Neue"/>
                <a:ea typeface="Helvetica Neue"/>
                <a:cs typeface="Helvetica Neue"/>
              </a:rPr>
              <a:t>$179–199</a:t>
            </a:r>
          </a:p>
        </p:txBody>
      </p:sp>
      <p:sp>
        <p:nvSpPr>
          <p:cNvPr id="4" name="">
            <a:extLst xmlns:a="http://schemas.openxmlformats.org/drawingml/2006/main">
              <a:ext uri="{FF2B5EF4-FFF2-40B4-BE49-F238E27FC236}">
                <a16:creationId xmlns:a16="http://schemas.microsoft.com/office/drawing/2014/main" id="{C269808A-0808-4C50-A4D2-F03F0216F66C}"/>
              </a:ext>
            </a:extLst>
          </p:cNvPr>
          <p:cNvSpPr>
            <a:spLocks xmlns:a="http://schemas.openxmlformats.org/drawingml/2006/main" noGrp="1"/>
          </p:cNvSpPr>
          <p:nvPr/>
        </p:nvSpPr>
        <p:spPr>
          <a:xfrm xmlns:a="http://schemas.openxmlformats.org/drawingml/2006/main">
            <a:off x="771525" y="4486275"/>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0C4D4"/>
                </a:solidFill>
                <a:latin typeface="Helvetica Neue"/>
                <a:ea typeface="Helvetica Neue"/>
                <a:cs typeface="Helvetica Neue"/>
              </a:defRPr>
            </a:pPr>
            <a:r>
              <a:rPr sz="1950" b="0">
                <a:solidFill>
                  <a:srgbClr val="B0C4D4"/>
                </a:solidFill>
                <a:latin typeface="Helvetica Neue"/>
                <a:ea typeface="Helvetica Neue"/>
                <a:cs typeface="Helvetica Neue"/>
              </a:rPr>
              <a:t>Rev A retail target per pair</a:t>
            </a:r>
          </a:p>
        </p:txBody>
      </p:sp>
      <p:sp>
        <p:nvSpPr>
          <p:cNvPr id="5" name="">
            <a:extLst xmlns:a="http://schemas.openxmlformats.org/drawingml/2006/main">
              <a:ext uri="{FF2B5EF4-FFF2-40B4-BE49-F238E27FC236}">
                <a16:creationId xmlns:a16="http://schemas.microsoft.com/office/drawing/2014/main" id="{EEB90103-9284-4683-845E-C1B70BF04107}"/>
              </a:ext>
            </a:extLst>
          </p:cNvPr>
          <p:cNvSpPr>
            <a:spLocks xmlns:a="http://schemas.openxmlformats.org/drawingml/2006/main" noGrp="1"/>
          </p:cNvSpPr>
          <p:nvPr/>
        </p:nvSpPr>
        <p:spPr>
          <a:xfrm xmlns:a="http://schemas.openxmlformats.org/drawingml/2006/main">
            <a:off x="8048625" y="350520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9BD8E6"/>
                </a:solidFill>
                <a:latin typeface="Helvetica Neue"/>
                <a:ea typeface="Helvetica Neue"/>
                <a:cs typeface="Helvetica Neue"/>
              </a:defRPr>
            </a:pPr>
            <a:r>
              <a:rPr sz="4275" b="1">
                <a:solidFill>
                  <a:srgbClr val="9BD8E6"/>
                </a:solidFill>
                <a:latin typeface="Helvetica Neue"/>
                <a:ea typeface="Helvetica Neue"/>
                <a:cs typeface="Helvetica Neue"/>
              </a:rPr>
              <a:t>≈ $86</a:t>
            </a:r>
          </a:p>
        </p:txBody>
      </p:sp>
      <p:sp>
        <p:nvSpPr>
          <p:cNvPr id="6" name="">
            <a:extLst xmlns:a="http://schemas.openxmlformats.org/drawingml/2006/main">
              <a:ext uri="{FF2B5EF4-FFF2-40B4-BE49-F238E27FC236}">
                <a16:creationId xmlns:a16="http://schemas.microsoft.com/office/drawing/2014/main" id="{9E716DE0-29C7-4C05-9289-153DD6598A66}"/>
              </a:ext>
            </a:extLst>
          </p:cNvPr>
          <p:cNvSpPr>
            <a:spLocks xmlns:a="http://schemas.openxmlformats.org/drawingml/2006/main" noGrp="1"/>
          </p:cNvSpPr>
          <p:nvPr/>
        </p:nvSpPr>
        <p:spPr>
          <a:xfrm xmlns:a="http://schemas.openxmlformats.org/drawingml/2006/main">
            <a:off x="8086725" y="4505325"/>
            <a:ext cx="3476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0C4D4"/>
                </a:solidFill>
                <a:latin typeface="Helvetica Neue"/>
                <a:ea typeface="Helvetica Neue"/>
                <a:cs typeface="Helvetica Neue"/>
              </a:defRPr>
            </a:pPr>
            <a:r>
              <a:rPr sz="1800" b="0">
                <a:solidFill>
                  <a:srgbClr val="B0C4D4"/>
                </a:solidFill>
                <a:latin typeface="Helvetica Neue"/>
                <a:ea typeface="Helvetica Neue"/>
                <a:cs typeface="Helvetica Neue"/>
              </a:rPr>
              <a:t>Rev A desk cost per pair</a:t>
            </a:r>
          </a:p>
          <a:p xmlns:a="http://schemas.openxmlformats.org/drawingml/2006/main">
            <a:pPr>
              <a:defRPr sz="1800" b="0">
                <a:solidFill>
                  <a:srgbClr val="B0C4D4"/>
                </a:solidFill>
                <a:latin typeface="Helvetica Neue"/>
                <a:ea typeface="Helvetica Neue"/>
                <a:cs typeface="Helvetica Neue"/>
              </a:defRPr>
            </a:pPr>
            <a:r>
              <a:rPr sz="1800" b="0">
                <a:solidFill>
                  <a:srgbClr val="B0C4D4"/>
                </a:solidFill>
                <a:latin typeface="Helvetica Neue"/>
                <a:ea typeface="Helvetica Neue"/>
                <a:cs typeface="Helvetica Neue"/>
              </a:rPr>
              <a:t>at 5,000 pairs, ±30%</a:t>
            </a:r>
          </a:p>
        </p:txBody>
      </p:sp>
      <p:sp>
        <p:nvSpPr>
          <p:cNvPr id="7" name="">
            <a:extLst xmlns:a="http://schemas.openxmlformats.org/drawingml/2006/main">
              <a:ext uri="{FF2B5EF4-FFF2-40B4-BE49-F238E27FC236}">
                <a16:creationId xmlns:a16="http://schemas.microsoft.com/office/drawing/2014/main" id="{FE282B7D-4618-46FE-961C-4A53825396FA}"/>
              </a:ext>
            </a:extLst>
          </p:cNvPr>
          <p:cNvSpPr>
            <a:spLocks xmlns:a="http://schemas.openxmlformats.org/drawingml/2006/main" noGrp="1"/>
          </p:cNvSpPr>
          <p:nvPr/>
        </p:nvSpPr>
        <p:spPr>
          <a:xfrm xmlns:a="http://schemas.openxmlformats.org/drawingml/2006/main">
            <a:off x="762000" y="56578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0F4F7"/>
                </a:solidFill>
                <a:latin typeface="Helvetica Neue"/>
                <a:ea typeface="Helvetica Neue"/>
                <a:cs typeface="Helvetica Neue"/>
              </a:defRPr>
            </a:pPr>
            <a:r>
              <a:rPr sz="2250" b="0">
                <a:solidFill>
                  <a:srgbClr val="F0F4F7"/>
                </a:solidFill>
                <a:latin typeface="Helvetica Neue"/>
                <a:ea typeface="Helvetica Neue"/>
                <a:cs typeface="Helvetica Neue"/>
              </a:rPr>
              <a:t>The display variant has no revised price or cost estimate.</a:t>
            </a:r>
          </a:p>
        </p:txBody>
      </p:sp>
      <p:sp>
        <p:nvSpPr>
          <p:cNvPr id="8" name="">
            <a:extLst xmlns:a="http://schemas.openxmlformats.org/drawingml/2006/main">
              <a:ext uri="{FF2B5EF4-FFF2-40B4-BE49-F238E27FC236}">
                <a16:creationId xmlns:a16="http://schemas.microsoft.com/office/drawing/2014/main" id="{484AB82F-A821-49CE-BC4F-4A767D4BEFAA}"/>
              </a:ext>
            </a:extLst>
          </p:cNvPr>
          <p:cNvSpPr>
            <a:spLocks xmlns:a="http://schemas.openxmlformats.org/drawingml/2006/main" noGrp="1"/>
          </p:cNvSpPr>
          <p:nvPr/>
        </p:nvSpPr>
        <p:spPr>
          <a:xfrm xmlns:a="http://schemas.openxmlformats.org/drawingml/2006/main">
            <a:off x="762000" y="63341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Baseline estimate excludes tooling, engineering, freight and duty.</a:t>
            </a:r>
          </a:p>
        </p:txBody>
      </p:sp>
    </p:spTree>
    <p:extLst>
      <p:ext uri="{BB962C8B-B14F-4D97-AF65-F5344CB8AC3E}">
        <p14:creationId xmlns:p14="http://schemas.microsoft.com/office/powerpoint/2010/main" val="1665868955"/>
      </p:ext>
    </p:extLst>
  </p:cSld>
</p:sld>
</file>

<file path=ppt/slides/slide9.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EBC3BB-7453-408D-85A1-FA0E60BD36FA}"/>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Dive Buddy Alert Band</a:t>
            </a:r>
          </a:p>
        </p:txBody>
      </p:sp>
      <p:sp>
        <p:nvSpPr>
          <p:cNvPr id="2" name="">
            <a:extLst xmlns:a="http://schemas.openxmlformats.org/drawingml/2006/main">
              <a:ext uri="{FF2B5EF4-FFF2-40B4-BE49-F238E27FC236}">
                <a16:creationId xmlns:a16="http://schemas.microsoft.com/office/drawing/2014/main" id="{B648E30C-9703-46C9-BCC3-DFA4CF653C3B}"/>
              </a:ext>
            </a:extLst>
          </p:cNvPr>
          <p:cNvSpPr>
            <a:spLocks xmlns:a="http://schemas.openxmlformats.org/drawingml/2006/main" noGrp="1"/>
          </p:cNvSpPr>
          <p:nvPr/>
        </p:nvSpPr>
        <p:spPr>
          <a:xfrm xmlns:a="http://schemas.openxmlformats.org/drawingml/2006/main">
            <a:off x="723900" y="2295525"/>
            <a:ext cx="10572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9BD8E6"/>
                </a:solidFill>
                <a:latin typeface="Helvetica Neue"/>
                <a:ea typeface="Helvetica Neue"/>
                <a:cs typeface="Helvetica Neue"/>
              </a:defRPr>
            </a:pPr>
            <a:r>
              <a:rPr sz="5025" b="1">
                <a:solidFill>
                  <a:srgbClr val="9BD8E6"/>
                </a:solidFill>
                <a:latin typeface="Helvetica Neue"/>
                <a:ea typeface="Helvetica Neue"/>
                <a:cs typeface="Helvetica Neue"/>
              </a:rPr>
              <a:t>Feel the call.</a:t>
            </a:r>
          </a:p>
          <a:p xmlns:a="http://schemas.openxmlformats.org/drawingml/2006/main">
            <a:pPr>
              <a:defRPr sz="5025" b="1">
                <a:solidFill>
                  <a:srgbClr val="9BD8E6"/>
                </a:solidFill>
                <a:latin typeface="Helvetica Neue"/>
                <a:ea typeface="Helvetica Neue"/>
                <a:cs typeface="Helvetica Neue"/>
              </a:defRPr>
            </a:pPr>
            <a:r>
              <a:rPr sz="5025" b="1">
                <a:solidFill>
                  <a:srgbClr val="9BD8E6"/>
                </a:solidFill>
                <a:latin typeface="Helvetica Neue"/>
                <a:ea typeface="Helvetica Neue"/>
                <a:cs typeface="Helvetica Neue"/>
              </a:rPr>
              <a:t>See the distance.</a:t>
            </a:r>
          </a:p>
        </p:txBody>
      </p:sp>
      <p:sp>
        <p:nvSpPr>
          <p:cNvPr id="3" name="">
            <a:extLst xmlns:a="http://schemas.openxmlformats.org/drawingml/2006/main">
              <a:ext uri="{FF2B5EF4-FFF2-40B4-BE49-F238E27FC236}">
                <a16:creationId xmlns:a16="http://schemas.microsoft.com/office/drawing/2014/main" id="{8084BAB9-CECA-45D5-8584-CB88A55C0CC7}"/>
              </a:ext>
            </a:extLst>
          </p:cNvPr>
          <p:cNvSpPr>
            <a:spLocks xmlns:a="http://schemas.openxmlformats.org/drawingml/2006/main" noGrp="1"/>
          </p:cNvSpPr>
          <p:nvPr/>
        </p:nvSpPr>
        <p:spPr>
          <a:xfrm xmlns:a="http://schemas.openxmlformats.org/drawingml/2006/main">
            <a:off x="752475" y="45815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A paired underwater communication concept</a:t>
            </a:r>
          </a:p>
        </p:txBody>
      </p:sp>
      <p:sp>
        <p:nvSpPr>
          <p:cNvPr id="4" name="">
            <a:extLst xmlns:a="http://schemas.openxmlformats.org/drawingml/2006/main">
              <a:ext uri="{FF2B5EF4-FFF2-40B4-BE49-F238E27FC236}">
                <a16:creationId xmlns:a16="http://schemas.microsoft.com/office/drawing/2014/main" id="{0B8EF156-5E80-4DDF-BE0E-F5C422D7C694}"/>
              </a:ext>
            </a:extLst>
          </p:cNvPr>
          <p:cNvSpPr>
            <a:spLocks xmlns:a="http://schemas.openxmlformats.org/drawingml/2006/main" noGrp="1"/>
          </p:cNvSpPr>
          <p:nvPr/>
        </p:nvSpPr>
        <p:spPr>
          <a:xfrm xmlns:a="http://schemas.openxmlformats.org/drawingml/2006/main">
            <a:off x="752475" y="55435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0C4D4"/>
                </a:solidFill>
                <a:latin typeface="Helvetica Neue"/>
                <a:ea typeface="Helvetica Neue"/>
                <a:cs typeface="Helvetica Neue"/>
              </a:defRPr>
            </a:pPr>
            <a:r>
              <a:rPr sz="1875" b="0">
                <a:solidFill>
                  <a:srgbClr val="B0C4D4"/>
                </a:solidFill>
                <a:latin typeface="Helvetica Neue"/>
                <a:ea typeface="Helvetica Neue"/>
                <a:cs typeface="Helvetica Neue"/>
              </a:rPr>
              <a:t>Concept by Rafael</a:t>
            </a:r>
          </a:p>
        </p:txBody>
      </p:sp>
      <p:sp>
        <p:nvSpPr>
          <p:cNvPr id="5" name="">
            <a:extLst xmlns:a="http://schemas.openxmlformats.org/drawingml/2006/main">
              <a:ext uri="{FF2B5EF4-FFF2-40B4-BE49-F238E27FC236}">
                <a16:creationId xmlns:a16="http://schemas.microsoft.com/office/drawing/2014/main" id="{009AF3C1-D6E5-4D1E-A0BB-8A1A01F3E8EC}"/>
              </a:ext>
            </a:extLst>
          </p:cNvPr>
          <p:cNvSpPr>
            <a:spLocks xmlns:a="http://schemas.openxmlformats.org/drawingml/2006/main" noGrp="1"/>
          </p:cNvSpPr>
          <p:nvPr/>
        </p:nvSpPr>
        <p:spPr>
          <a:xfrm xmlns:a="http://schemas.openxmlformats.org/drawingml/2006/main">
            <a:off x="752475" y="62198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0C4D4"/>
                </a:solidFill>
                <a:latin typeface="Helvetica Neue"/>
                <a:ea typeface="Helvetica Neue"/>
                <a:cs typeface="Helvetica Neue"/>
              </a:defRPr>
            </a:pPr>
            <a:r>
              <a:rPr sz="1800" b="0">
                <a:solidFill>
                  <a:srgbClr val="B0C4D4"/>
                </a:solidFill>
                <a:latin typeface="Helvetica Neue"/>
                <a:ea typeface="Helvetica Neue"/>
                <a:cs typeface="Helvetica Neue"/>
              </a:rPr>
              <a:t>An aid to buddy procedures. Never a safety guarantee.</a:t>
            </a:r>
          </a:p>
        </p:txBody>
      </p:sp>
    </p:spTree>
    <p:extLst>
      <p:ext uri="{BB962C8B-B14F-4D97-AF65-F5344CB8AC3E}">
        <p14:creationId xmlns:p14="http://schemas.microsoft.com/office/powerpoint/2010/main" val="12427801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2026-09-09T21:54:14.1600000Z</dcterms:created>
  <dcterms:modified xsi:type="dcterms:W3CDTF">2026-09-09T21:54:14.1600000Z</dcterms:modified>
</coreProperties>
</file>