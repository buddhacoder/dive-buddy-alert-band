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de4e5c9239a4440" /><Relationship Type="http://schemas.openxmlformats.org/officeDocument/2006/relationships/extended-properties" Target="/docProps/app.xml" Id="R2c3f688a468f4f42" /><Relationship Type="http://schemas.openxmlformats.org/officeDocument/2006/relationships/officeDocument" Target="/ppt/presentation.xml" Id="R3529f73e30b745b5" /></Relationships>
</file>

<file path=ppt/presentation.xml><?xml version="1.0" encoding="utf-8"?>
<p:presentation xmlns:p="http://schemas.openxmlformats.org/presentationml/2006/main">
  <p:sldMasterIdLst>
    <p:sldMasterId xmlns:r="http://schemas.openxmlformats.org/officeDocument/2006/relationships" id="2147483648" r:id="Rdb12bdef413d4cde"/>
  </p:sldMasterIdLst>
  <p:notesMasterIdLst>
    <p:notesMasterId xmlns:r="http://schemas.openxmlformats.org/officeDocument/2006/relationships" r:id="R532eb93e88334d79"/>
  </p:notesMasterIdLst>
  <p:sldIdLst>
    <p:sldId xmlns:r="http://schemas.openxmlformats.org/officeDocument/2006/relationships" id="256" r:id="Rcbab254190cb4c7d"/>
    <p:sldId xmlns:r="http://schemas.openxmlformats.org/officeDocument/2006/relationships" id="257" r:id="R35d4dd6029774720"/>
    <p:sldId xmlns:r="http://schemas.openxmlformats.org/officeDocument/2006/relationships" id="258" r:id="Rd18187de08254870"/>
    <p:sldId xmlns:r="http://schemas.openxmlformats.org/officeDocument/2006/relationships" id="259" r:id="R939d88770efd4619"/>
    <p:sldId xmlns:r="http://schemas.openxmlformats.org/officeDocument/2006/relationships" id="260" r:id="R6943b2c1429f4eae"/>
    <p:sldId xmlns:r="http://schemas.openxmlformats.org/officeDocument/2006/relationships" id="261" r:id="R9ebc14b2770442d3"/>
    <p:sldId xmlns:r="http://schemas.openxmlformats.org/officeDocument/2006/relationships" id="262" r:id="R1c77a6059d7247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c7585553e54e4d" /><Relationship Type="http://schemas.openxmlformats.org/officeDocument/2006/relationships/slideMaster" Target="/ppt/slideMasters/slideMaster1.xml" Id="Rdb12bdef413d4cde" /><Relationship Type="http://schemas.openxmlformats.org/officeDocument/2006/relationships/notesMaster" Target="/ppt/notesMasters/notesMaster1.xml" Id="R532eb93e88334d79" /><Relationship Type="http://schemas.openxmlformats.org/officeDocument/2006/relationships/presProps" Target="/ppt/presProps.xml" Id="R08b0e1e8506a49a3" /><Relationship Type="http://schemas.openxmlformats.org/officeDocument/2006/relationships/tableStyles" Target="/ppt/tableStyles.xml" Id="R4358aa95f7a8437f" /><Relationship Type="http://schemas.openxmlformats.org/officeDocument/2006/relationships/slide" Target="/ppt/slides/slide1.xml" Id="Rcbab254190cb4c7d" /><Relationship Type="http://schemas.openxmlformats.org/officeDocument/2006/relationships/slide" Target="/ppt/slides/slide2.xml" Id="R35d4dd6029774720" /><Relationship Type="http://schemas.openxmlformats.org/officeDocument/2006/relationships/slide" Target="/ppt/slides/slide3.xml" Id="Rd18187de08254870" /><Relationship Type="http://schemas.openxmlformats.org/officeDocument/2006/relationships/slide" Target="/ppt/slides/slide4.xml" Id="R939d88770efd4619" /><Relationship Type="http://schemas.openxmlformats.org/officeDocument/2006/relationships/slide" Target="/ppt/slides/slide5.xml" Id="R6943b2c1429f4eae" /><Relationship Type="http://schemas.openxmlformats.org/officeDocument/2006/relationships/slide" Target="/ppt/slides/slide6.xml" Id="R9ebc14b2770442d3" /><Relationship Type="http://schemas.openxmlformats.org/officeDocument/2006/relationships/slide" Target="/ppt/slides/slide7.xml" Id="R1c77a6059d7247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9d9e5667b1418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fe47c4c5cb54ba5" /><Relationship Type="http://schemas.openxmlformats.org/officeDocument/2006/relationships/notesMaster" Target="/ppt/notesMasters/notesMaster1.xml" Id="Ra5cbb81f938344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5203f810554dff" /><Relationship Type="http://schemas.openxmlformats.org/officeDocument/2006/relationships/notesMaster" Target="/ppt/notesMasters/notesMaster1.xml" Id="Rad364c2fe16243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fceacdfc8b4d35" /><Relationship Type="http://schemas.openxmlformats.org/officeDocument/2006/relationships/notesMaster" Target="/ppt/notesMasters/notesMaster1.xml" Id="R7e1fb8a45e0c46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3b562c2efc34024" /><Relationship Type="http://schemas.openxmlformats.org/officeDocument/2006/relationships/notesMaster" Target="/ppt/notesMasters/notesMaster1.xml" Id="R35272ae0cbb44d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e446e6a7004935" /><Relationship Type="http://schemas.openxmlformats.org/officeDocument/2006/relationships/notesMaster" Target="/ppt/notesMasters/notesMaster1.xml" Id="R4a5296a91c984b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a5c232f6494913" /><Relationship Type="http://schemas.openxmlformats.org/officeDocument/2006/relationships/notesMaster" Target="/ppt/notesMasters/notesMaster1.xml" Id="R639766b72ebc419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2c278f6e0842f1" /><Relationship Type="http://schemas.openxmlformats.org/officeDocument/2006/relationships/notesMaster" Target="/ppt/notesMasters/notesMaster1.xml" Id="Rce3f04f4c5ee4b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product as a concept for paired underwater calls and tactile distance feedback. The purpose is attention and distance awareness. It gives no direction and cannot ensure reunion.</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buddy facing away. A short press requests three buzzes on the paired band. The proposed interface then uses a one-second hold for ranging. Human acknowledgement and delivery feedback remain engineering decisions.</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mapping using three valid simulated distances. At 12 m the proposed map gives one pulse every two seconds; at 7 m one each second; at 3 m a double pulse every half second. These are interface assumptions, not measured device performance. No reply means unknown distance, and should not imply a distant buddy.</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intent is a replaceable silicone band with a sealed removable module, a top button and inductive charging. The housing dimensions are nominal and exclude the button protrusion. The fit, seal, retention and internal clearances remain unresolved.</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assembly to explain the functional blocks rather than claiming the hardware is complete. The full specification records acoustic targets, power assumptions and open mechanical interfaces. Source packaging conflicts and energy arithmetic are recorded in the engineering brief.</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proposed product as two bands with a shared dock for recreational buddies. Instructors and dive shops are potential channels. These price and cost figures are estimates from Rev A, not quotes. No channel margin, customer demand or market validation is established.</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specific proposition: paired tactile attention and distance feedback in a simple wristband. The concept is available for review; engineering performance, customer demand and manufacturing readiness are not demonstrated. Use the full technical brief for the detailed requirements and unresolved items.</a:t>
            </a:r>
          </a:p>
          <a:p xmlns:a="http://schemas.openxmlformats.org/drawingml/2006/main">
            <a:r>
              <a:t/>
            </a:r>
          </a:p>
          <a:p xmlns:a="http://schemas.openxmlformats.org/drawingml/2006/main">
            <a:r>
              <a:t>Source: supplied DBA_Design_Package_RevA.pdf and reviewed DBA_Design_Package_RevB.pdf; concept by Rafael. Targets and cost estimates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1a5013bfce4f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79c1d242c84b1e" /><Relationship Type="http://schemas.openxmlformats.org/officeDocument/2006/relationships/slideLayout" Target="/ppt/slideLayouts/slideLayout1.xml" Id="R1383a3f50ef344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83a3f50ef344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c09e0d155a4c80" /><Relationship Type="http://schemas.openxmlformats.org/officeDocument/2006/relationships/image" Target="/ppt/media/image.png" Id="R37f286dc5073404f" /><Relationship Type="http://schemas.openxmlformats.org/officeDocument/2006/relationships/notesSlide" Target="/ppt/notesSlides/notesSlide1.xml" Id="R328829290a9e4f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026a651336430a" /><Relationship Type="http://schemas.openxmlformats.org/officeDocument/2006/relationships/notesSlide" Target="/ppt/notesSlides/notesSlide2.xml" Id="R2700467a83dc48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deab10f1d34a5f" /><Relationship Type="http://schemas.openxmlformats.org/officeDocument/2006/relationships/notesSlide" Target="/ppt/notesSlides/notesSlide3.xml" Id="R692f87aeb6c04b9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12e4d3bfe04aee" /><Relationship Type="http://schemas.openxmlformats.org/officeDocument/2006/relationships/image" Target="/ppt/media/image2.png" Id="Ra433bea042f64fae" /><Relationship Type="http://schemas.openxmlformats.org/officeDocument/2006/relationships/notesSlide" Target="/ppt/notesSlides/notesSlide4.xml" Id="R240b290038724a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8214b94d8674f59" /><Relationship Type="http://schemas.openxmlformats.org/officeDocument/2006/relationships/image" Target="/ppt/media/image3.png" Id="R3d0260e7c2aa4419" /><Relationship Type="http://schemas.openxmlformats.org/officeDocument/2006/relationships/notesSlide" Target="/ppt/notesSlides/notesSlide5.xml" Id="Rb33940581f0242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d01e5f84d846d8" /><Relationship Type="http://schemas.openxmlformats.org/officeDocument/2006/relationships/notesSlide" Target="/ppt/notesSlides/notesSlide6.xml" Id="R55f57f81612f48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780cc14c256424e" /><Relationship Type="http://schemas.openxmlformats.org/officeDocument/2006/relationships/notesSlide" Target="/ppt/notesSlides/notesSlide7.xml" Id="R12e6ddfe71084ccb" /></Relationships>
</file>

<file path=ppt/slides/slide1.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1A8F80-B9EE-498D-AE42-72408D709374}"/>
              </a:ext>
            </a:extLst>
          </p:cNvPr>
          <p:cNvSpPr>
            <a:spLocks xmlns:a="http://schemas.openxmlformats.org/drawingml/2006/main" noGrp="1"/>
          </p:cNvSpPr>
          <p:nvPr/>
        </p:nvSpPr>
        <p:spPr>
          <a:xfrm xmlns:a="http://schemas.openxmlformats.org/drawingml/2006/main">
            <a:off x="666750" y="1362075"/>
            <a:ext cx="5715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1">
                <a:solidFill>
                  <a:srgbClr val="F0F4F7"/>
                </a:solidFill>
                <a:latin typeface="Helvetica Neue"/>
                <a:ea typeface="Helvetica Neue"/>
                <a:cs typeface="Helvetica Neue"/>
              </a:defRPr>
            </a:pPr>
            <a:r>
              <a:rPr sz="5850" b="1">
                <a:solidFill>
                  <a:srgbClr val="F0F4F7"/>
                </a:solidFill>
                <a:latin typeface="Helvetica Neue"/>
                <a:ea typeface="Helvetica Neue"/>
                <a:cs typeface="Helvetica Neue"/>
              </a:rPr>
              <a:t>Dive Buddy</a:t>
            </a:r>
          </a:p>
          <a:p xmlns:a="http://schemas.openxmlformats.org/drawingml/2006/main">
            <a:pPr>
              <a:defRPr sz="5850" b="1">
                <a:solidFill>
                  <a:srgbClr val="F0F4F7"/>
                </a:solidFill>
                <a:latin typeface="Helvetica Neue"/>
                <a:ea typeface="Helvetica Neue"/>
                <a:cs typeface="Helvetica Neue"/>
              </a:defRPr>
            </a:pPr>
            <a:r>
              <a:rPr sz="5850" b="1">
                <a:solidFill>
                  <a:srgbClr val="F0F4F7"/>
                </a:solidFill>
                <a:latin typeface="Helvetica Neue"/>
                <a:ea typeface="Helvetica Neue"/>
                <a:cs typeface="Helvetica Neue"/>
              </a:rPr>
              <a:t>Alert Band</a:t>
            </a:r>
          </a:p>
        </p:txBody>
      </p:sp>
      <p:sp>
        <p:nvSpPr>
          <p:cNvPr id="2" name="">
            <a:extLst xmlns:a="http://schemas.openxmlformats.org/drawingml/2006/main">
              <a:ext uri="{FF2B5EF4-FFF2-40B4-BE49-F238E27FC236}">
                <a16:creationId xmlns:a16="http://schemas.microsoft.com/office/drawing/2014/main" id="{5733F232-9715-4015-B42E-10637B9282A9}"/>
              </a:ext>
            </a:extLst>
          </p:cNvPr>
          <p:cNvSpPr>
            <a:spLocks xmlns:a="http://schemas.openxmlformats.org/drawingml/2006/main" noGrp="1"/>
          </p:cNvSpPr>
          <p:nvPr/>
        </p:nvSpPr>
        <p:spPr>
          <a:xfrm xmlns:a="http://schemas.openxmlformats.org/drawingml/2006/main">
            <a:off x="704850" y="394335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9BD8E6"/>
                </a:solidFill>
                <a:latin typeface="Helvetica Neue"/>
                <a:ea typeface="Helvetica Neue"/>
                <a:cs typeface="Helvetica Neue"/>
              </a:defRPr>
            </a:pPr>
            <a:r>
              <a:rPr sz="2550" b="0">
                <a:solidFill>
                  <a:srgbClr val="9BD8E6"/>
                </a:solidFill>
                <a:latin typeface="Helvetica Neue"/>
                <a:ea typeface="Helvetica Neue"/>
                <a:cs typeface="Helvetica Neue"/>
              </a:rPr>
              <a:t>Call your buddy.</a:t>
            </a:r>
          </a:p>
          <a:p xmlns:a="http://schemas.openxmlformats.org/drawingml/2006/main">
            <a:pPr>
              <a:defRPr sz="2550" b="0">
                <a:solidFill>
                  <a:srgbClr val="9BD8E6"/>
                </a:solidFill>
                <a:latin typeface="Helvetica Neue"/>
                <a:ea typeface="Helvetica Neue"/>
                <a:cs typeface="Helvetica Neue"/>
              </a:defRPr>
            </a:pPr>
            <a:r>
              <a:rPr sz="2550" b="0">
                <a:solidFill>
                  <a:srgbClr val="9BD8E6"/>
                </a:solidFill>
                <a:latin typeface="Helvetica Neue"/>
                <a:ea typeface="Helvetica Neue"/>
                <a:cs typeface="Helvetica Neue"/>
              </a:rPr>
              <a:t>Feel the distance.</a:t>
            </a:r>
          </a:p>
        </p:txBody>
      </p:sp>
      <p:sp>
        <p:nvSpPr>
          <p:cNvPr id="3" name="">
            <a:extLst xmlns:a="http://schemas.openxmlformats.org/drawingml/2006/main">
              <a:ext uri="{FF2B5EF4-FFF2-40B4-BE49-F238E27FC236}">
                <a16:creationId xmlns:a16="http://schemas.microsoft.com/office/drawing/2014/main" id="{ED536CFA-B10B-46DA-BA17-280BBED3FC12}"/>
              </a:ext>
            </a:extLst>
          </p:cNvPr>
          <p:cNvSpPr>
            <a:spLocks xmlns:a="http://schemas.openxmlformats.org/drawingml/2006/main" noGrp="1"/>
          </p:cNvSpPr>
          <p:nvPr/>
        </p:nvSpPr>
        <p:spPr>
          <a:xfrm xmlns:a="http://schemas.openxmlformats.org/drawingml/2006/main">
            <a:off x="704850" y="581977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Concept by Rafael</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7f286dc5073404f"/>
          <a:stretch xmlns:a="http://schemas.openxmlformats.org/drawingml/2006/main"/>
        </p:blipFill>
        <p:spPr>
          <a:xfrm xmlns:a="http://schemas.openxmlformats.org/drawingml/2006/main">
            <a:off x="6572250" y="1199555"/>
            <a:ext cx="5095875" cy="4458891"/>
          </a:xfrm>
          <a:prstGeom xmlns:a="http://schemas.openxmlformats.org/drawingml/2006/main" prst="rect">
            <a:avLst/>
          </a:prstGeom>
        </p:spPr>
      </p:pic>
    </p:spTree>
    <p:extLst>
      <p:ext uri="{BB962C8B-B14F-4D97-AF65-F5344CB8AC3E}">
        <p14:creationId xmlns:p14="http://schemas.microsoft.com/office/powerpoint/2010/main" val="381204930"/>
      </p:ext>
    </p:extLst>
  </p:cSld>
</p:sld>
</file>

<file path=ppt/slides/slide2.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DA7C49-DECF-4B23-B84D-9A648F053EA8}"/>
              </a:ext>
            </a:extLst>
          </p:cNvPr>
          <p:cNvSpPr>
            <a:spLocks xmlns:a="http://schemas.openxmlformats.org/drawingml/2006/main" noGrp="1"/>
          </p:cNvSpPr>
          <p:nvPr/>
        </p:nvSpPr>
        <p:spPr>
          <a:xfrm xmlns:a="http://schemas.openxmlformats.org/drawingml/2006/main">
            <a:off x="666750" y="533400"/>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A call on the wrist</a:t>
            </a:r>
          </a:p>
        </p:txBody>
      </p:sp>
      <p:sp>
        <p:nvSpPr>
          <p:cNvPr id="2" name="">
            <a:extLst xmlns:a="http://schemas.openxmlformats.org/drawingml/2006/main">
              <a:ext uri="{FF2B5EF4-FFF2-40B4-BE49-F238E27FC236}">
                <a16:creationId xmlns:a16="http://schemas.microsoft.com/office/drawing/2014/main" id="{D29B7E4F-EB26-4682-9734-D46D66E2437E}"/>
              </a:ext>
            </a:extLst>
          </p:cNvPr>
          <p:cNvSpPr>
            <a:spLocks xmlns:a="http://schemas.openxmlformats.org/drawingml/2006/main" noGrp="1"/>
          </p:cNvSpPr>
          <p:nvPr/>
        </p:nvSpPr>
        <p:spPr>
          <a:xfrm xmlns:a="http://schemas.openxmlformats.org/drawingml/2006/main">
            <a:off x="685800" y="233362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F0F4F7"/>
                </a:solidFill>
                <a:latin typeface="Helvetica Neue"/>
                <a:ea typeface="Helvetica Neue"/>
                <a:cs typeface="Helvetica Neue"/>
              </a:defRPr>
            </a:pPr>
            <a:r>
              <a:rPr sz="5550" b="1">
                <a:solidFill>
                  <a:srgbClr val="F0F4F7"/>
                </a:solidFill>
                <a:latin typeface="Helvetica Neue"/>
                <a:ea typeface="Helvetica Neue"/>
                <a:cs typeface="Helvetica Neue"/>
              </a:rPr>
              <a:t>Press</a:t>
            </a:r>
          </a:p>
        </p:txBody>
      </p:sp>
      <p:sp>
        <p:nvSpPr>
          <p:cNvPr id="3" name="">
            <a:extLst xmlns:a="http://schemas.openxmlformats.org/drawingml/2006/main">
              <a:ext uri="{FF2B5EF4-FFF2-40B4-BE49-F238E27FC236}">
                <a16:creationId xmlns:a16="http://schemas.microsoft.com/office/drawing/2014/main" id="{F03FF9AF-5A08-41B7-B740-6CCBF3414A9D}"/>
              </a:ext>
            </a:extLst>
          </p:cNvPr>
          <p:cNvSpPr>
            <a:spLocks xmlns:a="http://schemas.openxmlformats.org/drawingml/2006/main" noGrp="1"/>
          </p:cNvSpPr>
          <p:nvPr/>
        </p:nvSpPr>
        <p:spPr>
          <a:xfrm xmlns:a="http://schemas.openxmlformats.org/drawingml/2006/main">
            <a:off x="704850" y="3457575"/>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A short press on the caller’s band</a:t>
            </a:r>
          </a:p>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requests the buddy’s attention.</a:t>
            </a:r>
          </a:p>
        </p:txBody>
      </p:sp>
      <p:sp>
        <p:nvSpPr>
          <p:cNvPr id="4" name="">
            <a:extLst xmlns:a="http://schemas.openxmlformats.org/drawingml/2006/main">
              <a:ext uri="{FF2B5EF4-FFF2-40B4-BE49-F238E27FC236}">
                <a16:creationId xmlns:a16="http://schemas.microsoft.com/office/drawing/2014/main" id="{F14F3666-B0D9-4FCD-9948-9E5262742612}"/>
              </a:ext>
            </a:extLst>
          </p:cNvPr>
          <p:cNvSpPr>
            <a:spLocks xmlns:a="http://schemas.openxmlformats.org/drawingml/2006/main" noGrp="1"/>
          </p:cNvSpPr>
          <p:nvPr/>
        </p:nvSpPr>
        <p:spPr>
          <a:xfrm xmlns:a="http://schemas.openxmlformats.org/drawingml/2006/main">
            <a:off x="6810375" y="233362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550" b="1">
                <a:solidFill>
                  <a:srgbClr val="F47760"/>
                </a:solidFill>
                <a:latin typeface="Helvetica Neue"/>
                <a:ea typeface="Helvetica Neue"/>
                <a:cs typeface="Helvetica Neue"/>
              </a:defRPr>
            </a:pPr>
            <a:r>
              <a:rPr sz="5550" b="1">
                <a:solidFill>
                  <a:srgbClr val="F47760"/>
                </a:solidFill>
                <a:latin typeface="Helvetica Neue"/>
                <a:ea typeface="Helvetica Neue"/>
                <a:cs typeface="Helvetica Neue"/>
              </a:rPr>
              <a:t>Feel</a:t>
            </a:r>
          </a:p>
        </p:txBody>
      </p:sp>
      <p:sp>
        <p:nvSpPr>
          <p:cNvPr id="5" name="">
            <a:extLst xmlns:a="http://schemas.openxmlformats.org/drawingml/2006/main">
              <a:ext uri="{FF2B5EF4-FFF2-40B4-BE49-F238E27FC236}">
                <a16:creationId xmlns:a16="http://schemas.microsoft.com/office/drawing/2014/main" id="{961DA1DA-1F63-4A1F-9327-2E427C9D9C14}"/>
              </a:ext>
            </a:extLst>
          </p:cNvPr>
          <p:cNvSpPr>
            <a:spLocks xmlns:a="http://schemas.openxmlformats.org/drawingml/2006/main" noGrp="1"/>
          </p:cNvSpPr>
          <p:nvPr/>
        </p:nvSpPr>
        <p:spPr>
          <a:xfrm xmlns:a="http://schemas.openxmlformats.org/drawingml/2006/main">
            <a:off x="6829425" y="3457575"/>
            <a:ext cx="4572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The paired band gives</a:t>
            </a:r>
          </a:p>
          <a:p xmlns:a="http://schemas.openxmlformats.org/drawingml/2006/main">
            <a:pPr>
              <a:defRPr sz="2250" b="0">
                <a:solidFill>
                  <a:srgbClr val="B0C4D4"/>
                </a:solidFill>
                <a:latin typeface="Helvetica Neue"/>
                <a:ea typeface="Helvetica Neue"/>
                <a:cs typeface="Helvetica Neue"/>
              </a:defRPr>
            </a:pPr>
            <a:r>
              <a:rPr sz="2250" b="0">
                <a:solidFill>
                  <a:srgbClr val="B0C4D4"/>
                </a:solidFill>
                <a:latin typeface="Helvetica Neue"/>
                <a:ea typeface="Helvetica Neue"/>
                <a:cs typeface="Helvetica Neue"/>
              </a:rPr>
              <a:t>three alert pulses.</a:t>
            </a:r>
          </a:p>
        </p:txBody>
      </p:sp>
      <p:sp>
        <p:nvSpPr>
          <p:cNvPr id="6" name="">
            <a:extLst xmlns:a="http://schemas.openxmlformats.org/drawingml/2006/main">
              <a:ext uri="{FF2B5EF4-FFF2-40B4-BE49-F238E27FC236}">
                <a16:creationId xmlns:a16="http://schemas.microsoft.com/office/drawing/2014/main" id="{11C58184-4296-4F13-A345-AA1589B9CDB3}"/>
              </a:ext>
            </a:extLst>
          </p:cNvPr>
          <p:cNvSpPr>
            <a:spLocks xmlns:a="http://schemas.openxmlformats.org/drawingml/2006/main" noGrp="1"/>
          </p:cNvSpPr>
          <p:nvPr/>
        </p:nvSpPr>
        <p:spPr>
          <a:xfrm xmlns:a="http://schemas.openxmlformats.org/drawingml/2006/main">
            <a:off x="704850" y="56197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9BD8E6"/>
                </a:solidFill>
                <a:latin typeface="Helvetica Neue"/>
                <a:ea typeface="Helvetica Neue"/>
                <a:cs typeface="Helvetica Neue"/>
              </a:defRPr>
            </a:pPr>
            <a:r>
              <a:rPr sz="1950" b="0">
                <a:solidFill>
                  <a:srgbClr val="9BD8E6"/>
                </a:solidFill>
                <a:latin typeface="Helvetica Neue"/>
                <a:ea typeface="Helvetica Neue"/>
                <a:cs typeface="Helvetica Neue"/>
              </a:rPr>
              <a:t>Pair on the surface. Hold for ranging. Press once to stop.</a:t>
            </a:r>
          </a:p>
        </p:txBody>
      </p:sp>
      <p:sp>
        <p:nvSpPr>
          <p:cNvPr id="7" name="">
            <a:extLst xmlns:a="http://schemas.openxmlformats.org/drawingml/2006/main">
              <a:ext uri="{FF2B5EF4-FFF2-40B4-BE49-F238E27FC236}">
                <a16:creationId xmlns:a16="http://schemas.microsoft.com/office/drawing/2014/main" id="{B7624A53-17F2-4FF0-ABDF-67085AD10944}"/>
              </a:ext>
            </a:extLst>
          </p:cNvPr>
          <p:cNvSpPr>
            <a:spLocks xmlns:a="http://schemas.openxmlformats.org/drawingml/2006/main" noGrp="1"/>
          </p:cNvSpPr>
          <p:nvPr/>
        </p:nvSpPr>
        <p:spPr>
          <a:xfrm xmlns:a="http://schemas.openxmlformats.org/drawingml/2006/main">
            <a:off x="704850" y="63531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C4D4"/>
                </a:solidFill>
                <a:latin typeface="Helvetica Neue"/>
                <a:ea typeface="Helvetica Neue"/>
                <a:cs typeface="Helvetica Neue"/>
              </a:defRPr>
            </a:pPr>
            <a:r>
              <a:rPr sz="1350" b="0">
                <a:solidFill>
                  <a:srgbClr val="B0C4D4"/>
                </a:solidFill>
                <a:latin typeface="Helvetica Neue"/>
                <a:ea typeface="Helvetica Neue"/>
                <a:cs typeface="Helvetica Neue"/>
              </a:rPr>
              <a:t>Proposed interaction</a:t>
            </a:r>
          </a:p>
        </p:txBody>
      </p:sp>
    </p:spTree>
    <p:extLst>
      <p:ext uri="{BB962C8B-B14F-4D97-AF65-F5344CB8AC3E}">
        <p14:creationId xmlns:p14="http://schemas.microsoft.com/office/powerpoint/2010/main" val="896134186"/>
      </p:ext>
    </p:extLst>
  </p:cSld>
</p:sld>
</file>

<file path=ppt/slides/slide3.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A535AA1-3933-4618-8FA5-6E23C854BC4E}"/>
              </a:ext>
            </a:extLst>
          </p:cNvPr>
          <p:cNvSpPr>
            <a:spLocks xmlns:a="http://schemas.openxmlformats.org/drawingml/2006/main" noGrp="1"/>
          </p:cNvSpPr>
          <p:nvPr/>
        </p:nvSpPr>
        <p:spPr>
          <a:xfrm xmlns:a="http://schemas.openxmlformats.org/drawingml/2006/main">
            <a:off x="666750" y="533400"/>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Distance becomes cadence</a:t>
            </a:r>
          </a:p>
        </p:txBody>
      </p:sp>
      <p:sp>
        <p:nvSpPr>
          <p:cNvPr id="2" name="">
            <a:extLst xmlns:a="http://schemas.openxmlformats.org/drawingml/2006/main">
              <a:ext uri="{FF2B5EF4-FFF2-40B4-BE49-F238E27FC236}">
                <a16:creationId xmlns:a16="http://schemas.microsoft.com/office/drawing/2014/main" id="{C4A94F84-5E62-4A3A-8F7B-E3E0348B98DF}"/>
              </a:ext>
            </a:extLst>
          </p:cNvPr>
          <p:cNvSpPr>
            <a:spLocks xmlns:a="http://schemas.openxmlformats.org/drawingml/2006/main" noGrp="1"/>
          </p:cNvSpPr>
          <p:nvPr/>
        </p:nvSpPr>
        <p:spPr>
          <a:xfrm xmlns:a="http://schemas.openxmlformats.org/drawingml/2006/main">
            <a:off x="685800" y="25717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9BD8E6"/>
                </a:solidFill>
                <a:latin typeface="Helvetica Neue"/>
                <a:ea typeface="Helvetica Neue"/>
                <a:cs typeface="Helvetica Neue"/>
              </a:defRPr>
            </a:pPr>
            <a:r>
              <a:rPr sz="6150" b="1">
                <a:solidFill>
                  <a:srgbClr val="9BD8E6"/>
                </a:solidFill>
                <a:latin typeface="Helvetica Neue"/>
                <a:ea typeface="Helvetica Neue"/>
                <a:cs typeface="Helvetica Neue"/>
              </a:rPr>
              <a:t>12 m</a:t>
            </a:r>
          </a:p>
        </p:txBody>
      </p:sp>
      <p:sp>
        <p:nvSpPr>
          <p:cNvPr id="3" name="">
            <a:extLst xmlns:a="http://schemas.openxmlformats.org/drawingml/2006/main">
              <a:ext uri="{FF2B5EF4-FFF2-40B4-BE49-F238E27FC236}">
                <a16:creationId xmlns:a16="http://schemas.microsoft.com/office/drawing/2014/main" id="{F804203B-13D5-4CA8-9293-974F566E3D25}"/>
              </a:ext>
            </a:extLst>
          </p:cNvPr>
          <p:cNvSpPr>
            <a:spLocks xmlns:a="http://schemas.openxmlformats.org/drawingml/2006/main" noGrp="1"/>
          </p:cNvSpPr>
          <p:nvPr/>
        </p:nvSpPr>
        <p:spPr>
          <a:xfrm xmlns:a="http://schemas.openxmlformats.org/drawingml/2006/main">
            <a:off x="714375" y="38385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One pulse</a:t>
            </a:r>
          </a:p>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every 2 seconds</a:t>
            </a:r>
          </a:p>
        </p:txBody>
      </p:sp>
      <p:sp>
        <p:nvSpPr>
          <p:cNvPr id="4" name="">
            <a:extLst xmlns:a="http://schemas.openxmlformats.org/drawingml/2006/main">
              <a:ext uri="{FF2B5EF4-FFF2-40B4-BE49-F238E27FC236}">
                <a16:creationId xmlns:a16="http://schemas.microsoft.com/office/drawing/2014/main" id="{2A92471D-D3B0-4500-B33C-FE3A86B39D82}"/>
              </a:ext>
            </a:extLst>
          </p:cNvPr>
          <p:cNvSpPr>
            <a:spLocks xmlns:a="http://schemas.openxmlformats.org/drawingml/2006/main" noGrp="1"/>
          </p:cNvSpPr>
          <p:nvPr/>
        </p:nvSpPr>
        <p:spPr>
          <a:xfrm xmlns:a="http://schemas.openxmlformats.org/drawingml/2006/main">
            <a:off x="4591050" y="25717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9BD8E6"/>
                </a:solidFill>
                <a:latin typeface="Helvetica Neue"/>
                <a:ea typeface="Helvetica Neue"/>
                <a:cs typeface="Helvetica Neue"/>
              </a:defRPr>
            </a:pPr>
            <a:r>
              <a:rPr sz="6150" b="1">
                <a:solidFill>
                  <a:srgbClr val="9BD8E6"/>
                </a:solidFill>
                <a:latin typeface="Helvetica Neue"/>
                <a:ea typeface="Helvetica Neue"/>
                <a:cs typeface="Helvetica Neue"/>
              </a:rPr>
              <a:t>7 m</a:t>
            </a:r>
          </a:p>
        </p:txBody>
      </p:sp>
      <p:sp>
        <p:nvSpPr>
          <p:cNvPr id="5" name="">
            <a:extLst xmlns:a="http://schemas.openxmlformats.org/drawingml/2006/main">
              <a:ext uri="{FF2B5EF4-FFF2-40B4-BE49-F238E27FC236}">
                <a16:creationId xmlns:a16="http://schemas.microsoft.com/office/drawing/2014/main" id="{4F52D66E-A50A-43C6-A9E0-F07E1BA14418}"/>
              </a:ext>
            </a:extLst>
          </p:cNvPr>
          <p:cNvSpPr>
            <a:spLocks xmlns:a="http://schemas.openxmlformats.org/drawingml/2006/main" noGrp="1"/>
          </p:cNvSpPr>
          <p:nvPr/>
        </p:nvSpPr>
        <p:spPr>
          <a:xfrm xmlns:a="http://schemas.openxmlformats.org/drawingml/2006/main">
            <a:off x="4619625" y="38385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One pulse</a:t>
            </a:r>
          </a:p>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every second</a:t>
            </a:r>
          </a:p>
        </p:txBody>
      </p:sp>
      <p:sp>
        <p:nvSpPr>
          <p:cNvPr id="6" name="">
            <a:extLst xmlns:a="http://schemas.openxmlformats.org/drawingml/2006/main">
              <a:ext uri="{FF2B5EF4-FFF2-40B4-BE49-F238E27FC236}">
                <a16:creationId xmlns:a16="http://schemas.microsoft.com/office/drawing/2014/main" id="{2B97C6ED-AFEB-4353-A6B8-EA40480D840A}"/>
              </a:ext>
            </a:extLst>
          </p:cNvPr>
          <p:cNvSpPr>
            <a:spLocks xmlns:a="http://schemas.openxmlformats.org/drawingml/2006/main" noGrp="1"/>
          </p:cNvSpPr>
          <p:nvPr/>
        </p:nvSpPr>
        <p:spPr>
          <a:xfrm xmlns:a="http://schemas.openxmlformats.org/drawingml/2006/main">
            <a:off x="8496300" y="25717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9BD8E6"/>
                </a:solidFill>
                <a:latin typeface="Helvetica Neue"/>
                <a:ea typeface="Helvetica Neue"/>
                <a:cs typeface="Helvetica Neue"/>
              </a:defRPr>
            </a:pPr>
            <a:r>
              <a:rPr sz="6150" b="1">
                <a:solidFill>
                  <a:srgbClr val="9BD8E6"/>
                </a:solidFill>
                <a:latin typeface="Helvetica Neue"/>
                <a:ea typeface="Helvetica Neue"/>
                <a:cs typeface="Helvetica Neue"/>
              </a:rPr>
              <a:t>3 m</a:t>
            </a:r>
          </a:p>
        </p:txBody>
      </p:sp>
      <p:sp>
        <p:nvSpPr>
          <p:cNvPr id="7" name="">
            <a:extLst xmlns:a="http://schemas.openxmlformats.org/drawingml/2006/main">
              <a:ext uri="{FF2B5EF4-FFF2-40B4-BE49-F238E27FC236}">
                <a16:creationId xmlns:a16="http://schemas.microsoft.com/office/drawing/2014/main" id="{45116342-0F15-4136-A098-762D1318B1A5}"/>
              </a:ext>
            </a:extLst>
          </p:cNvPr>
          <p:cNvSpPr>
            <a:spLocks xmlns:a="http://schemas.openxmlformats.org/drawingml/2006/main" noGrp="1"/>
          </p:cNvSpPr>
          <p:nvPr/>
        </p:nvSpPr>
        <p:spPr>
          <a:xfrm xmlns:a="http://schemas.openxmlformats.org/drawingml/2006/main">
            <a:off x="8524875" y="3838575"/>
            <a:ext cx="295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Double pulse</a:t>
            </a:r>
          </a:p>
          <a:p xmlns:a="http://schemas.openxmlformats.org/drawingml/2006/main">
            <a:pPr>
              <a:defRPr sz="2175" b="0">
                <a:solidFill>
                  <a:srgbClr val="F0F4F7"/>
                </a:solidFill>
                <a:latin typeface="Helvetica Neue"/>
                <a:ea typeface="Helvetica Neue"/>
                <a:cs typeface="Helvetica Neue"/>
              </a:defRPr>
            </a:pPr>
            <a:r>
              <a:rPr sz="2175" b="0">
                <a:solidFill>
                  <a:srgbClr val="F0F4F7"/>
                </a:solidFill>
                <a:latin typeface="Helvetica Neue"/>
                <a:ea typeface="Helvetica Neue"/>
                <a:cs typeface="Helvetica Neue"/>
              </a:rPr>
              <a:t>every 0.5 seconds</a:t>
            </a:r>
          </a:p>
        </p:txBody>
      </p:sp>
      <p:sp>
        <p:nvSpPr>
          <p:cNvPr id="8" name="">
            <a:extLst xmlns:a="http://schemas.openxmlformats.org/drawingml/2006/main">
              <a:ext uri="{FF2B5EF4-FFF2-40B4-BE49-F238E27FC236}">
                <a16:creationId xmlns:a16="http://schemas.microsoft.com/office/drawing/2014/main" id="{73FC77F5-A818-475C-8782-4A3D1E3DB271}"/>
              </a:ext>
            </a:extLst>
          </p:cNvPr>
          <p:cNvSpPr>
            <a:spLocks xmlns:a="http://schemas.openxmlformats.org/drawingml/2006/main" noGrp="1"/>
          </p:cNvSpPr>
          <p:nvPr/>
        </p:nvSpPr>
        <p:spPr>
          <a:xfrm xmlns:a="http://schemas.openxmlformats.org/drawingml/2006/main">
            <a:off x="714375" y="5629275"/>
            <a:ext cx="857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0F4F7"/>
                </a:solidFill>
                <a:latin typeface="Helvetica Neue"/>
                <a:ea typeface="Helvetica Neue"/>
                <a:cs typeface="Helvetica Neue"/>
              </a:defRPr>
            </a:pPr>
            <a:r>
              <a:rPr sz="2250" b="1">
                <a:solidFill>
                  <a:srgbClr val="F0F4F7"/>
                </a:solidFill>
                <a:latin typeface="Helvetica Neue"/>
                <a:ea typeface="Helvetica Neue"/>
                <a:cs typeface="Helvetica Neue"/>
              </a:rPr>
              <a:t>Distance, not direction.</a:t>
            </a:r>
          </a:p>
        </p:txBody>
      </p:sp>
      <p:sp>
        <p:nvSpPr>
          <p:cNvPr id="9" name="">
            <a:extLst xmlns:a="http://schemas.openxmlformats.org/drawingml/2006/main">
              <a:ext uri="{FF2B5EF4-FFF2-40B4-BE49-F238E27FC236}">
                <a16:creationId xmlns:a16="http://schemas.microsoft.com/office/drawing/2014/main" id="{D3F5F6FD-7F97-4B16-B435-87647A536DE8}"/>
              </a:ext>
            </a:extLst>
          </p:cNvPr>
          <p:cNvSpPr>
            <a:spLocks xmlns:a="http://schemas.openxmlformats.org/drawingml/2006/main" noGrp="1"/>
          </p:cNvSpPr>
          <p:nvPr/>
        </p:nvSpPr>
        <p:spPr>
          <a:xfrm xmlns:a="http://schemas.openxmlformats.org/drawingml/2006/main">
            <a:off x="714375" y="62198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Illustrative cadence. No reply means distance is unknown.</a:t>
            </a:r>
          </a:p>
        </p:txBody>
      </p:sp>
    </p:spTree>
    <p:extLst>
      <p:ext uri="{BB962C8B-B14F-4D97-AF65-F5344CB8AC3E}">
        <p14:creationId xmlns:p14="http://schemas.microsoft.com/office/powerpoint/2010/main" val="131988066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1909D8-7AE3-46D5-9A11-46764C890F12}"/>
              </a:ext>
            </a:extLst>
          </p:cNvPr>
          <p:cNvSpPr>
            <a:spLocks xmlns:a="http://schemas.openxmlformats.org/drawingml/2006/main" noGrp="1"/>
          </p:cNvSpPr>
          <p:nvPr/>
        </p:nvSpPr>
        <p:spPr>
          <a:xfrm xmlns:a="http://schemas.openxmlformats.org/drawingml/2006/main">
            <a:off x="666750" y="533400"/>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Slip-on form.</a:t>
            </a:r>
          </a:p>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Removable module.</a:t>
            </a:r>
          </a:p>
        </p:txBody>
      </p:sp>
      <p:sp>
        <p:nvSpPr>
          <p:cNvPr id="2" name="">
            <a:extLst xmlns:a="http://schemas.openxmlformats.org/drawingml/2006/main">
              <a:ext uri="{FF2B5EF4-FFF2-40B4-BE49-F238E27FC236}">
                <a16:creationId xmlns:a16="http://schemas.microsoft.com/office/drawing/2014/main" id="{A8DA78F3-9BA2-46D0-A172-C243E555900B}"/>
              </a:ext>
            </a:extLst>
          </p:cNvPr>
          <p:cNvSpPr>
            <a:spLocks xmlns:a="http://schemas.openxmlformats.org/drawingml/2006/main" noGrp="1"/>
          </p:cNvSpPr>
          <p:nvPr/>
        </p:nvSpPr>
        <p:spPr>
          <a:xfrm xmlns:a="http://schemas.openxmlformats.org/drawingml/2006/main">
            <a:off x="704850" y="2647950"/>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246782"/>
                </a:solidFill>
                <a:latin typeface="Helvetica Neue"/>
                <a:ea typeface="Helvetica Neue"/>
                <a:cs typeface="Helvetica Neue"/>
              </a:defRPr>
            </a:pPr>
            <a:r>
              <a:rPr sz="3225" b="1">
                <a:solidFill>
                  <a:srgbClr val="246782"/>
                </a:solidFill>
                <a:latin typeface="Helvetica Neue"/>
                <a:ea typeface="Helvetica Neue"/>
                <a:cs typeface="Helvetica Neue"/>
              </a:rPr>
              <a:t>38 × 28 × 11.5 mm</a:t>
            </a:r>
          </a:p>
        </p:txBody>
      </p:sp>
      <p:sp>
        <p:nvSpPr>
          <p:cNvPr id="3" name="">
            <a:extLst xmlns:a="http://schemas.openxmlformats.org/drawingml/2006/main">
              <a:ext uri="{FF2B5EF4-FFF2-40B4-BE49-F238E27FC236}">
                <a16:creationId xmlns:a16="http://schemas.microsoft.com/office/drawing/2014/main" id="{4FC182AB-43C8-410A-A483-A393CE34E15B}"/>
              </a:ext>
            </a:extLst>
          </p:cNvPr>
          <p:cNvSpPr>
            <a:spLocks xmlns:a="http://schemas.openxmlformats.org/drawingml/2006/main" noGrp="1"/>
          </p:cNvSpPr>
          <p:nvPr/>
        </p:nvSpPr>
        <p:spPr>
          <a:xfrm xmlns:a="http://schemas.openxmlformats.org/drawingml/2006/main">
            <a:off x="723900" y="3381375"/>
            <a:ext cx="561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96172"/>
                </a:solidFill>
                <a:latin typeface="Helvetica Neue"/>
                <a:ea typeface="Helvetica Neue"/>
                <a:cs typeface="Helvetica Neue"/>
              </a:defRPr>
            </a:pPr>
            <a:r>
              <a:rPr sz="1950" b="0">
                <a:solidFill>
                  <a:srgbClr val="496172"/>
                </a:solidFill>
                <a:latin typeface="Helvetica Neue"/>
                <a:ea typeface="Helvetica Neue"/>
                <a:cs typeface="Helvetica Neue"/>
              </a:rPr>
              <a:t>Nominal housing dimensions</a:t>
            </a:r>
          </a:p>
        </p:txBody>
      </p:sp>
      <p:sp>
        <p:nvSpPr>
          <p:cNvPr id="4" name="">
            <a:extLst xmlns:a="http://schemas.openxmlformats.org/drawingml/2006/main">
              <a:ext uri="{FF2B5EF4-FFF2-40B4-BE49-F238E27FC236}">
                <a16:creationId xmlns:a16="http://schemas.microsoft.com/office/drawing/2014/main" id="{90B675F5-9B62-49DA-AD58-45DE5172D946}"/>
              </a:ext>
            </a:extLst>
          </p:cNvPr>
          <p:cNvSpPr>
            <a:spLocks xmlns:a="http://schemas.openxmlformats.org/drawingml/2006/main" noGrp="1"/>
          </p:cNvSpPr>
          <p:nvPr/>
        </p:nvSpPr>
        <p:spPr>
          <a:xfrm xmlns:a="http://schemas.openxmlformats.org/drawingml/2006/main">
            <a:off x="723900" y="4257675"/>
            <a:ext cx="5429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One button on top.</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No charging port on the band.</a:t>
            </a:r>
          </a:p>
          <a:p xmlns:a="http://schemas.openxmlformats.org/drawingml/2006/main">
            <a:pPr>
              <a:defRPr sz="2175" b="0">
                <a:solidFill>
                  <a:srgbClr val="142635"/>
                </a:solidFill>
                <a:latin typeface="Helvetica Neue"/>
                <a:ea typeface="Helvetica Neue"/>
                <a:cs typeface="Helvetica Neue"/>
              </a:defRPr>
            </a:pPr>
            <a:r>
              <a:rPr sz="2175" b="0">
                <a:solidFill>
                  <a:srgbClr val="142635"/>
                </a:solidFill>
                <a:latin typeface="Helvetica Neue"/>
                <a:ea typeface="Helvetica Neue"/>
                <a:cs typeface="Helvetica Neue"/>
              </a:rPr>
              <a:t>A shared inductive dock.</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33bea042f64fae"/>
          <a:stretch xmlns:a="http://schemas.openxmlformats.org/drawingml/2006/main"/>
        </p:blipFill>
        <p:spPr>
          <a:xfrm xmlns:a="http://schemas.openxmlformats.org/drawingml/2006/main">
            <a:off x="7091363" y="1838325"/>
            <a:ext cx="3962400" cy="39624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41FA44-EA1A-405C-B727-7F425B64DC61}"/>
              </a:ext>
            </a:extLst>
          </p:cNvPr>
          <p:cNvSpPr>
            <a:spLocks xmlns:a="http://schemas.openxmlformats.org/drawingml/2006/main" noGrp="1"/>
          </p:cNvSpPr>
          <p:nvPr/>
        </p:nvSpPr>
        <p:spPr>
          <a:xfrm xmlns:a="http://schemas.openxmlformats.org/drawingml/2006/main">
            <a:off x="714375" y="62865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96172"/>
                </a:solidFill>
                <a:latin typeface="Helvetica Neue"/>
                <a:ea typeface="Helvetica Neue"/>
                <a:cs typeface="Helvetica Neue"/>
              </a:defRPr>
            </a:pPr>
            <a:r>
              <a:rPr sz="1425" b="0">
                <a:solidFill>
                  <a:srgbClr val="496172"/>
                </a:solidFill>
                <a:latin typeface="Helvetica Neue"/>
                <a:ea typeface="Helvetica Neue"/>
                <a:cs typeface="Helvetica Neue"/>
              </a:rPr>
              <a:t>Concept geometry; fit, sealing and internal clearances require engineering development.</a:t>
            </a:r>
          </a:p>
        </p:txBody>
      </p:sp>
    </p:spTree>
    <p:extLst>
      <p:ext uri="{BB962C8B-B14F-4D97-AF65-F5344CB8AC3E}">
        <p14:creationId xmlns:p14="http://schemas.microsoft.com/office/powerpoint/2010/main" val="2187670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12FE77-6386-4FD2-8491-A770E3D69613}"/>
              </a:ext>
            </a:extLst>
          </p:cNvPr>
          <p:cNvSpPr>
            <a:spLocks xmlns:a="http://schemas.openxmlformats.org/drawingml/2006/main" noGrp="1"/>
          </p:cNvSpPr>
          <p:nvPr/>
        </p:nvSpPr>
        <p:spPr>
          <a:xfrm xmlns:a="http://schemas.openxmlformats.org/drawingml/2006/main">
            <a:off x="666750" y="533400"/>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142635"/>
                </a:solidFill>
                <a:latin typeface="Helvetica Neue"/>
                <a:ea typeface="Helvetica Neue"/>
                <a:cs typeface="Helvetica Neue"/>
              </a:defRPr>
            </a:pPr>
            <a:r>
              <a:rPr sz="4500" b="1">
                <a:solidFill>
                  <a:srgbClr val="142635"/>
                </a:solidFill>
                <a:latin typeface="Helvetica Neue"/>
                <a:ea typeface="Helvetica Neue"/>
                <a:cs typeface="Helvetica Neue"/>
              </a:rPr>
              <a:t>Inside the band</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d0260e7c2aa4419"/>
          <a:stretch xmlns:a="http://schemas.openxmlformats.org/drawingml/2006/main"/>
        </p:blipFill>
        <p:spPr>
          <a:xfrm xmlns:a="http://schemas.openxmlformats.org/drawingml/2006/main">
            <a:off x="7387828" y="1762125"/>
            <a:ext cx="3321844"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E40A2C0-B248-4A49-BE9F-930E8FDA49A7}"/>
              </a:ext>
            </a:extLst>
          </p:cNvPr>
          <p:cNvSpPr>
            <a:spLocks xmlns:a="http://schemas.openxmlformats.org/drawingml/2006/main" noGrp="1"/>
          </p:cNvSpPr>
          <p:nvPr/>
        </p:nvSpPr>
        <p:spPr>
          <a:xfrm xmlns:a="http://schemas.openxmlformats.org/drawingml/2006/main">
            <a:off x="704850" y="265747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46782"/>
                </a:solidFill>
                <a:latin typeface="Helvetica Neue"/>
                <a:ea typeface="Helvetica Neue"/>
                <a:cs typeface="Helvetica Neue"/>
              </a:defRPr>
            </a:pPr>
            <a:r>
              <a:rPr sz="2475" b="1">
                <a:solidFill>
                  <a:srgbClr val="246782"/>
                </a:solidFill>
                <a:latin typeface="Helvetica Neue"/>
                <a:ea typeface="Helvetica Neue"/>
                <a:cs typeface="Helvetica Neue"/>
              </a:rPr>
              <a:t>Acoustics</a:t>
            </a:r>
          </a:p>
        </p:txBody>
      </p:sp>
      <p:sp>
        <p:nvSpPr>
          <p:cNvPr id="4" name="">
            <a:extLst xmlns:a="http://schemas.openxmlformats.org/drawingml/2006/main">
              <a:ext uri="{FF2B5EF4-FFF2-40B4-BE49-F238E27FC236}">
                <a16:creationId xmlns:a16="http://schemas.microsoft.com/office/drawing/2014/main" id="{11526A09-2959-45D0-948B-39673DF12E86}"/>
              </a:ext>
            </a:extLst>
          </p:cNvPr>
          <p:cNvSpPr>
            <a:spLocks xmlns:a="http://schemas.openxmlformats.org/drawingml/2006/main" noGrp="1"/>
          </p:cNvSpPr>
          <p:nvPr/>
        </p:nvSpPr>
        <p:spPr>
          <a:xfrm xmlns:a="http://schemas.openxmlformats.org/drawingml/2006/main">
            <a:off x="723900" y="3267075"/>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5"/>
                </a:solidFill>
                <a:latin typeface="Helvetica Neue"/>
                <a:ea typeface="Helvetica Neue"/>
                <a:cs typeface="Helvetica Neue"/>
              </a:defRPr>
            </a:pPr>
            <a:r>
              <a:rPr sz="2025" b="0">
                <a:solidFill>
                  <a:srgbClr val="142635"/>
                </a:solidFill>
                <a:latin typeface="Helvetica Neue"/>
                <a:ea typeface="Helvetica Neue"/>
                <a:cs typeface="Helvetica Neue"/>
              </a:rPr>
              <a:t>~65 kHz two-way ranging</a:t>
            </a:r>
          </a:p>
          <a:p xmlns:a="http://schemas.openxmlformats.org/drawingml/2006/main">
            <a:pPr>
              <a:defRPr sz="2025" b="0">
                <a:solidFill>
                  <a:srgbClr val="142635"/>
                </a:solidFill>
                <a:latin typeface="Helvetica Neue"/>
                <a:ea typeface="Helvetica Neue"/>
                <a:cs typeface="Helvetica Neue"/>
              </a:defRPr>
            </a:pPr>
            <a:r>
              <a:rPr sz="2025" b="0">
                <a:solidFill>
                  <a:srgbClr val="142635"/>
                </a:solidFill>
                <a:latin typeface="Helvetica Neue"/>
                <a:ea typeface="Helvetica Neue"/>
                <a:cs typeface="Helvetica Neue"/>
              </a:rPr>
              <a:t>20 m range target</a:t>
            </a:r>
          </a:p>
        </p:txBody>
      </p:sp>
      <p:sp>
        <p:nvSpPr>
          <p:cNvPr id="5" name="">
            <a:extLst xmlns:a="http://schemas.openxmlformats.org/drawingml/2006/main">
              <a:ext uri="{FF2B5EF4-FFF2-40B4-BE49-F238E27FC236}">
                <a16:creationId xmlns:a16="http://schemas.microsoft.com/office/drawing/2014/main" id="{738A27A3-61C3-486D-90A5-CE5BEB1C06D1}"/>
              </a:ext>
            </a:extLst>
          </p:cNvPr>
          <p:cNvSpPr>
            <a:spLocks xmlns:a="http://schemas.openxmlformats.org/drawingml/2006/main" noGrp="1"/>
          </p:cNvSpPr>
          <p:nvPr/>
        </p:nvSpPr>
        <p:spPr>
          <a:xfrm xmlns:a="http://schemas.openxmlformats.org/drawingml/2006/main">
            <a:off x="704850" y="4429125"/>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246782"/>
                </a:solidFill>
                <a:latin typeface="Helvetica Neue"/>
                <a:ea typeface="Helvetica Neue"/>
                <a:cs typeface="Helvetica Neue"/>
              </a:defRPr>
            </a:pPr>
            <a:r>
              <a:rPr sz="2475" b="1">
                <a:solidFill>
                  <a:srgbClr val="246782"/>
                </a:solidFill>
                <a:latin typeface="Helvetica Neue"/>
                <a:ea typeface="Helvetica Neue"/>
                <a:cs typeface="Helvetica Neue"/>
              </a:rPr>
              <a:t>Power and feedback</a:t>
            </a:r>
          </a:p>
        </p:txBody>
      </p:sp>
      <p:sp>
        <p:nvSpPr>
          <p:cNvPr id="6" name="">
            <a:extLst xmlns:a="http://schemas.openxmlformats.org/drawingml/2006/main">
              <a:ext uri="{FF2B5EF4-FFF2-40B4-BE49-F238E27FC236}">
                <a16:creationId xmlns:a16="http://schemas.microsoft.com/office/drawing/2014/main" id="{B72876EF-B326-40D5-A8BE-4CBB468F8143}"/>
              </a:ext>
            </a:extLst>
          </p:cNvPr>
          <p:cNvSpPr>
            <a:spLocks xmlns:a="http://schemas.openxmlformats.org/drawingml/2006/main" noGrp="1"/>
          </p:cNvSpPr>
          <p:nvPr/>
        </p:nvSpPr>
        <p:spPr>
          <a:xfrm xmlns:a="http://schemas.openxmlformats.org/drawingml/2006/main">
            <a:off x="723900" y="5029200"/>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635"/>
                </a:solidFill>
                <a:latin typeface="Helvetica Neue"/>
                <a:ea typeface="Helvetica Neue"/>
                <a:cs typeface="Helvetica Neue"/>
              </a:defRPr>
            </a:pPr>
            <a:r>
              <a:rPr sz="2025" b="0">
                <a:solidFill>
                  <a:srgbClr val="142635"/>
                </a:solidFill>
                <a:latin typeface="Helvetica Neue"/>
                <a:ea typeface="Helvetica Neue"/>
                <a:cs typeface="Helvetica Neue"/>
              </a:rPr>
              <a:t>Rechargeable cell, receiver coil</a:t>
            </a:r>
          </a:p>
          <a:p xmlns:a="http://schemas.openxmlformats.org/drawingml/2006/main">
            <a:pPr>
              <a:defRPr sz="2025" b="0">
                <a:solidFill>
                  <a:srgbClr val="142635"/>
                </a:solidFill>
                <a:latin typeface="Helvetica Neue"/>
                <a:ea typeface="Helvetica Neue"/>
                <a:cs typeface="Helvetica Neue"/>
              </a:defRPr>
            </a:pPr>
            <a:r>
              <a:rPr sz="2025" b="0">
                <a:solidFill>
                  <a:srgbClr val="142635"/>
                </a:solidFill>
                <a:latin typeface="Helvetica Neue"/>
                <a:ea typeface="Helvetica Neue"/>
                <a:cs typeface="Helvetica Neue"/>
              </a:rPr>
              <a:t>and vibration motor.</a:t>
            </a:r>
          </a:p>
        </p:txBody>
      </p:sp>
      <p:sp>
        <p:nvSpPr>
          <p:cNvPr id="7" name="">
            <a:extLst xmlns:a="http://schemas.openxmlformats.org/drawingml/2006/main">
              <a:ext uri="{FF2B5EF4-FFF2-40B4-BE49-F238E27FC236}">
                <a16:creationId xmlns:a16="http://schemas.microsoft.com/office/drawing/2014/main" id="{F73F0EE6-07C6-4336-AEE1-6FE14D90BABF}"/>
              </a:ext>
            </a:extLst>
          </p:cNvPr>
          <p:cNvSpPr>
            <a:spLocks xmlns:a="http://schemas.openxmlformats.org/drawingml/2006/main" noGrp="1"/>
          </p:cNvSpPr>
          <p:nvPr/>
        </p:nvSpPr>
        <p:spPr>
          <a:xfrm xmlns:a="http://schemas.openxmlformats.org/drawingml/2006/main">
            <a:off x="714375" y="63436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496172"/>
                </a:solidFill>
                <a:latin typeface="Helvetica Neue"/>
                <a:ea typeface="Helvetica Neue"/>
                <a:cs typeface="Helvetica Neue"/>
              </a:defRPr>
            </a:pPr>
            <a:r>
              <a:rPr sz="1425" b="0">
                <a:solidFill>
                  <a:srgbClr val="496172"/>
                </a:solidFill>
                <a:latin typeface="Helvetica Neue"/>
                <a:ea typeface="Helvetica Neue"/>
                <a:cs typeface="Helvetica Neue"/>
              </a:rPr>
              <a:t>Concept layout. No validated acoustic or manufacturing performance.</a:t>
            </a:r>
          </a:p>
        </p:txBody>
      </p:sp>
    </p:spTree>
    <p:extLst>
      <p:ext uri="{BB962C8B-B14F-4D97-AF65-F5344CB8AC3E}">
        <p14:creationId xmlns:p14="http://schemas.microsoft.com/office/powerpoint/2010/main" val="1482516791"/>
      </p:ext>
    </p:extLst>
  </p:cSld>
</p:sld>
</file>

<file path=ppt/slides/slide6.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6678DB6-C692-4812-9597-9B6239040A2E}"/>
              </a:ext>
            </a:extLst>
          </p:cNvPr>
          <p:cNvSpPr>
            <a:spLocks xmlns:a="http://schemas.openxmlformats.org/drawingml/2006/main" noGrp="1"/>
          </p:cNvSpPr>
          <p:nvPr/>
        </p:nvSpPr>
        <p:spPr>
          <a:xfrm xmlns:a="http://schemas.openxmlformats.org/drawingml/2006/main">
            <a:off x="666750" y="533400"/>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Designed as a pair</a:t>
            </a:r>
          </a:p>
        </p:txBody>
      </p:sp>
      <p:sp>
        <p:nvSpPr>
          <p:cNvPr id="2" name="">
            <a:extLst xmlns:a="http://schemas.openxmlformats.org/drawingml/2006/main">
              <a:ext uri="{FF2B5EF4-FFF2-40B4-BE49-F238E27FC236}">
                <a16:creationId xmlns:a16="http://schemas.microsoft.com/office/drawing/2014/main" id="{6157E79B-94CB-4524-B822-88DD4B4A77F1}"/>
              </a:ext>
            </a:extLst>
          </p:cNvPr>
          <p:cNvSpPr>
            <a:spLocks xmlns:a="http://schemas.openxmlformats.org/drawingml/2006/main" noGrp="1"/>
          </p:cNvSpPr>
          <p:nvPr/>
        </p:nvSpPr>
        <p:spPr>
          <a:xfrm xmlns:a="http://schemas.openxmlformats.org/drawingml/2006/main">
            <a:off x="695325" y="2133600"/>
            <a:ext cx="685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F0F4F7"/>
                </a:solidFill>
                <a:latin typeface="Helvetica Neue"/>
                <a:ea typeface="Helvetica Neue"/>
                <a:cs typeface="Helvetica Neue"/>
              </a:defRPr>
            </a:pPr>
            <a:r>
              <a:rPr sz="7050" b="1">
                <a:solidFill>
                  <a:srgbClr val="F0F4F7"/>
                </a:solidFill>
                <a:latin typeface="Helvetica Neue"/>
                <a:ea typeface="Helvetica Neue"/>
                <a:cs typeface="Helvetica Neue"/>
              </a:rPr>
              <a:t>$179–199</a:t>
            </a:r>
          </a:p>
        </p:txBody>
      </p:sp>
      <p:sp>
        <p:nvSpPr>
          <p:cNvPr id="3" name="">
            <a:extLst xmlns:a="http://schemas.openxmlformats.org/drawingml/2006/main">
              <a:ext uri="{FF2B5EF4-FFF2-40B4-BE49-F238E27FC236}">
                <a16:creationId xmlns:a16="http://schemas.microsoft.com/office/drawing/2014/main" id="{9A810F92-FC95-4D25-8B28-952D6BC6B9FE}"/>
              </a:ext>
            </a:extLst>
          </p:cNvPr>
          <p:cNvSpPr>
            <a:spLocks xmlns:a="http://schemas.openxmlformats.org/drawingml/2006/main" noGrp="1"/>
          </p:cNvSpPr>
          <p:nvPr/>
        </p:nvSpPr>
        <p:spPr>
          <a:xfrm xmlns:a="http://schemas.openxmlformats.org/drawingml/2006/main">
            <a:off x="733425" y="3514725"/>
            <a:ext cx="619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0C4D4"/>
                </a:solidFill>
                <a:latin typeface="Helvetica Neue"/>
                <a:ea typeface="Helvetica Neue"/>
                <a:cs typeface="Helvetica Neue"/>
              </a:defRPr>
            </a:pPr>
            <a:r>
              <a:rPr sz="2325" b="0">
                <a:solidFill>
                  <a:srgbClr val="B0C4D4"/>
                </a:solidFill>
                <a:latin typeface="Helvetica Neue"/>
                <a:ea typeface="Helvetica Neue"/>
                <a:cs typeface="Helvetica Neue"/>
              </a:rPr>
              <a:t>Retail target per pair</a:t>
            </a:r>
          </a:p>
        </p:txBody>
      </p:sp>
      <p:sp>
        <p:nvSpPr>
          <p:cNvPr id="4" name="">
            <a:extLst xmlns:a="http://schemas.openxmlformats.org/drawingml/2006/main">
              <a:ext uri="{FF2B5EF4-FFF2-40B4-BE49-F238E27FC236}">
                <a16:creationId xmlns:a16="http://schemas.microsoft.com/office/drawing/2014/main" id="{60D5CB70-D47B-4063-AFC2-F60E183E8BE3}"/>
              </a:ext>
            </a:extLst>
          </p:cNvPr>
          <p:cNvSpPr>
            <a:spLocks xmlns:a="http://schemas.openxmlformats.org/drawingml/2006/main" noGrp="1"/>
          </p:cNvSpPr>
          <p:nvPr/>
        </p:nvSpPr>
        <p:spPr>
          <a:xfrm xmlns:a="http://schemas.openxmlformats.org/drawingml/2006/main">
            <a:off x="7620000" y="253365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9BD8E6"/>
                </a:solidFill>
                <a:latin typeface="Helvetica Neue"/>
                <a:ea typeface="Helvetica Neue"/>
                <a:cs typeface="Helvetica Neue"/>
              </a:defRPr>
            </a:pPr>
            <a:r>
              <a:rPr sz="4650" b="1">
                <a:solidFill>
                  <a:srgbClr val="9BD8E6"/>
                </a:solidFill>
                <a:latin typeface="Helvetica Neue"/>
                <a:ea typeface="Helvetica Neue"/>
                <a:cs typeface="Helvetica Neue"/>
              </a:rPr>
              <a:t>≈ $86</a:t>
            </a:r>
          </a:p>
        </p:txBody>
      </p:sp>
      <p:sp>
        <p:nvSpPr>
          <p:cNvPr id="5" name="">
            <a:extLst xmlns:a="http://schemas.openxmlformats.org/drawingml/2006/main">
              <a:ext uri="{FF2B5EF4-FFF2-40B4-BE49-F238E27FC236}">
                <a16:creationId xmlns:a16="http://schemas.microsoft.com/office/drawing/2014/main" id="{856925F7-BB89-46E9-8B22-D9ACB8D8C591}"/>
              </a:ext>
            </a:extLst>
          </p:cNvPr>
          <p:cNvSpPr>
            <a:spLocks xmlns:a="http://schemas.openxmlformats.org/drawingml/2006/main" noGrp="1"/>
          </p:cNvSpPr>
          <p:nvPr/>
        </p:nvSpPr>
        <p:spPr>
          <a:xfrm xmlns:a="http://schemas.openxmlformats.org/drawingml/2006/main">
            <a:off x="7658100" y="3543300"/>
            <a:ext cx="3714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Desk cost estimate per pair</a:t>
            </a:r>
          </a:p>
          <a:p xmlns:a="http://schemas.openxmlformats.org/drawingml/2006/main">
            <a:pPr>
              <a:defRPr sz="2025" b="0">
                <a:solidFill>
                  <a:srgbClr val="B0C4D4"/>
                </a:solidFill>
                <a:latin typeface="Helvetica Neue"/>
                <a:ea typeface="Helvetica Neue"/>
                <a:cs typeface="Helvetica Neue"/>
              </a:defRPr>
            </a:pPr>
            <a:r>
              <a:rPr sz="2025" b="0">
                <a:solidFill>
                  <a:srgbClr val="B0C4D4"/>
                </a:solidFill>
                <a:latin typeface="Helvetica Neue"/>
                <a:ea typeface="Helvetica Neue"/>
                <a:cs typeface="Helvetica Neue"/>
              </a:rPr>
              <a:t>at 5,000 pairs · ±30%</a:t>
            </a:r>
          </a:p>
        </p:txBody>
      </p:sp>
      <p:sp>
        <p:nvSpPr>
          <p:cNvPr id="6" name="">
            <a:extLst xmlns:a="http://schemas.openxmlformats.org/drawingml/2006/main">
              <a:ext uri="{FF2B5EF4-FFF2-40B4-BE49-F238E27FC236}">
                <a16:creationId xmlns:a16="http://schemas.microsoft.com/office/drawing/2014/main" id="{DF1E9622-F11A-4069-B600-152AC768091E}"/>
              </a:ext>
            </a:extLst>
          </p:cNvPr>
          <p:cNvSpPr>
            <a:spLocks xmlns:a="http://schemas.openxmlformats.org/drawingml/2006/main" noGrp="1"/>
          </p:cNvSpPr>
          <p:nvPr/>
        </p:nvSpPr>
        <p:spPr>
          <a:xfrm xmlns:a="http://schemas.openxmlformats.org/drawingml/2006/main">
            <a:off x="723900" y="51435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0F4F7"/>
                </a:solidFill>
                <a:latin typeface="Helvetica Neue"/>
                <a:ea typeface="Helvetica Neue"/>
                <a:cs typeface="Helvetica Neue"/>
              </a:defRPr>
            </a:pPr>
            <a:r>
              <a:rPr sz="2625" b="0">
                <a:solidFill>
                  <a:srgbClr val="F0F4F7"/>
                </a:solidFill>
                <a:latin typeface="Helvetica Neue"/>
                <a:ea typeface="Helvetica Neue"/>
                <a:cs typeface="Helvetica Neue"/>
              </a:rPr>
              <a:t>Two bands and one shared charging dock.</a:t>
            </a:r>
          </a:p>
        </p:txBody>
      </p:sp>
      <p:sp>
        <p:nvSpPr>
          <p:cNvPr id="7" name="">
            <a:extLst xmlns:a="http://schemas.openxmlformats.org/drawingml/2006/main">
              <a:ext uri="{FF2B5EF4-FFF2-40B4-BE49-F238E27FC236}">
                <a16:creationId xmlns:a16="http://schemas.microsoft.com/office/drawing/2014/main" id="{46D5BDE7-2D94-4272-86E0-38740B65F61D}"/>
              </a:ext>
            </a:extLst>
          </p:cNvPr>
          <p:cNvSpPr>
            <a:spLocks xmlns:a="http://schemas.openxmlformats.org/drawingml/2006/main" noGrp="1"/>
          </p:cNvSpPr>
          <p:nvPr/>
        </p:nvSpPr>
        <p:spPr>
          <a:xfrm xmlns:a="http://schemas.openxmlformats.org/drawingml/2006/main">
            <a:off x="723900" y="60388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0C4D4"/>
                </a:solidFill>
                <a:latin typeface="Helvetica Neue"/>
                <a:ea typeface="Helvetica Neue"/>
                <a:cs typeface="Helvetica Neue"/>
              </a:defRPr>
            </a:pPr>
            <a:r>
              <a:rPr sz="1575" b="0">
                <a:solidFill>
                  <a:srgbClr val="B0C4D4"/>
                </a:solidFill>
                <a:latin typeface="Helvetica Neue"/>
                <a:ea typeface="Helvetica Neue"/>
                <a:cs typeface="Helvetica Neue"/>
              </a:rPr>
              <a:t>Cost excludes tooling, engineering, freight and duty. Supplier quotes and channel economics remain open.</a:t>
            </a:r>
          </a:p>
        </p:txBody>
      </p:sp>
    </p:spTree>
    <p:extLst>
      <p:ext uri="{BB962C8B-B14F-4D97-AF65-F5344CB8AC3E}">
        <p14:creationId xmlns:p14="http://schemas.microsoft.com/office/powerpoint/2010/main" val="285667464"/>
      </p:ext>
    </p:extLst>
  </p:cSld>
</p:sld>
</file>

<file path=ppt/slides/slide7.xml><?xml version="1.0" encoding="utf-8"?>
<p:sld xmlns:p="http://schemas.openxmlformats.org/presentationml/2006/main">
  <p:cSld>
    <p:bg>
      <p:bgPr>
        <a:solidFill xmlns:a="http://schemas.openxmlformats.org/drawingml/2006/main">
          <a:srgbClr val="07111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2E4C09-88CF-4E72-A5C6-0AB8E8F6CD27}"/>
              </a:ext>
            </a:extLst>
          </p:cNvPr>
          <p:cNvSpPr>
            <a:spLocks xmlns:a="http://schemas.openxmlformats.org/drawingml/2006/main" noGrp="1"/>
          </p:cNvSpPr>
          <p:nvPr/>
        </p:nvSpPr>
        <p:spPr>
          <a:xfrm xmlns:a="http://schemas.openxmlformats.org/drawingml/2006/main">
            <a:off x="666750" y="533400"/>
            <a:ext cx="107632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A paired call.</a:t>
            </a:r>
          </a:p>
          <a:p xmlns:a="http://schemas.openxmlformats.org/drawingml/2006/main">
            <a:pPr>
              <a:defRPr sz="4500" b="1">
                <a:solidFill>
                  <a:srgbClr val="F0F4F7"/>
                </a:solidFill>
                <a:latin typeface="Helvetica Neue"/>
                <a:ea typeface="Helvetica Neue"/>
                <a:cs typeface="Helvetica Neue"/>
              </a:defRPr>
            </a:pPr>
            <a:r>
              <a:rPr sz="4500" b="1">
                <a:solidFill>
                  <a:srgbClr val="F0F4F7"/>
                </a:solidFill>
                <a:latin typeface="Helvetica Neue"/>
                <a:ea typeface="Helvetica Neue"/>
                <a:cs typeface="Helvetica Neue"/>
              </a:rPr>
              <a:t>A sense of distance.</a:t>
            </a:r>
          </a:p>
        </p:txBody>
      </p:sp>
      <p:sp>
        <p:nvSpPr>
          <p:cNvPr id="2" name="">
            <a:extLst xmlns:a="http://schemas.openxmlformats.org/drawingml/2006/main">
              <a:ext uri="{FF2B5EF4-FFF2-40B4-BE49-F238E27FC236}">
                <a16:creationId xmlns:a16="http://schemas.microsoft.com/office/drawing/2014/main" id="{7E403216-5E57-45B2-BDFC-979C3B9452C3}"/>
              </a:ext>
            </a:extLst>
          </p:cNvPr>
          <p:cNvSpPr>
            <a:spLocks xmlns:a="http://schemas.openxmlformats.org/drawingml/2006/main" noGrp="1"/>
          </p:cNvSpPr>
          <p:nvPr/>
        </p:nvSpPr>
        <p:spPr>
          <a:xfrm xmlns:a="http://schemas.openxmlformats.org/drawingml/2006/main">
            <a:off x="714375" y="2505075"/>
            <a:ext cx="704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525" b="1">
                <a:solidFill>
                  <a:srgbClr val="9BD8E6"/>
                </a:solidFill>
                <a:latin typeface="Helvetica Neue"/>
                <a:ea typeface="Helvetica Neue"/>
                <a:cs typeface="Helvetica Neue"/>
              </a:defRPr>
            </a:pPr>
            <a:r>
              <a:rPr sz="3525" b="1">
                <a:solidFill>
                  <a:srgbClr val="9BD8E6"/>
                </a:solidFill>
                <a:latin typeface="Helvetica Neue"/>
                <a:ea typeface="Helvetica Neue"/>
                <a:cs typeface="Helvetica Neue"/>
              </a:rPr>
              <a:t>Dive Buddy Alert Band</a:t>
            </a:r>
          </a:p>
        </p:txBody>
      </p:sp>
      <p:sp>
        <p:nvSpPr>
          <p:cNvPr id="3" name="">
            <a:extLst xmlns:a="http://schemas.openxmlformats.org/drawingml/2006/main">
              <a:ext uri="{FF2B5EF4-FFF2-40B4-BE49-F238E27FC236}">
                <a16:creationId xmlns:a16="http://schemas.microsoft.com/office/drawing/2014/main" id="{5974B0E3-AD7C-449D-895F-34A434260AB0}"/>
              </a:ext>
            </a:extLst>
          </p:cNvPr>
          <p:cNvSpPr>
            <a:spLocks xmlns:a="http://schemas.openxmlformats.org/drawingml/2006/main" noGrp="1"/>
          </p:cNvSpPr>
          <p:nvPr/>
        </p:nvSpPr>
        <p:spPr>
          <a:xfrm xmlns:a="http://schemas.openxmlformats.org/drawingml/2006/main">
            <a:off x="742950" y="346710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0C4D4"/>
                </a:solidFill>
                <a:latin typeface="Helvetica Neue"/>
                <a:ea typeface="Helvetica Neue"/>
                <a:cs typeface="Helvetica Neue"/>
              </a:defRPr>
            </a:pPr>
            <a:r>
              <a:rPr sz="2175" b="0">
                <a:solidFill>
                  <a:srgbClr val="B0C4D4"/>
                </a:solidFill>
                <a:latin typeface="Helvetica Neue"/>
                <a:ea typeface="Helvetica Neue"/>
                <a:cs typeface="Helvetica Neue"/>
              </a:rPr>
              <a:t>Concept by Rafael</a:t>
            </a:r>
          </a:p>
        </p:txBody>
      </p:sp>
      <p:sp>
        <p:nvSpPr>
          <p:cNvPr id="4" name="">
            <a:extLst xmlns:a="http://schemas.openxmlformats.org/drawingml/2006/main">
              <a:ext uri="{FF2B5EF4-FFF2-40B4-BE49-F238E27FC236}">
                <a16:creationId xmlns:a16="http://schemas.microsoft.com/office/drawing/2014/main" id="{D6BD1E23-75E7-42F8-93F4-776EC217A566}"/>
              </a:ext>
            </a:extLst>
          </p:cNvPr>
          <p:cNvSpPr>
            <a:spLocks xmlns:a="http://schemas.openxmlformats.org/drawingml/2006/main" noGrp="1"/>
          </p:cNvSpPr>
          <p:nvPr/>
        </p:nvSpPr>
        <p:spPr>
          <a:xfrm xmlns:a="http://schemas.openxmlformats.org/drawingml/2006/main">
            <a:off x="742950" y="4362450"/>
            <a:ext cx="9239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0F4F7"/>
                </a:solidFill>
                <a:latin typeface="Helvetica Neue"/>
                <a:ea typeface="Helvetica Neue"/>
                <a:cs typeface="Helvetica Neue"/>
              </a:defRPr>
            </a:pPr>
            <a:r>
              <a:rPr sz="2325" b="0">
                <a:solidFill>
                  <a:srgbClr val="F0F4F7"/>
                </a:solidFill>
                <a:latin typeface="Helvetica Neue"/>
                <a:ea typeface="Helvetica Neue"/>
                <a:cs typeface="Helvetica Neue"/>
              </a:rPr>
              <a:t>Product interaction, nominal CAD</a:t>
            </a:r>
          </a:p>
          <a:p xmlns:a="http://schemas.openxmlformats.org/drawingml/2006/main">
            <a:pPr>
              <a:defRPr sz="2325" b="0">
                <a:solidFill>
                  <a:srgbClr val="F0F4F7"/>
                </a:solidFill>
                <a:latin typeface="Helvetica Neue"/>
                <a:ea typeface="Helvetica Neue"/>
                <a:cs typeface="Helvetica Neue"/>
              </a:defRPr>
            </a:pPr>
            <a:r>
              <a:rPr sz="2325" b="0">
                <a:solidFill>
                  <a:srgbClr val="F0F4F7"/>
                </a:solidFill>
                <a:latin typeface="Helvetica Neue"/>
                <a:ea typeface="Helvetica Neue"/>
                <a:cs typeface="Helvetica Neue"/>
              </a:rPr>
              <a:t>and technical specification available for review.</a:t>
            </a:r>
          </a:p>
        </p:txBody>
      </p:sp>
      <p:sp>
        <p:nvSpPr>
          <p:cNvPr id="5" name="">
            <a:extLst xmlns:a="http://schemas.openxmlformats.org/drawingml/2006/main">
              <a:ext uri="{FF2B5EF4-FFF2-40B4-BE49-F238E27FC236}">
                <a16:creationId xmlns:a16="http://schemas.microsoft.com/office/drawing/2014/main" id="{6B1831FA-B0BD-49E3-B5F0-98FEEDC0A5E3}"/>
              </a:ext>
            </a:extLst>
          </p:cNvPr>
          <p:cNvSpPr>
            <a:spLocks xmlns:a="http://schemas.openxmlformats.org/drawingml/2006/main" noGrp="1"/>
          </p:cNvSpPr>
          <p:nvPr/>
        </p:nvSpPr>
        <p:spPr>
          <a:xfrm xmlns:a="http://schemas.openxmlformats.org/drawingml/2006/main">
            <a:off x="742950" y="60864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C4D4"/>
                </a:solidFill>
                <a:latin typeface="Helvetica Neue"/>
                <a:ea typeface="Helvetica Neue"/>
                <a:cs typeface="Helvetica Neue"/>
              </a:defRPr>
            </a:pPr>
            <a:r>
              <a:rPr sz="1875" b="0">
                <a:solidFill>
                  <a:srgbClr val="B0C4D4"/>
                </a:solidFill>
                <a:latin typeface="Helvetica Neue"/>
                <a:ea typeface="Helvetica Neue"/>
                <a:cs typeface="Helvetica Neue"/>
              </a:rPr>
              <a:t>An aid to buddy procedures. Never a safety guarantee.</a:t>
            </a:r>
          </a:p>
        </p:txBody>
      </p:sp>
    </p:spTree>
    <p:extLst>
      <p:ext uri="{BB962C8B-B14F-4D97-AF65-F5344CB8AC3E}">
        <p14:creationId xmlns:p14="http://schemas.microsoft.com/office/powerpoint/2010/main" val="204634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2026-09-09T21:28:23.9110000Z</dcterms:created>
  <dcterms:modified xsi:type="dcterms:W3CDTF">2026-09-09T21:28:23.9110000Z</dcterms:modified>
</coreProperties>
</file>